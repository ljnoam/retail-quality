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b8628a5c164699" /><Relationship Type="http://schemas.openxmlformats.org/officeDocument/2006/relationships/extended-properties" Target="/docProps/app.xml" Id="Rbb5e0ab7d606430c" /><Relationship Type="http://schemas.openxmlformats.org/officeDocument/2006/relationships/officeDocument" Target="/ppt/presentation.xml" Id="Ra0882bad556e4b88" /></Relationships>
</file>

<file path=ppt/presentation.xml><?xml version="1.0" encoding="utf-8"?>
<p:presentation xmlns:p="http://schemas.openxmlformats.org/presentationml/2006/main">
  <p:sldMasterIdLst>
    <p:sldMasterId xmlns:r="http://schemas.openxmlformats.org/officeDocument/2006/relationships" id="2147483648" r:id="Raa420f244edf405b"/>
  </p:sldMasterIdLst>
  <p:notesMasterIdLst>
    <p:notesMasterId xmlns:r="http://schemas.openxmlformats.org/officeDocument/2006/relationships" r:id="Rf06c31f558784c15"/>
  </p:notesMasterIdLst>
  <p:sldIdLst>
    <p:sldId xmlns:r="http://schemas.openxmlformats.org/officeDocument/2006/relationships" id="256" r:id="R4d9efdc5182c495a"/>
    <p:sldId xmlns:r="http://schemas.openxmlformats.org/officeDocument/2006/relationships" id="257" r:id="R0201b997f91a4f82"/>
    <p:sldId xmlns:r="http://schemas.openxmlformats.org/officeDocument/2006/relationships" id="258" r:id="R29356a6448e8406a"/>
    <p:sldId xmlns:r="http://schemas.openxmlformats.org/officeDocument/2006/relationships" id="259" r:id="R4c37c997f3984d5b"/>
    <p:sldId xmlns:r="http://schemas.openxmlformats.org/officeDocument/2006/relationships" id="260" r:id="R6c39c258c90045e3"/>
    <p:sldId xmlns:r="http://schemas.openxmlformats.org/officeDocument/2006/relationships" id="261" r:id="Rc507e9be11264de1"/>
    <p:sldId xmlns:r="http://schemas.openxmlformats.org/officeDocument/2006/relationships" id="262" r:id="R9bb06fdb7c014d1e"/>
    <p:sldId xmlns:r="http://schemas.openxmlformats.org/officeDocument/2006/relationships" id="263" r:id="R4dfbaa8cdd954e7f"/>
    <p:sldId xmlns:r="http://schemas.openxmlformats.org/officeDocument/2006/relationships" id="264" r:id="Rae90c5a77f384fe0"/>
    <p:sldId xmlns:r="http://schemas.openxmlformats.org/officeDocument/2006/relationships" id="265" r:id="R9129d7646a754497"/>
    <p:sldId xmlns:r="http://schemas.openxmlformats.org/officeDocument/2006/relationships" id="266" r:id="R80b6ff5ee4be4115"/>
    <p:sldId xmlns:r="http://schemas.openxmlformats.org/officeDocument/2006/relationships" id="267" r:id="R43f3f7a6d7a246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7acda703944f7e" /><Relationship Type="http://schemas.openxmlformats.org/officeDocument/2006/relationships/slideMaster" Target="/ppt/slideMasters/slideMaster1.xml" Id="Raa420f244edf405b" /><Relationship Type="http://schemas.openxmlformats.org/officeDocument/2006/relationships/notesMaster" Target="/ppt/notesMasters/notesMaster1.xml" Id="Rf06c31f558784c15" /><Relationship Type="http://schemas.openxmlformats.org/officeDocument/2006/relationships/presProps" Target="/ppt/presProps.xml" Id="R24abc46d1862486a" /><Relationship Type="http://schemas.openxmlformats.org/officeDocument/2006/relationships/tableStyles" Target="/ppt/tableStyles.xml" Id="R861654e252db4abf" /><Relationship Type="http://schemas.openxmlformats.org/officeDocument/2006/relationships/slide" Target="/ppt/slides/slide1.xml" Id="R4d9efdc5182c495a" /><Relationship Type="http://schemas.openxmlformats.org/officeDocument/2006/relationships/slide" Target="/ppt/slides/slide2.xml" Id="R0201b997f91a4f82" /><Relationship Type="http://schemas.openxmlformats.org/officeDocument/2006/relationships/slide" Target="/ppt/slides/slide3.xml" Id="R29356a6448e8406a" /><Relationship Type="http://schemas.openxmlformats.org/officeDocument/2006/relationships/slide" Target="/ppt/slides/slide4.xml" Id="R4c37c997f3984d5b" /><Relationship Type="http://schemas.openxmlformats.org/officeDocument/2006/relationships/slide" Target="/ppt/slides/slide5.xml" Id="R6c39c258c90045e3" /><Relationship Type="http://schemas.openxmlformats.org/officeDocument/2006/relationships/slide" Target="/ppt/slides/slide6.xml" Id="Rc507e9be11264de1" /><Relationship Type="http://schemas.openxmlformats.org/officeDocument/2006/relationships/slide" Target="/ppt/slides/slide7.xml" Id="R9bb06fdb7c014d1e" /><Relationship Type="http://schemas.openxmlformats.org/officeDocument/2006/relationships/slide" Target="/ppt/slides/slide8.xml" Id="R4dfbaa8cdd954e7f" /><Relationship Type="http://schemas.openxmlformats.org/officeDocument/2006/relationships/slide" Target="/ppt/slides/slide9.xml" Id="Rae90c5a77f384fe0" /><Relationship Type="http://schemas.openxmlformats.org/officeDocument/2006/relationships/slide" Target="/ppt/slides/slide10.xml" Id="R9129d7646a754497" /><Relationship Type="http://schemas.openxmlformats.org/officeDocument/2006/relationships/slide" Target="/ppt/slides/slide11.xml" Id="R80b6ff5ee4be4115" /><Relationship Type="http://schemas.openxmlformats.org/officeDocument/2006/relationships/slide" Target="/ppt/slides/slide12.xml" Id="R43f3f7a6d7a246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6270fd693e4b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0d05eaf2004204" /><Relationship Type="http://schemas.openxmlformats.org/officeDocument/2006/relationships/notesMaster" Target="/ppt/notesMasters/notesMaster1.xml" Id="Ra00841a797614b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800ee62dce4857" /><Relationship Type="http://schemas.openxmlformats.org/officeDocument/2006/relationships/notesMaster" Target="/ppt/notesMasters/notesMaster1.xml" Id="R95d339734f1946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ba32245bd14fde" /><Relationship Type="http://schemas.openxmlformats.org/officeDocument/2006/relationships/notesMaster" Target="/ppt/notesMasters/notesMaster1.xml" Id="Rec51ced7297040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74642dec834a0a" /><Relationship Type="http://schemas.openxmlformats.org/officeDocument/2006/relationships/notesMaster" Target="/ppt/notesMasters/notesMaster1.xml" Id="Ra15f5e0297034f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7f28be3ab44a83" /><Relationship Type="http://schemas.openxmlformats.org/officeDocument/2006/relationships/notesMaster" Target="/ppt/notesMasters/notesMaster1.xml" Id="Rd7c1112e615341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74ab82d63046ea" /><Relationship Type="http://schemas.openxmlformats.org/officeDocument/2006/relationships/notesMaster" Target="/ppt/notesMasters/notesMaster1.xml" Id="Rb407e76563bc45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8d3a85030c4be0" /><Relationship Type="http://schemas.openxmlformats.org/officeDocument/2006/relationships/notesMaster" Target="/ppt/notesMasters/notesMaster1.xml" Id="R50c3d7d37e5342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61b4a8fb834be3" /><Relationship Type="http://schemas.openxmlformats.org/officeDocument/2006/relationships/notesMaster" Target="/ppt/notesMasters/notesMaster1.xml" Id="R09bc269f669346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3de7f3f66e4768" /><Relationship Type="http://schemas.openxmlformats.org/officeDocument/2006/relationships/notesMaster" Target="/ppt/notesMasters/notesMaster1.xml" Id="R1b5e6bd929234e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df81e2f1da41e1" /><Relationship Type="http://schemas.openxmlformats.org/officeDocument/2006/relationships/notesMaster" Target="/ppt/notesMasters/notesMaster1.xml" Id="Rc37f0b4c07624d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45e691411d4f22" /><Relationship Type="http://schemas.openxmlformats.org/officeDocument/2006/relationships/notesMaster" Target="/ppt/notesMasters/notesMaster1.xml" Id="R5a4ce3cc6c2e47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8dd3442a38426f" /><Relationship Type="http://schemas.openxmlformats.org/officeDocument/2006/relationships/notesMaster" Target="/ppt/notesMasters/notesMaster1.xml" Id="R15156766981d46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Ouverture orale : je présente un prototype de contrôle de qualité avant calcul d'un montant en euros.</a:t>
            </a:r>
          </a:p>
          <a:p xmlns:a="http://schemas.openxmlformats.org/drawingml/2006/main">
            <a:r>
              <a:t>Je précise immédiatement que TheLook est fictif et remplace des données d'entreprise afin d'éviter toute divulgation.</a:t>
            </a:r>
          </a:p>
          <a:p xmlns:a="http://schemas.openxmlformats.org/drawingml/2006/main">
            <a:r>
              <a:t>La précision sur l'absence de déploiement apparaît dans les limites, en dernière slide. Ici, je garde l'ouverture centrée sur la confidentialité.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J'explique que le besoin ne consiste pas à corriger silencieusement toutes les lignes. Il faut décider si elles entrent dans le calcul et conserver la raison.</a:t>
            </a:r>
          </a:p>
          <a:p xmlns:a="http://schemas.openxmlformats.org/drawingml/2006/main">
            <a:r>
              <a:t>Le statut métier et la qualité technique restent séparés : une annulation valide n'est pas une corruption.</a:t>
            </a:r>
          </a:p>
          <a:p xmlns:a="http://schemas.openxmlformats.org/drawingml/2006/main">
            <a:r>
              <a:t>La conservation des volumes permet de détecter toute perte ou duplication pendant le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montre les deux systèmes réellement interrogés : BigQuery pour les ventes et PostgreSQL local pour le référentiel BCE.</a:t>
            </a:r>
          </a:p>
          <a:p xmlns:a="http://schemas.openxmlformats.org/drawingml/2006/main">
            <a:r>
              <a:t>Les snapshots figés rendent le résultat rejouable hors connexion. Les scripts d'extraction permettent aussi de refaire les appels quand les accès sont disponibles.</a:t>
            </a:r>
          </a:p>
          <a:p xmlns:a="http://schemas.openxmlformats.org/drawingml/2006/main">
            <a:r>
              <a:t>La période fixe évite que les chiffres changent le jour de la soutenance.</a:t>
            </a:r>
          </a:p>
          <a:p xmlns:a="http://schemas.openxmlformats.org/drawingml/2006/main">
            <a:r>
              <a:t>Limite à annoncer : le schéma TheLook expose sale_price comme FLOAT sans devise documentée. Le pipeline l'interprète comme USD uniquement pour le POC.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commence par le grain : order_items est la table motrice et oi.id porte la clé de ligne.</a:t>
            </a:r>
          </a:p>
          <a:p xmlns:a="http://schemas.openxmlformats.org/drawingml/2006/main">
            <a:r>
              <a:t>Les LEFT JOIN conservent une ligne même si sa commande ou son produit manque. Le contrôle qualité doit voir cette anomalie au lieu de la supprimer dans SQL.</a:t>
            </a:r>
          </a:p>
          <a:p xmlns:a="http://schemas.openxmlformats.org/drawingml/2006/main">
            <a:r>
              <a:t>Le filtre utilise une borne de début incluse et une borne de fin exclue, toutes deux en UTC.</a:t>
            </a:r>
          </a:p>
          <a:p xmlns:a="http://schemas.openxmlformats.org/drawingml/2006/main">
            <a:r>
              <a:t>Je n'extrais aucun nom, courriel ou adresse. Les neuf colonnes répondent directement aux règles C3.</a:t>
            </a:r>
          </a:p>
          <a:p xmlns:a="http://schemas.openxmlformats.org/drawingml/2006/main">
            <a:r>
              <a:t>Preuve : job 4fb47302-bc09-449f-b2aa-6cbfe12d0e5c, état DONE, 2131 lignes.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table exchange_rates contient les dates et valeurs. La table rate_sources porte la série, les devises et l'URL officielle.</a:t>
            </a:r>
          </a:p>
          <a:p xmlns:a="http://schemas.openxmlformats.org/drawingml/2006/main">
            <a:r>
              <a:t>INNER JOIN est volontaire : une observation sans source valide ne doit pas servir au calcul.</a:t>
            </a:r>
          </a:p>
          <a:p xmlns:a="http://schemas.openxmlformats.org/drawingml/2006/main">
            <a:r>
              <a:t>La fenêtre commence sept jours avant janvier afin de couvrir les jours sans publication, notamment le week-end et les jours fériés.</a:t>
            </a:r>
          </a:p>
          <a:p xmlns:a="http://schemas.openxmlformats.org/drawingml/2006/main">
            <a:r>
              <a:t>La série BCE exprime des USD pour 1 EUR. La formule correcte consiste donc à diviser le montant supposé USD par le taux.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comparaison BigQuery conserve les mêmes jointures et le même filtre. Elle change surtout la projection des colonnes.</a:t>
            </a:r>
          </a:p>
          <a:p xmlns:a="http://schemas.openxmlformats.org/drawingml/2006/main">
            <a:r>
              <a:t>Le dry run estime 24 664 270 octets pour la version large et 12 003 113 pour la version finale, soit 51,33 % de moins.</a:t>
            </a:r>
          </a:p>
          <a:p xmlns:a="http://schemas.openxmlformats.org/drawingml/2006/main">
            <a:r>
              <a:t>Les 31 457 280 octets facturables sont supérieurs aux 12 003 113 octets traités à cause de l'arrondi minimal de facturation par table. La requête référence trois tables et le minimum technique représente 10 485 760 octets par table, donc exactement 31 457 280 octets. Ce champ ne prouve pas qu'une somme a été payée, notamment avec le quota gratuit ou le Sandbox.</a:t>
            </a:r>
          </a:p>
          <a:p xmlns:a="http://schemas.openxmlformats.org/drawingml/2006/main">
            <a:r>
              <a:t>Je parle d'octets estimés, pas d'un temps gagné. Les dry runs ne fournissent pas une comparaison de durée.</a:t>
            </a:r>
          </a:p>
          <a:p xmlns:a="http://schemas.openxmlformats.org/drawingml/2006/main">
            <a:r>
              <a:t>PostgreSQL utilise l'index couvrant, mais 25 lignes restent trop peu pour attribuer un gain de temps fiable à l'index.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L'ordre compte : je valide et normalise avant de chercher un taux ou d'appliquer une règle métier.</a:t>
            </a:r>
          </a:p>
          <a:p xmlns:a="http://schemas.openxmlformats.org/drawingml/2006/main">
            <a:r>
              <a:t>Les doublons sont détectés après normalisation des identifiants. Toutes les occurrences sont rejetées, ce qui évite de choisir arbitrairement une ligne.</a:t>
            </a:r>
          </a:p>
          <a:p xmlns:a="http://schemas.openxmlformats.org/drawingml/2006/main">
            <a:r>
              <a:t>Le rapprochement n'utilise jamais un taux futur. Sept jours calendaires constituent la borne inclusive du POC.</a:t>
            </a:r>
          </a:p>
          <a:p xmlns:a="http://schemas.openxmlformats.org/drawingml/2006/main">
            <a:r>
              <a:t>La conversion et l'arrondi viennent en dernier, uniquement pour une ligne admissible.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distingue quatre statuts. REJETÉE signale une corruption. EXCLUE PAR RÈGLE MÉTIER décrit une donnée valide qui ne doit pas alimenter le montant.</a:t>
            </a:r>
          </a:p>
          <a:p xmlns:a="http://schemas.openxmlformats.org/drawingml/2006/main">
            <a:r>
              <a:t>Le tableau montre la traçabilité : chaque décision non acceptée écrit un code stable et une phrase lisible dans la quarantaine.</a:t>
            </a:r>
          </a:p>
          <a:p xmlns:a="http://schemas.openxmlformats.org/drawingml/2006/main">
            <a:r>
              <a:t>Dans les données réellement extraites, aucun rejet qualité n'a été observé. Cela ne signifie pas que les contrôles ne fonctionnent pas : les fixtures artificielles et les tests négatifs déclenchent les rejets attendus sans modifier les résultats publics.</a:t>
            </a:r>
          </a:p>
          <a:p xmlns:a="http://schemas.openxmlformats.org/drawingml/2006/main">
            <a:r>
              <a:t>Un taux invalide est retiré des candidats. La vente peut utiliser un taux antérieur encore admissible, sinon elle passe à vérifier.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présente les volumes réellement produits le 16 septembre 2026.</a:t>
            </a:r>
          </a:p>
          <a:p xmlns:a="http://schemas.openxmlformats.org/drawingml/2006/main">
            <a:r>
              <a:t>L'exemple 331 part de 99,949996... dans BigQuery, se normalise à 99,95, utilise le taux du vendredi 26 janvier pour la vente du dimanche 28, puis donne 91,94 EUR.</a:t>
            </a:r>
          </a:p>
          <a:p xmlns:a="http://schemas.openxmlformats.org/drawingml/2006/main">
            <a:r>
              <a:t>L'item 140 est une annulation valide. L'item 851 reste à vérifier car la commande est en traitement.</a:t>
            </a:r>
          </a:p>
          <a:p xmlns:a="http://schemas.openxmlformats.org/drawingml/2006/main">
            <a:r>
              <a:t>Le vérificateur relit les sorties et recalcule la conversion, l'âge du taux, les clés et la partition des lignes.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formule ce résultat comme une démonstration technique, pas comme un chiffre d'affaires d'entreprise.</a:t>
            </a:r>
          </a:p>
          <a:p xmlns:a="http://schemas.openxmlformats.org/drawingml/2006/main">
            <a:r>
              <a:t>La somme vient uniquement des lignes Complete et Shipped qui passent tous les contrôles.</a:t>
            </a:r>
          </a:p>
          <a:p xmlns:a="http://schemas.openxmlformats.org/drawingml/2006/main">
            <a:r>
              <a:t>Processing représente les lignes à revoir. Cancelled et Returned sont des exclusions métier, pas des erreurs de qualité.</a:t>
            </a:r>
          </a:p>
          <a:p xmlns:a="http://schemas.openxmlformats.org/drawingml/2006/main">
            <a:r>
              <a:t>Le total EUR dépend de l'hypothèse USD. Une validation réelle devrait confirmer la devise et la précision monétaire du système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jury peut reproduire C3 sans accès réseau grâce aux snapshots figés et à leurs hashes.</a:t>
            </a:r>
          </a:p>
          <a:p xmlns:a="http://schemas.openxmlformats.org/drawingml/2006/main">
            <a:r>
              <a:t>La CI exécute les tests sur deux versions de Python, reconstruit les sorties puis vérifie l'absence de différence avec les fichiers versionnés.</a:t>
            </a:r>
          </a:p>
          <a:p xmlns:a="http://schemas.openxmlformats.org/drawingml/2006/main">
            <a:r>
              <a:t>L'idempotence est testée en comparant les fichiers octet par octet après deux exécutions.</a:t>
            </a:r>
          </a:p>
          <a:p xmlns:a="http://schemas.openxmlformats.org/drawingml/2006/main">
            <a:r>
              <a:t>Pour refaire C2, le README documente l'authentification BigQuery et le démarrage ou l'installation PostgreSQL. Aucun secret n'est versionné.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termine en séparant ce que le POC prouve de ce qu'une mise en service exigerait encore.</a:t>
            </a:r>
          </a:p>
          <a:p xmlns:a="http://schemas.openxmlformats.org/drawingml/2006/main">
            <a:r>
              <a:t>Le code prouve l'extraction, le rapprochement, les décisions et la reproductibilité sur les données publiques retenues.</a:t>
            </a:r>
          </a:p>
          <a:p xmlns:a="http://schemas.openxmlformats.org/drawingml/2006/main">
            <a:r>
              <a:t>Il faut encore confirmer la devise, les statuts comptables, la fenêtre de taux, les droits d'accès et les exigences d'exploitation avec les responsables concernés.</a:t>
            </a:r>
          </a:p>
          <a:p xmlns:a="http://schemas.openxmlformats.org/drawingml/2006/main">
            <a:r>
              <a:t>Je rappelle que le projet n'a pas été déployé ou utilisé par Thales.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1e8ef6003e4b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b36280dbd54f3f" /><Relationship Type="http://schemas.openxmlformats.org/officeDocument/2006/relationships/slideLayout" Target="/ppt/slideLayouts/slideLayout1.xml" Id="Rb912958c1d9d46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12958c1d9d46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ccca66ab5641d4" /><Relationship Type="http://schemas.openxmlformats.org/officeDocument/2006/relationships/notesSlide" Target="/ppt/notesSlides/notesSlide1.xml" Id="R76334abc877e48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bed557a23f457c" /><Relationship Type="http://schemas.openxmlformats.org/officeDocument/2006/relationships/notesSlide" Target="/ppt/notesSlides/notesSlide2.xml" Id="R5cccb7ca995446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65bba117fe4674" /><Relationship Type="http://schemas.openxmlformats.org/officeDocument/2006/relationships/notesSlide" Target="/ppt/notesSlides/notesSlide3.xml" Id="R4592a0a3404c40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9b5837cdea4690" /><Relationship Type="http://schemas.openxmlformats.org/officeDocument/2006/relationships/notesSlide" Target="/ppt/notesSlides/notesSlide4.xml" Id="R8780ecaa92fc4b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9212ef53e54547" /><Relationship Type="http://schemas.openxmlformats.org/officeDocument/2006/relationships/notesSlide" Target="/ppt/notesSlides/notesSlide5.xml" Id="Rf16d7e201f964d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2bcc7b9424418b" /><Relationship Type="http://schemas.openxmlformats.org/officeDocument/2006/relationships/chart" Target="/ppt/slides/charts/chart1.xml" Id="R7c6edaf21a4d4930" /><Relationship Type="http://schemas.openxmlformats.org/officeDocument/2006/relationships/notesSlide" Target="/ppt/notesSlides/notesSlide6.xml" Id="R94535d5665184f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500b4bfc210477c" /><Relationship Type="http://schemas.openxmlformats.org/officeDocument/2006/relationships/notesSlide" Target="/ppt/notesSlides/notesSlide7.xml" Id="R2e8c5e65c09745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7fea7938614e4e" /><Relationship Type="http://schemas.openxmlformats.org/officeDocument/2006/relationships/notesSlide" Target="/ppt/notesSlides/notesSlide8.xml" Id="R0f9d9d34449640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7b77f294a04862" /><Relationship Type="http://schemas.openxmlformats.org/officeDocument/2006/relationships/chart" Target="/ppt/slides/charts/chart2.xml" Id="R1d48623b71aa4444" /><Relationship Type="http://schemas.openxmlformats.org/officeDocument/2006/relationships/notesSlide" Target="/ppt/notesSlides/notesSlide9.xml" Id="Ra1ba32aa3d5d40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befc361784415d" /><Relationship Type="http://schemas.openxmlformats.org/officeDocument/2006/relationships/chart" Target="/ppt/slides/charts/chart3.xml" Id="Rf9763d36386644e9" /><Relationship Type="http://schemas.openxmlformats.org/officeDocument/2006/relationships/notesSlide" Target="/ppt/notesSlides/notesSlide10.xml" Id="R264d783f542240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6e6e34b53b464b" /><Relationship Type="http://schemas.openxmlformats.org/officeDocument/2006/relationships/notesSlide" Target="/ppt/notesSlides/notesSlide11.xml" Id="R9add6ea8d8e849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1904f285cd4d3e" /><Relationship Type="http://schemas.openxmlformats.org/officeDocument/2006/relationships/notesSlide" Target="/ppt/notesSlides/notesSlide12.xml" Id="R7713530e61e746c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Millions d’octets estimés</c:v>
          </c:tx>
          <c:spPr>
            <a:solidFill xmlns:a="http://schemas.openxmlformats.org/drawingml/2006/main">
              <a:srgbClr val="1B8A9B"/>
            </a:solidFill>
          </c:spPr>
          <c:dPt>
            <c:idx val="0"/>
            <c:invertIfNegative val="0"/>
            <c:spPr>
              <a:solidFill xmlns:a="http://schemas.openxmlformats.org/drawingml/2006/main">
                <a:srgbClr val="E56B3F"/>
              </a:solidFill>
            </c:spPr>
          </c:dPt>
          <c:dPt>
            <c:idx val="1"/>
            <c:invertIfNegative val="0"/>
            <c:spPr>
              <a:solidFill xmlns:a="http://schemas.openxmlformats.org/drawingml/2006/main">
                <a:srgbClr val="1B8A9B"/>
              </a:solidFill>
            </c:spPr>
          </c:dPt>
          <c:cat>
            <c:strRef>
              <c:f>'Chart Data'!$A$2:$A$3</c:f>
              <c:strCache>
                <c:ptCount val="2"/>
                <c:pt idx="0">
                  <c:v>Projection large</c:v>
                </c:pt>
                <c:pt idx="1">
                  <c:v>Projection finale</c:v>
                </c:pt>
              </c:strCache>
            </c:strRef>
          </c:cat>
          <c:val>
            <c:numRef>
              <c:f>'Chart Data'!$B$2:$B$3</c:f>
              <c:numCache>
                <c:formatCode>0.0" M"</c:formatCode>
                <c:ptCount val="2"/>
                <c:pt idx="0">
                  <c:v>24.66427</c:v>
                </c:pt>
                <c:pt idx="1">
                  <c:v>12.003113</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1233B"/>
                  </a:solidFill>
                  <a:latin typeface="Helvetica"/>
                  <a:ea typeface="Helvetica"/>
                  <a:cs typeface="Helvetica"/>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8D2C7"/>
              </a:solidFill>
              <a:prstDash val="solid"/>
            </a:ln>
          </c:spPr>
        </c:majorGridlines>
        <c:numFmt formatCode="0&quot; 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D78"/>
                </a:solidFill>
                <a:latin typeface="Helvetica"/>
                <a:ea typeface="Helvetica"/>
                <a:cs typeface="Helvetica"/>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8D2C7"/>
            </a:solidFill>
          </a:ln>
        </c:spPr>
        <c:txPr>
          <a:bodyPr xmlns:a="http://schemas.openxmlformats.org/drawingml/2006/main" anchorCtr="1"/>
          <a:lstStyle xmlns:a="http://schemas.openxmlformats.org/drawingml/2006/main"/>
          <a:p xmlns:a="http://schemas.openxmlformats.org/drawingml/2006/main">
            <a:pPr>
              <a:defRPr sz="1200" b="1">
                <a:solidFill>
                  <a:srgbClr val="11233B"/>
                </a:solidFill>
                <a:latin typeface="Helvetica"/>
                <a:ea typeface="Helvetica"/>
                <a:cs typeface="Helvetica"/>
              </a:defRPr>
            </a:pPr>
          </a:p>
        </c:txPr>
        <c:crossAx val="48650112"/>
        <c:crossBetween val="between"/>
      </c:valAx>
      <c:spPr>
        <a:solidFill xmlns:a="http://schemas.openxmlformats.org/drawingml/2006/main">
          <a:srgbClr val="FFFCF7"/>
        </a:solidFill>
      </c:spPr>
    </c:plotArea>
    <c:plotVisOnly val="1"/>
  </c:chart>
  <c:spPr>
    <a:solidFill xmlns:a="http://schemas.openxmlformats.org/drawingml/2006/main">
      <a:srgbClr val="FFFCF7"/>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Lignes</c:v>
          </c:tx>
          <c:spPr>
            <a:solidFill xmlns:a="http://schemas.openxmlformats.org/drawingml/2006/main">
              <a:srgbClr val="1B8A9B"/>
            </a:solidFill>
          </c:spPr>
          <c:dPt>
            <c:idx val="0"/>
            <c:invertIfNegative val="0"/>
            <c:spPr>
              <a:solidFill xmlns:a="http://schemas.openxmlformats.org/drawingml/2006/main">
                <a:srgbClr val="2F7D64"/>
              </a:solidFill>
            </c:spPr>
          </c:dPt>
          <c:dPt>
            <c:idx val="1"/>
            <c:invertIfNegative val="0"/>
            <c:spPr>
              <a:solidFill xmlns:a="http://schemas.openxmlformats.org/drawingml/2006/main">
                <a:srgbClr val="C88B2B"/>
              </a:solidFill>
            </c:spPr>
          </c:dPt>
          <c:dPt>
            <c:idx val="2"/>
            <c:invertIfNegative val="0"/>
            <c:spPr>
              <a:solidFill xmlns:a="http://schemas.openxmlformats.org/drawingml/2006/main">
                <a:srgbClr val="E56B3F"/>
              </a:solidFill>
            </c:spPr>
          </c:dPt>
          <c:dPt>
            <c:idx val="3"/>
            <c:invertIfNegative val="0"/>
            <c:spPr>
              <a:solidFill xmlns:a="http://schemas.openxmlformats.org/drawingml/2006/main">
                <a:srgbClr val="B54A45"/>
              </a:solidFill>
            </c:spPr>
          </c:dPt>
          <c:cat>
            <c:strRef>
              <c:f>'Chart Data'!$A$2:$A$5</c:f>
              <c:strCache>
                <c:ptCount val="4"/>
                <c:pt idx="0">
                  <c:v>Acceptées</c:v>
                </c:pt>
                <c:pt idx="1">
                  <c:v>À vérifier</c:v>
                </c:pt>
                <c:pt idx="2">
                  <c:v>Exclues métier</c:v>
                </c:pt>
                <c:pt idx="3">
                  <c:v>Rejetées</c:v>
                </c:pt>
              </c:strCache>
            </c:strRef>
          </c:cat>
          <c:val>
            <c:numRef>
              <c:f>'Chart Data'!$B$2:$B$5</c:f>
              <c:numCache>
                <c:formatCode>General</c:formatCode>
                <c:ptCount val="4"/>
                <c:pt idx="0">
                  <c:v>1167</c:v>
                </c:pt>
                <c:pt idx="1">
                  <c:v>450</c:v>
                </c:pt>
                <c:pt idx="2">
                  <c:v>514</c:v>
                </c:pt>
                <c:pt idx="3">
                  <c:v>0</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1233B"/>
                  </a:solidFill>
                  <a:latin typeface="Helvetica"/>
                  <a:ea typeface="Helvetica"/>
                  <a:cs typeface="Helvetica"/>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D8D2C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D78"/>
                </a:solidFill>
                <a:latin typeface="Helvetica"/>
                <a:ea typeface="Helvetica"/>
                <a:cs typeface="Helvetica"/>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8D2C7"/>
            </a:solidFill>
          </a:ln>
        </c:spPr>
        <c:txPr>
          <a:bodyPr xmlns:a="http://schemas.openxmlformats.org/drawingml/2006/main" anchorCtr="1"/>
          <a:lstStyle xmlns:a="http://schemas.openxmlformats.org/drawingml/2006/main"/>
          <a:p xmlns:a="http://schemas.openxmlformats.org/drawingml/2006/main">
            <a:pPr>
              <a:defRPr sz="1125" b="1">
                <a:solidFill>
                  <a:srgbClr val="11233B"/>
                </a:solidFill>
                <a:latin typeface="Helvetica"/>
                <a:ea typeface="Helvetica"/>
                <a:cs typeface="Helvetica"/>
              </a:defRPr>
            </a:pPr>
          </a:p>
        </c:txPr>
        <c:crossAx val="48650112"/>
        <c:crossBetween val="between"/>
      </c:valAx>
      <c:spPr>
        <a:solidFill xmlns:a="http://schemas.openxmlformats.org/drawingml/2006/main">
          <a:srgbClr val="FFFCF7"/>
        </a:solidFill>
      </c:spPr>
    </c:plotArea>
    <c:plotVisOnly val="1"/>
  </c:chart>
  <c:spPr>
    <a:solidFill xmlns:a="http://schemas.openxmlformats.org/drawingml/2006/main">
      <a:srgbClr val="FFFCF7"/>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Lignes</c:v>
          </c:tx>
          <c:spPr>
            <a:solidFill xmlns:a="http://schemas.openxmlformats.org/drawingml/2006/main">
              <a:srgbClr val="E56B3F"/>
            </a:solidFill>
          </c:spPr>
          <c:dPt>
            <c:idx val="0"/>
            <c:invertIfNegative val="0"/>
            <c:spPr>
              <a:solidFill xmlns:a="http://schemas.openxmlformats.org/drawingml/2006/main">
                <a:srgbClr val="C88B2B"/>
              </a:solidFill>
            </c:spPr>
          </c:dPt>
          <c:dPt>
            <c:idx val="1"/>
            <c:invertIfNegative val="0"/>
            <c:spPr>
              <a:solidFill xmlns:a="http://schemas.openxmlformats.org/drawingml/2006/main">
                <a:srgbClr val="E56B3F"/>
              </a:solidFill>
            </c:spPr>
          </c:dPt>
          <c:dPt>
            <c:idx val="2"/>
            <c:invertIfNegative val="0"/>
            <c:spPr>
              <a:solidFill xmlns:a="http://schemas.openxmlformats.org/drawingml/2006/main">
                <a:srgbClr val="173B57"/>
              </a:solidFill>
            </c:spPr>
          </c:dPt>
          <c:cat>
            <c:strRef>
              <c:f>'Chart Data'!$A$2:$A$4</c:f>
              <c:strCache>
                <c:ptCount val="3"/>
                <c:pt idx="0">
                  <c:v>Processing</c:v>
                </c:pt>
                <c:pt idx="1">
                  <c:v>Cancelled</c:v>
                </c:pt>
                <c:pt idx="2">
                  <c:v>Returned</c:v>
                </c:pt>
              </c:strCache>
            </c:strRef>
          </c:cat>
          <c:val>
            <c:numRef>
              <c:f>'Chart Data'!$B$2:$B$4</c:f>
              <c:numCache>
                <c:formatCode>General</c:formatCode>
                <c:ptCount val="3"/>
                <c:pt idx="0">
                  <c:v>450</c:v>
                </c:pt>
                <c:pt idx="1">
                  <c:v>280</c:v>
                </c:pt>
                <c:pt idx="2">
                  <c:v>234</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1233B"/>
                  </a:solidFill>
                  <a:latin typeface="Helvetica"/>
                  <a:ea typeface="Helvetica"/>
                  <a:cs typeface="Helvetica"/>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2C7"/>
            </a:solidFill>
          </a:ln>
        </c:spPr>
        <c:txPr>
          <a:bodyPr xmlns:a="http://schemas.openxmlformats.org/drawingml/2006/main" anchorCtr="1"/>
          <a:lstStyle xmlns:a="http://schemas.openxmlformats.org/drawingml/2006/main"/>
          <a:p xmlns:a="http://schemas.openxmlformats.org/drawingml/2006/main">
            <a:pPr>
              <a:defRPr sz="1050" b="1">
                <a:solidFill>
                  <a:srgbClr val="11233B"/>
                </a:solidFill>
                <a:latin typeface="Helvetica"/>
                <a:ea typeface="Helvetica"/>
                <a:cs typeface="Helvetica"/>
              </a:defRPr>
            </a:pPr>
          </a:p>
        </c:txPr>
        <c:crossAx val="48672768"/>
      </c:catAx>
      <c:valAx>
        <c:axId val="48672768"/>
        <c:scaling>
          <c:orientation val="minMax"/>
          <c:max val="500"/>
          <c:min val="0"/>
        </c:scaling>
        <c:delete val="0"/>
        <c:axPos val="l"/>
        <c:majorGridlines>
          <c:spPr>
            <a:ln xmlns:a="http://schemas.openxmlformats.org/drawingml/2006/main" w="9525">
              <a:solidFill>
                <a:srgbClr val="D8D2C7"/>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D78"/>
                </a:solidFill>
                <a:latin typeface="Helvetica"/>
                <a:ea typeface="Helvetica"/>
                <a:cs typeface="Helvetica"/>
              </a:defRPr>
            </a:pPr>
          </a:p>
        </c:txPr>
        <c:crossAx val="48650112"/>
        <c:crossBetween val="between"/>
        <c:majorUnit val="100"/>
      </c:valAx>
      <c:spPr>
        <a:solidFill xmlns:a="http://schemas.openxmlformats.org/drawingml/2006/main">
          <a:srgbClr val="FFFCF7"/>
        </a:solidFill>
      </c:spPr>
    </c:plotArea>
    <c:plotVisOnly val="1"/>
  </c:chart>
  <c:spPr>
    <a:solidFill xmlns:a="http://schemas.openxmlformats.org/drawingml/2006/main">
      <a:srgbClr val="FFFCF7"/>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233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C8A830-BF06-4949-A32B-D48D1A591800}"/>
              </a:ext>
            </a:extLst>
          </p:cNvPr>
          <p:cNvSpPr>
            <a:spLocks xmlns:a="http://schemas.openxmlformats.org/drawingml/2006/main" noGrp="1"/>
          </p:cNvSpPr>
          <p:nvPr/>
        </p:nvSpPr>
        <p:spPr>
          <a:xfrm xmlns:a="http://schemas.openxmlformats.org/drawingml/2006/main">
            <a:off x="685800" y="70485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75" b="1">
                <a:solidFill>
                  <a:srgbClr val="8ED6DF"/>
                </a:solidFill>
                <a:latin typeface="Helvetica"/>
                <a:ea typeface="Helvetica"/>
                <a:cs typeface="Helvetica"/>
              </a:defRPr>
            </a:pPr>
            <a:r>
              <a:rPr sz="1275" b="1">
                <a:solidFill>
                  <a:srgbClr val="8ED6DF"/>
                </a:solidFill>
                <a:latin typeface="Helvetica"/>
                <a:ea typeface="Helvetica"/>
                <a:cs typeface="Helvetica"/>
              </a:rPr>
              <a:t>RETAIL QUALITY</a:t>
            </a:r>
          </a:p>
        </p:txBody>
      </p:sp>
      <p:sp>
        <p:nvSpPr>
          <p:cNvPr id="2" name="">
            <a:extLst xmlns:a="http://schemas.openxmlformats.org/drawingml/2006/main">
              <a:ext uri="{FF2B5EF4-FFF2-40B4-BE49-F238E27FC236}">
                <a16:creationId xmlns:a16="http://schemas.microsoft.com/office/drawing/2014/main" id="{10632544-B23B-40F5-BC5D-AF4A2CDA3FC0}"/>
              </a:ext>
            </a:extLst>
          </p:cNvPr>
          <p:cNvSpPr>
            <a:spLocks xmlns:a="http://schemas.openxmlformats.org/drawingml/2006/main" noGrp="1"/>
          </p:cNvSpPr>
          <p:nvPr/>
        </p:nvSpPr>
        <p:spPr>
          <a:xfrm xmlns:a="http://schemas.openxmlformats.org/drawingml/2006/main">
            <a:off x="685800" y="1428750"/>
            <a:ext cx="9620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3750" b="1">
                <a:solidFill>
                  <a:srgbClr val="FFFFFF"/>
                </a:solidFill>
                <a:latin typeface="Helvetica"/>
                <a:ea typeface="Helvetica"/>
                <a:cs typeface="Helvetica"/>
              </a:defRPr>
            </a:pPr>
            <a:r>
              <a:rPr sz="3750" b="1">
                <a:solidFill>
                  <a:srgbClr val="FFFFFF"/>
                </a:solidFill>
                <a:latin typeface="Helvetica"/>
                <a:ea typeface="Helvetica"/>
                <a:cs typeface="Helvetica"/>
              </a:rPr>
              <a:t>Fiabiliser des ventes avant le reporting financier</a:t>
            </a:r>
          </a:p>
        </p:txBody>
      </p:sp>
      <p:sp>
        <p:nvSpPr>
          <p:cNvPr id="3" name="">
            <a:extLst xmlns:a="http://schemas.openxmlformats.org/drawingml/2006/main">
              <a:ext uri="{FF2B5EF4-FFF2-40B4-BE49-F238E27FC236}">
                <a16:creationId xmlns:a16="http://schemas.microsoft.com/office/drawing/2014/main" id="{66130CA5-B6AE-4981-98B6-59C49412BFE9}"/>
              </a:ext>
            </a:extLst>
          </p:cNvPr>
          <p:cNvSpPr>
            <a:spLocks xmlns:a="http://schemas.openxmlformats.org/drawingml/2006/main" noGrp="1"/>
          </p:cNvSpPr>
          <p:nvPr/>
        </p:nvSpPr>
        <p:spPr>
          <a:xfrm xmlns:a="http://schemas.openxmlformats.org/drawingml/2006/main">
            <a:off x="723900" y="31051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800" b="0">
                <a:solidFill>
                  <a:srgbClr val="D8E6EC"/>
                </a:solidFill>
                <a:latin typeface="Helvetica"/>
                <a:ea typeface="Helvetica"/>
                <a:cs typeface="Helvetica"/>
              </a:defRPr>
            </a:pPr>
            <a:r>
              <a:rPr sz="1800" b="0">
                <a:solidFill>
                  <a:srgbClr val="D8E6EC"/>
                </a:solidFill>
                <a:latin typeface="Helvetica"/>
                <a:ea typeface="Helvetica"/>
                <a:cs typeface="Helvetica"/>
              </a:rPr>
              <a:t>POC exécutable pour RNCP BC01 C2 et C3</a:t>
            </a:r>
          </a:p>
        </p:txBody>
      </p:sp>
      <p:sp>
        <p:nvSpPr>
          <p:cNvPr id="4" name="">
            <a:extLst xmlns:a="http://schemas.openxmlformats.org/drawingml/2006/main">
              <a:ext uri="{FF2B5EF4-FFF2-40B4-BE49-F238E27FC236}">
                <a16:creationId xmlns:a16="http://schemas.microsoft.com/office/drawing/2014/main" id="{47BD9CB5-033E-4A56-8A7B-EA96DBDCB5D9}"/>
              </a:ext>
            </a:extLst>
          </p:cNvPr>
          <p:cNvSpPr>
            <a:spLocks xmlns:a="http://schemas.openxmlformats.org/drawingml/2006/main" noGrp="1"/>
          </p:cNvSpPr>
          <p:nvPr/>
        </p:nvSpPr>
        <p:spPr>
          <a:xfrm xmlns:a="http://schemas.openxmlformats.org/drawingml/2006/main">
            <a:off x="723900" y="3848100"/>
            <a:ext cx="1714500" cy="57150"/>
          </a:xfrm>
          <a:prstGeom xmlns:a="http://schemas.openxmlformats.org/drawingml/2006/main" prst="rect">
            <a:avLst/>
          </a:prstGeom>
          <a:solidFill xmlns:a="http://schemas.openxmlformats.org/drawingml/2006/main">
            <a:srgbClr val="E56B3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1A756F-926E-4D12-96C2-717120841E62}"/>
              </a:ext>
            </a:extLst>
          </p:cNvPr>
          <p:cNvSpPr>
            <a:spLocks xmlns:a="http://schemas.openxmlformats.org/drawingml/2006/main" noGrp="1"/>
          </p:cNvSpPr>
          <p:nvPr/>
        </p:nvSpPr>
        <p:spPr>
          <a:xfrm xmlns:a="http://schemas.openxmlformats.org/drawingml/2006/main">
            <a:off x="723900" y="4191000"/>
            <a:ext cx="933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650" b="0">
                <a:solidFill>
                  <a:srgbClr val="F5EDE5"/>
                </a:solidFill>
                <a:latin typeface="Helvetica"/>
                <a:ea typeface="Helvetica"/>
                <a:cs typeface="Helvetica"/>
              </a:defRPr>
            </a:pPr>
            <a:r>
              <a:rPr sz="1650" b="0">
                <a:solidFill>
                  <a:srgbClr val="F5EDE5"/>
                </a:solidFill>
                <a:latin typeface="Helvetica"/>
                <a:ea typeface="Helvetica"/>
                <a:cs typeface="Helvetica"/>
              </a:rPr>
              <a:t>Données publiques de substitution utilisées afin de préserver</a:t>
            </a:r>
          </a:p>
          <a:p xmlns:a="http://schemas.openxmlformats.org/drawingml/2006/main">
            <a:pPr algn="l">
              <a:defRPr sz="1650" b="0">
                <a:solidFill>
                  <a:srgbClr val="F5EDE5"/>
                </a:solidFill>
                <a:latin typeface="Helvetica"/>
                <a:ea typeface="Helvetica"/>
                <a:cs typeface="Helvetica"/>
              </a:defRPr>
            </a:pPr>
            <a:r>
              <a:rPr sz="1650" b="0">
                <a:solidFill>
                  <a:srgbClr val="F5EDE5"/>
                </a:solidFill>
                <a:latin typeface="Helvetica"/>
                <a:ea typeface="Helvetica"/>
                <a:cs typeface="Helvetica"/>
              </a:rPr>
              <a:t>la confidentialité des données d’entreprise.</a:t>
            </a:r>
          </a:p>
        </p:txBody>
      </p:sp>
      <p:sp>
        <p:nvSpPr>
          <p:cNvPr id="6" name="">
            <a:extLst xmlns:a="http://schemas.openxmlformats.org/drawingml/2006/main">
              <a:ext uri="{FF2B5EF4-FFF2-40B4-BE49-F238E27FC236}">
                <a16:creationId xmlns:a16="http://schemas.microsoft.com/office/drawing/2014/main" id="{7662E67D-7FD9-485E-BFB1-A8991B4565EA}"/>
              </a:ext>
            </a:extLst>
          </p:cNvPr>
          <p:cNvSpPr>
            <a:spLocks xmlns:a="http://schemas.openxmlformats.org/drawingml/2006/main" noGrp="1"/>
          </p:cNvSpPr>
          <p:nvPr/>
        </p:nvSpPr>
        <p:spPr>
          <a:xfrm xmlns:a="http://schemas.openxmlformats.org/drawingml/2006/main">
            <a:off x="723900" y="60483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AFC4CF"/>
                </a:solidFill>
                <a:latin typeface="Helvetica"/>
                <a:ea typeface="Helvetica"/>
                <a:cs typeface="Helvetica"/>
              </a:defRPr>
            </a:pPr>
            <a:r>
              <a:rPr sz="1200" b="0">
                <a:solidFill>
                  <a:srgbClr val="AFC4CF"/>
                </a:solidFill>
                <a:latin typeface="Helvetica"/>
                <a:ea typeface="Helvetica"/>
                <a:cs typeface="Helvetica"/>
              </a:rPr>
              <a:t>Noam Leclapart-Jublot  |  Soutenance du 19 septembre 2026</a:t>
            </a:r>
          </a:p>
        </p:txBody>
      </p:sp>
    </p:spTree>
    <p:extLst>
      <p:ext uri="{BB962C8B-B14F-4D97-AF65-F5344CB8AC3E}">
        <p14:creationId xmlns:p14="http://schemas.microsoft.com/office/powerpoint/2010/main" val="1366008113"/>
      </p:ext>
    </p:extLst>
  </p:cSld>
</p:sld>
</file>

<file path=ppt/slides/slide2.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502D959-8B3C-443D-B754-DCF97CE34564}"/>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02</a:t>
            </a:r>
          </a:p>
        </p:txBody>
      </p:sp>
      <p:sp>
        <p:nvSpPr>
          <p:cNvPr id="2" name="">
            <a:extLst xmlns:a="http://schemas.openxmlformats.org/drawingml/2006/main">
              <a:ext uri="{FF2B5EF4-FFF2-40B4-BE49-F238E27FC236}">
                <a16:creationId xmlns:a16="http://schemas.microsoft.com/office/drawing/2014/main" id="{B0D991DD-A821-4199-9315-4755A14ECEB4}"/>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Question métier et critère de décision</a:t>
            </a:r>
          </a:p>
        </p:txBody>
      </p:sp>
      <p:sp>
        <p:nvSpPr>
          <p:cNvPr id="3" name="">
            <a:extLst xmlns:a="http://schemas.openxmlformats.org/drawingml/2006/main">
              <a:ext uri="{FF2B5EF4-FFF2-40B4-BE49-F238E27FC236}">
                <a16:creationId xmlns:a16="http://schemas.microsoft.com/office/drawing/2014/main" id="{0E466E8E-D5EC-4A7D-974D-AE569A2498EC}"/>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D0A132-541A-47F6-BC45-7825F916FAF3}"/>
              </a:ext>
            </a:extLst>
          </p:cNvPr>
          <p:cNvSpPr>
            <a:spLocks xmlns:a="http://schemas.openxmlformats.org/drawingml/2006/main" noGrp="1"/>
          </p:cNvSpPr>
          <p:nvPr/>
        </p:nvSpPr>
        <p:spPr>
          <a:xfrm xmlns:a="http://schemas.openxmlformats.org/drawingml/2006/main">
            <a:off x="723900" y="140970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91667"/>
          </a:bodyPr>
          <a:lstStyle xmlns:a="http://schemas.openxmlformats.org/drawingml/2006/main"/>
          <a:p xmlns:a="http://schemas.openxmlformats.org/drawingml/2006/main">
            <a:pPr algn="l">
              <a:defRPr sz="2250" b="1">
                <a:solidFill>
                  <a:srgbClr val="173B57"/>
                </a:solidFill>
                <a:latin typeface="Helvetica"/>
                <a:ea typeface="Helvetica"/>
                <a:cs typeface="Helvetica"/>
              </a:defRPr>
            </a:pPr>
            <a:r>
              <a:rPr sz="2250" b="1">
                <a:solidFill>
                  <a:srgbClr val="173B57"/>
                </a:solidFill>
                <a:latin typeface="Helvetica"/>
                <a:ea typeface="Helvetica"/>
                <a:cs typeface="Helvetica"/>
              </a:rPr>
              <a:t>Quelles lignes de ventes peut-on utiliser pour calculer un chiffre d’affaires en euros ?</a:t>
            </a:r>
          </a:p>
        </p:txBody>
      </p:sp>
      <p:sp>
        <p:nvSpPr>
          <p:cNvPr id="5" name="">
            <a:extLst xmlns:a="http://schemas.openxmlformats.org/drawingml/2006/main">
              <a:ext uri="{FF2B5EF4-FFF2-40B4-BE49-F238E27FC236}">
                <a16:creationId xmlns:a16="http://schemas.microsoft.com/office/drawing/2014/main" id="{14D1CDB0-82D4-409F-948E-4550CA6AA78C}"/>
              </a:ext>
            </a:extLst>
          </p:cNvPr>
          <p:cNvSpPr>
            <a:spLocks xmlns:a="http://schemas.openxmlformats.org/drawingml/2006/main" noGrp="1"/>
          </p:cNvSpPr>
          <p:nvPr/>
        </p:nvSpPr>
        <p:spPr>
          <a:xfrm xmlns:a="http://schemas.openxmlformats.org/drawingml/2006/main">
            <a:off x="723900" y="24003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00" b="1">
                <a:solidFill>
                  <a:srgbClr val="E56B3F"/>
                </a:solidFill>
                <a:latin typeface="Helvetica"/>
                <a:ea typeface="Helvetica"/>
                <a:cs typeface="Helvetica"/>
              </a:defRPr>
            </a:pPr>
            <a:r>
              <a:rPr sz="1500" b="1">
                <a:solidFill>
                  <a:srgbClr val="E56B3F"/>
                </a:solidFill>
                <a:latin typeface="Helvetica"/>
                <a:ea typeface="Helvetica"/>
                <a:cs typeface="Helvetica"/>
              </a:rPr>
              <a:t>Une ligne exploitable doit réunir quatre preuves</a:t>
            </a:r>
          </a:p>
        </p:txBody>
      </p:sp>
      <p:sp>
        <p:nvSpPr>
          <p:cNvPr id="6" name="">
            <a:extLst xmlns:a="http://schemas.openxmlformats.org/drawingml/2006/main">
              <a:ext uri="{FF2B5EF4-FFF2-40B4-BE49-F238E27FC236}">
                <a16:creationId xmlns:a16="http://schemas.microsoft.com/office/drawing/2014/main" id="{6CFC6F75-A1A7-49B7-99B0-F7FF57601FC5}"/>
              </a:ext>
            </a:extLst>
          </p:cNvPr>
          <p:cNvSpPr>
            <a:spLocks xmlns:a="http://schemas.openxmlformats.org/drawingml/2006/main" noGrp="1"/>
          </p:cNvSpPr>
          <p:nvPr/>
        </p:nvSpPr>
        <p:spPr>
          <a:xfrm xmlns:a="http://schemas.openxmlformats.org/drawingml/2006/main">
            <a:off x="800100" y="2952750"/>
            <a:ext cx="361950" cy="361950"/>
          </a:xfrm>
          <a:prstGeom xmlns:a="http://schemas.openxmlformats.org/drawingml/2006/main" prst="roundRect">
            <a:avLst>
              <a:gd name="adj" fmla="val 50000"/>
            </a:avLst>
          </a:prstGeom>
          <a:solidFill xmlns:a="http://schemas.openxmlformats.org/drawingml/2006/main">
            <a:srgbClr val="173B57"/>
          </a:solidFill>
          <a:ln xmlns:a="http://schemas.openxmlformats.org/drawingml/2006/main" w="0">
            <a:noFill/>
          </a:ln>
        </p:spPr>
        <p:txBody>
          <a:bodyPr xmlns:a="http://schemas.openxmlformats.org/drawingml/2006/main" lIns="57150" tIns="38100" rIns="57150" bIns="38100" anchor="ctr">
            <a:normAutofit fontScale="87362"/>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1</a:t>
            </a:r>
          </a:p>
        </p:txBody>
      </p:sp>
      <p:sp>
        <p:nvSpPr>
          <p:cNvPr id="7" name="">
            <a:extLst xmlns:a="http://schemas.openxmlformats.org/drawingml/2006/main">
              <a:ext uri="{FF2B5EF4-FFF2-40B4-BE49-F238E27FC236}">
                <a16:creationId xmlns:a16="http://schemas.microsoft.com/office/drawing/2014/main" id="{65AD15C7-54B3-4491-BC13-3A9C5C8318CE}"/>
              </a:ext>
            </a:extLst>
          </p:cNvPr>
          <p:cNvSpPr>
            <a:spLocks xmlns:a="http://schemas.openxmlformats.org/drawingml/2006/main" noGrp="1"/>
          </p:cNvSpPr>
          <p:nvPr/>
        </p:nvSpPr>
        <p:spPr>
          <a:xfrm xmlns:a="http://schemas.openxmlformats.org/drawingml/2006/main">
            <a:off x="1314450" y="28956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75" b="0">
                <a:solidFill>
                  <a:srgbClr val="11233B"/>
                </a:solidFill>
                <a:latin typeface="Helvetica"/>
                <a:ea typeface="Helvetica"/>
                <a:cs typeface="Helvetica"/>
              </a:defRPr>
            </a:pPr>
            <a:r>
              <a:rPr sz="1575" b="0">
                <a:solidFill>
                  <a:srgbClr val="11233B"/>
                </a:solidFill>
                <a:latin typeface="Helvetica"/>
                <a:ea typeface="Helvetica"/>
                <a:cs typeface="Helvetica"/>
              </a:rPr>
              <a:t>Identifiants et date valides</a:t>
            </a:r>
          </a:p>
        </p:txBody>
      </p:sp>
      <p:sp>
        <p:nvSpPr>
          <p:cNvPr id="8" name="">
            <a:extLst xmlns:a="http://schemas.openxmlformats.org/drawingml/2006/main">
              <a:ext uri="{FF2B5EF4-FFF2-40B4-BE49-F238E27FC236}">
                <a16:creationId xmlns:a16="http://schemas.microsoft.com/office/drawing/2014/main" id="{89C160DD-65B9-43B2-9354-3ADEAA099393}"/>
              </a:ext>
            </a:extLst>
          </p:cNvPr>
          <p:cNvSpPr>
            <a:spLocks xmlns:a="http://schemas.openxmlformats.org/drawingml/2006/main" noGrp="1"/>
          </p:cNvSpPr>
          <p:nvPr/>
        </p:nvSpPr>
        <p:spPr>
          <a:xfrm xmlns:a="http://schemas.openxmlformats.org/drawingml/2006/main">
            <a:off x="800100" y="3581400"/>
            <a:ext cx="361950" cy="361950"/>
          </a:xfrm>
          <a:prstGeom xmlns:a="http://schemas.openxmlformats.org/drawingml/2006/main" prst="roundRect">
            <a:avLst>
              <a:gd name="adj" fmla="val 50000"/>
            </a:avLst>
          </a:prstGeom>
          <a:solidFill xmlns:a="http://schemas.openxmlformats.org/drawingml/2006/main">
            <a:srgbClr val="173B57"/>
          </a:solidFill>
          <a:ln xmlns:a="http://schemas.openxmlformats.org/drawingml/2006/main" w="0">
            <a:noFill/>
          </a:ln>
        </p:spPr>
        <p:txBody>
          <a:bodyPr xmlns:a="http://schemas.openxmlformats.org/drawingml/2006/main" lIns="57150" tIns="38100" rIns="57150" bIns="38100" anchor="ctr">
            <a:normAutofit fontScale="87362"/>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2</a:t>
            </a:r>
          </a:p>
        </p:txBody>
      </p:sp>
      <p:sp>
        <p:nvSpPr>
          <p:cNvPr id="9" name="">
            <a:extLst xmlns:a="http://schemas.openxmlformats.org/drawingml/2006/main">
              <a:ext uri="{FF2B5EF4-FFF2-40B4-BE49-F238E27FC236}">
                <a16:creationId xmlns:a16="http://schemas.microsoft.com/office/drawing/2014/main" id="{C7136B9A-B49E-4FE3-A3B8-0DEE27DD6B95}"/>
              </a:ext>
            </a:extLst>
          </p:cNvPr>
          <p:cNvSpPr>
            <a:spLocks xmlns:a="http://schemas.openxmlformats.org/drawingml/2006/main" noGrp="1"/>
          </p:cNvSpPr>
          <p:nvPr/>
        </p:nvSpPr>
        <p:spPr>
          <a:xfrm xmlns:a="http://schemas.openxmlformats.org/drawingml/2006/main">
            <a:off x="1314450" y="35242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75" b="0">
                <a:solidFill>
                  <a:srgbClr val="11233B"/>
                </a:solidFill>
                <a:latin typeface="Helvetica"/>
                <a:ea typeface="Helvetica"/>
                <a:cs typeface="Helvetica"/>
              </a:defRPr>
            </a:pPr>
            <a:r>
              <a:rPr sz="1575" b="0">
                <a:solidFill>
                  <a:srgbClr val="11233B"/>
                </a:solidFill>
                <a:latin typeface="Helvetica"/>
                <a:ea typeface="Helvetica"/>
                <a:cs typeface="Helvetica"/>
              </a:rPr>
              <a:t>État commercial admissible</a:t>
            </a:r>
          </a:p>
        </p:txBody>
      </p:sp>
      <p:sp>
        <p:nvSpPr>
          <p:cNvPr id="10" name="">
            <a:extLst xmlns:a="http://schemas.openxmlformats.org/drawingml/2006/main">
              <a:ext uri="{FF2B5EF4-FFF2-40B4-BE49-F238E27FC236}">
                <a16:creationId xmlns:a16="http://schemas.microsoft.com/office/drawing/2014/main" id="{52F26985-0B20-4889-8F87-95B428606EE5}"/>
              </a:ext>
            </a:extLst>
          </p:cNvPr>
          <p:cNvSpPr>
            <a:spLocks xmlns:a="http://schemas.openxmlformats.org/drawingml/2006/main" noGrp="1"/>
          </p:cNvSpPr>
          <p:nvPr/>
        </p:nvSpPr>
        <p:spPr>
          <a:xfrm xmlns:a="http://schemas.openxmlformats.org/drawingml/2006/main">
            <a:off x="800100" y="4210050"/>
            <a:ext cx="361950" cy="361950"/>
          </a:xfrm>
          <a:prstGeom xmlns:a="http://schemas.openxmlformats.org/drawingml/2006/main" prst="roundRect">
            <a:avLst>
              <a:gd name="adj" fmla="val 50000"/>
            </a:avLst>
          </a:prstGeom>
          <a:solidFill xmlns:a="http://schemas.openxmlformats.org/drawingml/2006/main">
            <a:srgbClr val="173B57"/>
          </a:solidFill>
          <a:ln xmlns:a="http://schemas.openxmlformats.org/drawingml/2006/main" w="0">
            <a:noFill/>
          </a:ln>
        </p:spPr>
        <p:txBody>
          <a:bodyPr xmlns:a="http://schemas.openxmlformats.org/drawingml/2006/main" lIns="57150" tIns="38100" rIns="57150" bIns="38100" anchor="ctr">
            <a:normAutofit fontScale="87362"/>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3</a:t>
            </a:r>
          </a:p>
        </p:txBody>
      </p:sp>
      <p:sp>
        <p:nvSpPr>
          <p:cNvPr id="11" name="">
            <a:extLst xmlns:a="http://schemas.openxmlformats.org/drawingml/2006/main">
              <a:ext uri="{FF2B5EF4-FFF2-40B4-BE49-F238E27FC236}">
                <a16:creationId xmlns:a16="http://schemas.microsoft.com/office/drawing/2014/main" id="{764B1B06-0C4C-49E4-9236-18759AF053A5}"/>
              </a:ext>
            </a:extLst>
          </p:cNvPr>
          <p:cNvSpPr>
            <a:spLocks xmlns:a="http://schemas.openxmlformats.org/drawingml/2006/main" noGrp="1"/>
          </p:cNvSpPr>
          <p:nvPr/>
        </p:nvSpPr>
        <p:spPr>
          <a:xfrm xmlns:a="http://schemas.openxmlformats.org/drawingml/2006/main">
            <a:off x="1314450" y="41529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75" b="0">
                <a:solidFill>
                  <a:srgbClr val="11233B"/>
                </a:solidFill>
                <a:latin typeface="Helvetica"/>
                <a:ea typeface="Helvetica"/>
                <a:cs typeface="Helvetica"/>
              </a:defRPr>
            </a:pPr>
            <a:r>
              <a:rPr sz="1575" b="0">
                <a:solidFill>
                  <a:srgbClr val="11233B"/>
                </a:solidFill>
                <a:latin typeface="Helvetica"/>
                <a:ea typeface="Helvetica"/>
                <a:cs typeface="Helvetica"/>
              </a:rPr>
              <a:t>Prix strictement positif</a:t>
            </a:r>
          </a:p>
        </p:txBody>
      </p:sp>
      <p:sp>
        <p:nvSpPr>
          <p:cNvPr id="12" name="">
            <a:extLst xmlns:a="http://schemas.openxmlformats.org/drawingml/2006/main">
              <a:ext uri="{FF2B5EF4-FFF2-40B4-BE49-F238E27FC236}">
                <a16:creationId xmlns:a16="http://schemas.microsoft.com/office/drawing/2014/main" id="{DD15DD3B-E6A2-4CD1-A595-E1100BFE1E4E}"/>
              </a:ext>
            </a:extLst>
          </p:cNvPr>
          <p:cNvSpPr>
            <a:spLocks xmlns:a="http://schemas.openxmlformats.org/drawingml/2006/main" noGrp="1"/>
          </p:cNvSpPr>
          <p:nvPr/>
        </p:nvSpPr>
        <p:spPr>
          <a:xfrm xmlns:a="http://schemas.openxmlformats.org/drawingml/2006/main">
            <a:off x="800100" y="4838700"/>
            <a:ext cx="361950" cy="361950"/>
          </a:xfrm>
          <a:prstGeom xmlns:a="http://schemas.openxmlformats.org/drawingml/2006/main" prst="roundRect">
            <a:avLst>
              <a:gd name="adj" fmla="val 50000"/>
            </a:avLst>
          </a:prstGeom>
          <a:solidFill xmlns:a="http://schemas.openxmlformats.org/drawingml/2006/main">
            <a:srgbClr val="1B8A9B"/>
          </a:solidFill>
          <a:ln xmlns:a="http://schemas.openxmlformats.org/drawingml/2006/main" w="0">
            <a:noFill/>
          </a:ln>
        </p:spPr>
        <p:txBody>
          <a:bodyPr xmlns:a="http://schemas.openxmlformats.org/drawingml/2006/main" lIns="57150" tIns="38100" rIns="57150" bIns="38100" anchor="ctr">
            <a:normAutofit fontScale="87362"/>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4</a:t>
            </a:r>
          </a:p>
        </p:txBody>
      </p:sp>
      <p:sp>
        <p:nvSpPr>
          <p:cNvPr id="13" name="">
            <a:extLst xmlns:a="http://schemas.openxmlformats.org/drawingml/2006/main">
              <a:ext uri="{FF2B5EF4-FFF2-40B4-BE49-F238E27FC236}">
                <a16:creationId xmlns:a16="http://schemas.microsoft.com/office/drawing/2014/main" id="{3DB1CF2B-EFF3-4161-83DA-0B5581974756}"/>
              </a:ext>
            </a:extLst>
          </p:cNvPr>
          <p:cNvSpPr>
            <a:spLocks xmlns:a="http://schemas.openxmlformats.org/drawingml/2006/main" noGrp="1"/>
          </p:cNvSpPr>
          <p:nvPr/>
        </p:nvSpPr>
        <p:spPr>
          <a:xfrm xmlns:a="http://schemas.openxmlformats.org/drawingml/2006/main">
            <a:off x="1314450" y="47815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75" b="0">
                <a:solidFill>
                  <a:srgbClr val="11233B"/>
                </a:solidFill>
                <a:latin typeface="Helvetica"/>
                <a:ea typeface="Helvetica"/>
                <a:cs typeface="Helvetica"/>
              </a:defRPr>
            </a:pPr>
            <a:r>
              <a:rPr sz="1575" b="0">
                <a:solidFill>
                  <a:srgbClr val="11233B"/>
                </a:solidFill>
                <a:latin typeface="Helvetica"/>
                <a:ea typeface="Helvetica"/>
                <a:cs typeface="Helvetica"/>
              </a:rPr>
              <a:t>Taux BCE antérieur de 0 à 7 jours</a:t>
            </a:r>
          </a:p>
        </p:txBody>
      </p:sp>
      <p:sp>
        <p:nvSpPr>
          <p:cNvPr id="14" name="">
            <a:extLst xmlns:a="http://schemas.openxmlformats.org/drawingml/2006/main">
              <a:ext uri="{FF2B5EF4-FFF2-40B4-BE49-F238E27FC236}">
                <a16:creationId xmlns:a16="http://schemas.microsoft.com/office/drawing/2014/main" id="{9541A6D2-12B2-4120-B23A-56733C929526}"/>
              </a:ext>
            </a:extLst>
          </p:cNvPr>
          <p:cNvSpPr>
            <a:spLocks xmlns:a="http://schemas.openxmlformats.org/drawingml/2006/main" noGrp="1"/>
          </p:cNvSpPr>
          <p:nvPr/>
        </p:nvSpPr>
        <p:spPr>
          <a:xfrm xmlns:a="http://schemas.openxmlformats.org/drawingml/2006/main">
            <a:off x="7086600" y="24003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00" b="1">
                <a:solidFill>
                  <a:srgbClr val="E56B3F"/>
                </a:solidFill>
                <a:latin typeface="Helvetica"/>
                <a:ea typeface="Helvetica"/>
                <a:cs typeface="Helvetica"/>
              </a:defRPr>
            </a:pPr>
            <a:r>
              <a:rPr sz="1500" b="1">
                <a:solidFill>
                  <a:srgbClr val="E56B3F"/>
                </a:solidFill>
                <a:latin typeface="Helvetica"/>
                <a:ea typeface="Helvetica"/>
                <a:cs typeface="Helvetica"/>
              </a:rPr>
              <a:t>Sortie attendue</a:t>
            </a:r>
          </a:p>
        </p:txBody>
      </p:sp>
      <p:sp>
        <p:nvSpPr>
          <p:cNvPr id="15" name="">
            <a:extLst xmlns:a="http://schemas.openxmlformats.org/drawingml/2006/main">
              <a:ext uri="{FF2B5EF4-FFF2-40B4-BE49-F238E27FC236}">
                <a16:creationId xmlns:a16="http://schemas.microsoft.com/office/drawing/2014/main" id="{44A2C0E1-BC36-46E5-B031-FB7A68A656D6}"/>
              </a:ext>
            </a:extLst>
          </p:cNvPr>
          <p:cNvSpPr>
            <a:spLocks xmlns:a="http://schemas.openxmlformats.org/drawingml/2006/main" noGrp="1"/>
          </p:cNvSpPr>
          <p:nvPr/>
        </p:nvSpPr>
        <p:spPr>
          <a:xfrm xmlns:a="http://schemas.openxmlformats.org/drawingml/2006/main">
            <a:off x="7086600" y="2971800"/>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875" b="1">
                <a:solidFill>
                  <a:srgbClr val="11233B"/>
                </a:solidFill>
                <a:latin typeface="Helvetica"/>
                <a:ea typeface="Helvetica"/>
                <a:cs typeface="Helvetica"/>
              </a:defRPr>
            </a:pPr>
            <a:r>
              <a:rPr sz="1875" b="1">
                <a:solidFill>
                  <a:srgbClr val="11233B"/>
                </a:solidFill>
                <a:latin typeface="Helvetica"/>
                <a:ea typeface="Helvetica"/>
                <a:cs typeface="Helvetica"/>
              </a:rPr>
              <a:t>Un jeu final unique pour les lignes acceptées</a:t>
            </a:r>
          </a:p>
        </p:txBody>
      </p:sp>
      <p:sp>
        <p:nvSpPr>
          <p:cNvPr id="16" name="">
            <a:extLst xmlns:a="http://schemas.openxmlformats.org/drawingml/2006/main">
              <a:ext uri="{FF2B5EF4-FFF2-40B4-BE49-F238E27FC236}">
                <a16:creationId xmlns:a16="http://schemas.microsoft.com/office/drawing/2014/main" id="{4C51E48A-BDA0-48D6-8C39-24D360904571}"/>
              </a:ext>
            </a:extLst>
          </p:cNvPr>
          <p:cNvSpPr>
            <a:spLocks xmlns:a="http://schemas.openxmlformats.org/drawingml/2006/main" noGrp="1"/>
          </p:cNvSpPr>
          <p:nvPr/>
        </p:nvSpPr>
        <p:spPr>
          <a:xfrm xmlns:a="http://schemas.openxmlformats.org/drawingml/2006/main">
            <a:off x="7086600" y="382905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75" b="0">
                <a:solidFill>
                  <a:srgbClr val="5E6D78"/>
                </a:solidFill>
                <a:latin typeface="Helvetica"/>
                <a:ea typeface="Helvetica"/>
                <a:cs typeface="Helvetica"/>
              </a:defRPr>
            </a:pPr>
            <a:r>
              <a:rPr sz="1575" b="0">
                <a:solidFill>
                  <a:srgbClr val="5E6D78"/>
                </a:solidFill>
                <a:latin typeface="Helvetica"/>
                <a:ea typeface="Helvetica"/>
                <a:cs typeface="Helvetica"/>
              </a:rPr>
              <a:t>Chaque autre ligne reçoit un statut, un code de raison stable et une explication lisible.</a:t>
            </a:r>
          </a:p>
        </p:txBody>
      </p:sp>
      <p:sp>
        <p:nvSpPr>
          <p:cNvPr id="17" name="">
            <a:extLst xmlns:a="http://schemas.openxmlformats.org/drawingml/2006/main">
              <a:ext uri="{FF2B5EF4-FFF2-40B4-BE49-F238E27FC236}">
                <a16:creationId xmlns:a16="http://schemas.microsoft.com/office/drawing/2014/main" id="{F693D000-0742-4A73-9D9C-7D717DDFE0B8}"/>
              </a:ext>
            </a:extLst>
          </p:cNvPr>
          <p:cNvSpPr>
            <a:spLocks xmlns:a="http://schemas.openxmlformats.org/drawingml/2006/main" noGrp="1"/>
          </p:cNvSpPr>
          <p:nvPr/>
        </p:nvSpPr>
        <p:spPr>
          <a:xfrm xmlns:a="http://schemas.openxmlformats.org/drawingml/2006/main">
            <a:off x="7086600" y="52197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00" b="1">
                <a:solidFill>
                  <a:srgbClr val="2F7D64"/>
                </a:solidFill>
                <a:latin typeface="Helvetica"/>
                <a:ea typeface="Helvetica"/>
                <a:cs typeface="Helvetica"/>
              </a:defRPr>
            </a:pPr>
            <a:r>
              <a:rPr sz="1500" b="1">
                <a:solidFill>
                  <a:srgbClr val="2F7D64"/>
                </a:solidFill>
                <a:latin typeface="Helvetica"/>
                <a:ea typeface="Helvetica"/>
                <a:cs typeface="Helvetica"/>
              </a:rPr>
              <a:t>Le rapport conserve exactement les 2 131 lignes d’entrée.</a:t>
            </a:r>
          </a:p>
        </p:txBody>
      </p:sp>
      <p:sp>
        <p:nvSpPr>
          <p:cNvPr id="18" name="">
            <a:extLst xmlns:a="http://schemas.openxmlformats.org/drawingml/2006/main">
              <a:ext uri="{FF2B5EF4-FFF2-40B4-BE49-F238E27FC236}">
                <a16:creationId xmlns:a16="http://schemas.microsoft.com/office/drawing/2014/main" id="{E8D98BB2-FF52-4B71-8E83-4F63B45EA31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3DC8BD4-100E-45D7-9916-3BD295F1836E}"/>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Source : PRD.md, output/rapport_qualite.json     2/12</a:t>
            </a:r>
          </a:p>
        </p:txBody>
      </p:sp>
    </p:spTree>
    <p:extLst>
      <p:ext uri="{BB962C8B-B14F-4D97-AF65-F5344CB8AC3E}">
        <p14:creationId xmlns:p14="http://schemas.microsoft.com/office/powerpoint/2010/main" val="1115707839"/>
      </p:ext>
    </p:extLst>
  </p:cSld>
</p:sld>
</file>

<file path=ppt/slides/slide3.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6C8404B-97C9-4D92-837A-0F9FC2AB45B6}"/>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03</a:t>
            </a:r>
          </a:p>
        </p:txBody>
      </p:sp>
      <p:sp>
        <p:nvSpPr>
          <p:cNvPr id="2" name="">
            <a:extLst xmlns:a="http://schemas.openxmlformats.org/drawingml/2006/main">
              <a:ext uri="{FF2B5EF4-FFF2-40B4-BE49-F238E27FC236}">
                <a16:creationId xmlns:a16="http://schemas.microsoft.com/office/drawing/2014/main" id="{5261F5E6-460E-4E95-B71D-7346287EC55B}"/>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Sources publiques et architecture du POC</a:t>
            </a:r>
          </a:p>
        </p:txBody>
      </p:sp>
      <p:sp>
        <p:nvSpPr>
          <p:cNvPr id="3" name="">
            <a:extLst xmlns:a="http://schemas.openxmlformats.org/drawingml/2006/main">
              <a:ext uri="{FF2B5EF4-FFF2-40B4-BE49-F238E27FC236}">
                <a16:creationId xmlns:a16="http://schemas.microsoft.com/office/drawing/2014/main" id="{B105AAAF-9889-4515-8791-B3CAF3CD1DD6}"/>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AAF37CE-28FF-4FB2-B330-782720523926}"/>
              </a:ext>
            </a:extLst>
          </p:cNvPr>
          <p:cNvSpPr>
            <a:spLocks xmlns:a="http://schemas.openxmlformats.org/drawingml/2006/main" noGrp="1"/>
          </p:cNvSpPr>
          <p:nvPr/>
        </p:nvSpPr>
        <p:spPr>
          <a:xfrm xmlns:a="http://schemas.openxmlformats.org/drawingml/2006/main">
            <a:off x="685800" y="10858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Période fixe : ventes du 1er au 31 janvier 2024; taux du 25 décembre 2023 au 31 janvier 2024</a:t>
            </a:r>
          </a:p>
        </p:txBody>
      </p:sp>
      <p:sp>
        <p:nvSpPr>
          <p:cNvPr id="5" name="">
            <a:extLst xmlns:a="http://schemas.openxmlformats.org/drawingml/2006/main">
              <a:ext uri="{FF2B5EF4-FFF2-40B4-BE49-F238E27FC236}">
                <a16:creationId xmlns:a16="http://schemas.microsoft.com/office/drawing/2014/main" id="{A6D96558-C94A-4F60-9747-3A0D5B5F1E05}"/>
              </a:ext>
            </a:extLst>
          </p:cNvPr>
          <p:cNvSpPr>
            <a:spLocks xmlns:a="http://schemas.openxmlformats.org/drawingml/2006/main" noGrp="1"/>
          </p:cNvSpPr>
          <p:nvPr/>
        </p:nvSpPr>
        <p:spPr>
          <a:xfrm xmlns:a="http://schemas.openxmlformats.org/drawingml/2006/main">
            <a:off x="666750" y="2095500"/>
            <a:ext cx="2381250" cy="1238250"/>
          </a:xfrm>
          <a:prstGeom xmlns:a="http://schemas.openxmlformats.org/drawingml/2006/main" prst="roundRect">
            <a:avLst>
              <a:gd name="adj" fmla="val 13846"/>
            </a:avLst>
          </a:prstGeom>
          <a:solidFill xmlns:a="http://schemas.openxmlformats.org/drawingml/2006/main">
            <a:srgbClr val="DCECF0"/>
          </a:solidFill>
          <a:ln xmlns:a="http://schemas.openxmlformats.org/drawingml/2006/main" w="9525">
            <a:solidFill>
              <a:srgbClr val="D8D2C7"/>
            </a:solidFill>
            <a:prstDash val="solid"/>
          </a:ln>
        </p:spPr>
        <p:txBody>
          <a:bodyPr xmlns:a="http://schemas.openxmlformats.org/drawingml/2006/main" lIns="95250" tIns="76200" rIns="95250" bIns="76200" anchor="ctr">
            <a:normAutofit fontScale="95793"/>
          </a:bodyPr>
          <a:lstStyle xmlns:a="http://schemas.openxmlformats.org/drawingml/2006/main"/>
          <a:p xmlns:a="http://schemas.openxmlformats.org/drawingml/2006/main">
            <a:pPr algn="ctr">
              <a:defRPr sz="1350">
                <a:solidFill>
                  <a:srgbClr val="11233B"/>
                </a:solidFill>
                <a:latin typeface="Helvetica"/>
                <a:ea typeface="Helvetica"/>
                <a:cs typeface="Helvetica"/>
              </a:defRPr>
            </a:pPr>
            <a:r>
              <a:rPr sz="1350" b="1">
                <a:solidFill>
                  <a:srgbClr val="11233B"/>
                </a:solidFill>
                <a:latin typeface="Helvetica"/>
                <a:ea typeface="Helvetica"/>
                <a:cs typeface="Helvetica"/>
              </a:rPr>
              <a:t>BigQuery</a:t>
            </a:r>
          </a:p>
          <a:p xmlns:a="http://schemas.openxmlformats.org/drawingml/2006/main">
            <a:pPr algn="ctr">
              <a:defRPr sz="1350">
                <a:solidFill>
                  <a:srgbClr val="11233B"/>
                </a:solidFill>
                <a:latin typeface="Helvetica"/>
                <a:ea typeface="Helvetica"/>
                <a:cs typeface="Helvetica"/>
              </a:defRPr>
            </a:pPr>
            <a:r>
              <a:rPr sz="1350">
                <a:solidFill>
                  <a:srgbClr val="11233B"/>
                </a:solidFill>
                <a:latin typeface="Helvetica"/>
                <a:ea typeface="Helvetica"/>
                <a:cs typeface="Helvetica"/>
              </a:rPr>
              <a:t>TheLook fictif
orders + order_items + products
2 131 lignes</a:t>
            </a:r>
          </a:p>
        </p:txBody>
      </p:sp>
      <p:sp>
        <p:nvSpPr>
          <p:cNvPr id="6" name="">
            <a:extLst xmlns:a="http://schemas.openxmlformats.org/drawingml/2006/main">
              <a:ext uri="{FF2B5EF4-FFF2-40B4-BE49-F238E27FC236}">
                <a16:creationId xmlns:a16="http://schemas.microsoft.com/office/drawing/2014/main" id="{84D9A06B-8ABA-4C45-BE7E-FCC652279547}"/>
              </a:ext>
            </a:extLst>
          </p:cNvPr>
          <p:cNvSpPr>
            <a:spLocks xmlns:a="http://schemas.openxmlformats.org/drawingml/2006/main" noGrp="1"/>
          </p:cNvSpPr>
          <p:nvPr/>
        </p:nvSpPr>
        <p:spPr>
          <a:xfrm xmlns:a="http://schemas.openxmlformats.org/drawingml/2006/main">
            <a:off x="666750" y="4000500"/>
            <a:ext cx="2381250" cy="1238250"/>
          </a:xfrm>
          <a:prstGeom xmlns:a="http://schemas.openxmlformats.org/drawingml/2006/main" prst="roundRect">
            <a:avLst>
              <a:gd name="adj" fmla="val 13846"/>
            </a:avLst>
          </a:prstGeom>
          <a:solidFill xmlns:a="http://schemas.openxmlformats.org/drawingml/2006/main">
            <a:srgbClr val="F8E3D9"/>
          </a:solidFill>
          <a:ln xmlns:a="http://schemas.openxmlformats.org/drawingml/2006/main" w="9525">
            <a:solidFill>
              <a:srgbClr val="D8D2C7"/>
            </a:solidFill>
            <a:prstDash val="solid"/>
          </a:ln>
        </p:spPr>
        <p:txBody>
          <a:bodyPr xmlns:a="http://schemas.openxmlformats.org/drawingml/2006/main" lIns="95250" tIns="76200" rIns="95250" bIns="76200" anchor="ctr">
            <a:normAutofit fontScale="95793"/>
          </a:bodyPr>
          <a:lstStyle xmlns:a="http://schemas.openxmlformats.org/drawingml/2006/main"/>
          <a:p xmlns:a="http://schemas.openxmlformats.org/drawingml/2006/main">
            <a:pPr algn="ctr">
              <a:defRPr sz="1350">
                <a:solidFill>
                  <a:srgbClr val="11233B"/>
                </a:solidFill>
                <a:latin typeface="Helvetica"/>
                <a:ea typeface="Helvetica"/>
                <a:cs typeface="Helvetica"/>
              </a:defRPr>
            </a:pPr>
            <a:r>
              <a:rPr sz="1350" b="1">
                <a:solidFill>
                  <a:srgbClr val="11233B"/>
                </a:solidFill>
                <a:latin typeface="Helvetica"/>
                <a:ea typeface="Helvetica"/>
                <a:cs typeface="Helvetica"/>
              </a:rPr>
              <a:t>PostgreSQL</a:t>
            </a:r>
          </a:p>
          <a:p xmlns:a="http://schemas.openxmlformats.org/drawingml/2006/main">
            <a:pPr algn="ctr">
              <a:defRPr sz="1350">
                <a:solidFill>
                  <a:srgbClr val="11233B"/>
                </a:solidFill>
                <a:latin typeface="Helvetica"/>
                <a:ea typeface="Helvetica"/>
                <a:cs typeface="Helvetica"/>
              </a:defRPr>
            </a:pPr>
            <a:r>
              <a:rPr sz="1350">
                <a:solidFill>
                  <a:srgbClr val="11233B"/>
                </a:solidFill>
                <a:latin typeface="Helvetica"/>
                <a:ea typeface="Helvetica"/>
                <a:cs typeface="Helvetica"/>
              </a:rPr>
              <a:t>Taux BCE USD/EUR
rate_sources + exchange_rates
25 observations</a:t>
            </a:r>
          </a:p>
        </p:txBody>
      </p:sp>
      <p:sp>
        <p:nvSpPr>
          <p:cNvPr id="7" name="">
            <a:extLst xmlns:a="http://schemas.openxmlformats.org/drawingml/2006/main">
              <a:ext uri="{FF2B5EF4-FFF2-40B4-BE49-F238E27FC236}">
                <a16:creationId xmlns:a16="http://schemas.microsoft.com/office/drawing/2014/main" id="{4E925B51-6094-4A5D-B25D-00AF03B9A59A}"/>
              </a:ext>
            </a:extLst>
          </p:cNvPr>
          <p:cNvSpPr>
            <a:spLocks xmlns:a="http://schemas.openxmlformats.org/drawingml/2006/main" noGrp="1"/>
          </p:cNvSpPr>
          <p:nvPr/>
        </p:nvSpPr>
        <p:spPr>
          <a:xfrm xmlns:a="http://schemas.openxmlformats.org/drawingml/2006/main">
            <a:off x="4333875" y="2857500"/>
            <a:ext cx="3048000" cy="1619250"/>
          </a:xfrm>
          <a:prstGeom xmlns:a="http://schemas.openxmlformats.org/drawingml/2006/main" prst="roundRect">
            <a:avLst>
              <a:gd name="adj" fmla="val 10588"/>
            </a:avLst>
          </a:prstGeom>
          <a:solidFill xmlns:a="http://schemas.openxmlformats.org/drawingml/2006/main">
            <a:srgbClr val="EEEAE3"/>
          </a:solidFill>
          <a:ln xmlns:a="http://schemas.openxmlformats.org/drawingml/2006/main" w="9525">
            <a:solidFill>
              <a:srgbClr val="D8D2C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350">
                <a:solidFill>
                  <a:srgbClr val="11233B"/>
                </a:solidFill>
                <a:latin typeface="Helvetica"/>
                <a:ea typeface="Helvetica"/>
                <a:cs typeface="Helvetica"/>
              </a:defRPr>
            </a:pPr>
            <a:r>
              <a:rPr sz="1350" b="1">
                <a:solidFill>
                  <a:srgbClr val="11233B"/>
                </a:solidFill>
                <a:latin typeface="Helvetica"/>
                <a:ea typeface="Helvetica"/>
                <a:cs typeface="Helvetica"/>
              </a:rPr>
              <a:t>Pipeline Python</a:t>
            </a:r>
          </a:p>
          <a:p xmlns:a="http://schemas.openxmlformats.org/drawingml/2006/main">
            <a:pPr algn="ctr">
              <a:defRPr sz="1350">
                <a:solidFill>
                  <a:srgbClr val="11233B"/>
                </a:solidFill>
                <a:latin typeface="Helvetica"/>
                <a:ea typeface="Helvetica"/>
                <a:cs typeface="Helvetica"/>
              </a:defRPr>
            </a:pPr>
            <a:r>
              <a:rPr sz="1350">
                <a:solidFill>
                  <a:srgbClr val="11233B"/>
                </a:solidFill>
                <a:latin typeface="Helvetica"/>
                <a:ea typeface="Helvetica"/>
                <a:cs typeface="Helvetica"/>
              </a:rPr>
              <a:t>Validation du schéma
Normalisation et contrôles
Rapprochement temporel
Calcul décimal</a:t>
            </a:r>
          </a:p>
        </p:txBody>
      </p:sp>
      <p:sp>
        <p:nvSpPr>
          <p:cNvPr id="8" name="">
            <a:extLst xmlns:a="http://schemas.openxmlformats.org/drawingml/2006/main">
              <a:ext uri="{FF2B5EF4-FFF2-40B4-BE49-F238E27FC236}">
                <a16:creationId xmlns:a16="http://schemas.microsoft.com/office/drawing/2014/main" id="{90B4B4C3-3F03-4F4B-83D0-60D03A190CA4}"/>
              </a:ext>
            </a:extLst>
          </p:cNvPr>
          <p:cNvSpPr>
            <a:spLocks xmlns:a="http://schemas.openxmlformats.org/drawingml/2006/main" noGrp="1"/>
          </p:cNvSpPr>
          <p:nvPr/>
        </p:nvSpPr>
        <p:spPr>
          <a:xfrm xmlns:a="http://schemas.openxmlformats.org/drawingml/2006/main">
            <a:off x="8667750" y="2000250"/>
            <a:ext cx="2619375" cy="904875"/>
          </a:xfrm>
          <a:prstGeom xmlns:a="http://schemas.openxmlformats.org/drawingml/2006/main" prst="roundRect">
            <a:avLst>
              <a:gd name="adj" fmla="val 18947"/>
            </a:avLst>
          </a:prstGeom>
          <a:solidFill xmlns:a="http://schemas.openxmlformats.org/drawingml/2006/main">
            <a:srgbClr val="DCEDE5"/>
          </a:solidFill>
          <a:ln xmlns:a="http://schemas.openxmlformats.org/drawingml/2006/main" w="9525">
            <a:solidFill>
              <a:srgbClr val="D8D2C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350">
                <a:solidFill>
                  <a:srgbClr val="11233B"/>
                </a:solidFill>
                <a:latin typeface="Helvetica"/>
                <a:ea typeface="Helvetica"/>
                <a:cs typeface="Helvetica"/>
              </a:defRPr>
            </a:pPr>
            <a:r>
              <a:rPr sz="1350" b="1">
                <a:solidFill>
                  <a:srgbClr val="11233B"/>
                </a:solidFill>
                <a:latin typeface="Helvetica"/>
                <a:ea typeface="Helvetica"/>
                <a:cs typeface="Helvetica"/>
              </a:rPr>
              <a:t>Jeu final</a:t>
            </a:r>
          </a:p>
          <a:p xmlns:a="http://schemas.openxmlformats.org/drawingml/2006/main">
            <a:pPr algn="ctr">
              <a:defRPr sz="1350">
                <a:solidFill>
                  <a:srgbClr val="11233B"/>
                </a:solidFill>
                <a:latin typeface="Helvetica"/>
                <a:ea typeface="Helvetica"/>
                <a:cs typeface="Helvetica"/>
              </a:defRPr>
            </a:pPr>
            <a:r>
              <a:rPr sz="1350">
                <a:solidFill>
                  <a:srgbClr val="11233B"/>
                </a:solidFill>
                <a:latin typeface="Helvetica"/>
                <a:ea typeface="Helvetica"/>
                <a:cs typeface="Helvetica"/>
              </a:rPr>
              <a:t>1 167 lignes acceptées</a:t>
            </a:r>
          </a:p>
        </p:txBody>
      </p:sp>
      <p:sp>
        <p:nvSpPr>
          <p:cNvPr id="9" name="">
            <a:extLst xmlns:a="http://schemas.openxmlformats.org/drawingml/2006/main">
              <a:ext uri="{FF2B5EF4-FFF2-40B4-BE49-F238E27FC236}">
                <a16:creationId xmlns:a16="http://schemas.microsoft.com/office/drawing/2014/main" id="{02B009B8-02FC-4D2A-90D7-817AC947FE7A}"/>
              </a:ext>
            </a:extLst>
          </p:cNvPr>
          <p:cNvSpPr>
            <a:spLocks xmlns:a="http://schemas.openxmlformats.org/drawingml/2006/main" noGrp="1"/>
          </p:cNvSpPr>
          <p:nvPr/>
        </p:nvSpPr>
        <p:spPr>
          <a:xfrm xmlns:a="http://schemas.openxmlformats.org/drawingml/2006/main">
            <a:off x="8667750" y="3238500"/>
            <a:ext cx="2619375" cy="904875"/>
          </a:xfrm>
          <a:prstGeom xmlns:a="http://schemas.openxmlformats.org/drawingml/2006/main" prst="roundRect">
            <a:avLst>
              <a:gd name="adj" fmla="val 18947"/>
            </a:avLst>
          </a:prstGeom>
          <a:solidFill xmlns:a="http://schemas.openxmlformats.org/drawingml/2006/main">
            <a:srgbClr val="F8E8C7"/>
          </a:solidFill>
          <a:ln xmlns:a="http://schemas.openxmlformats.org/drawingml/2006/main" w="9525">
            <a:solidFill>
              <a:srgbClr val="D8D2C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350">
                <a:solidFill>
                  <a:srgbClr val="11233B"/>
                </a:solidFill>
                <a:latin typeface="Helvetica"/>
                <a:ea typeface="Helvetica"/>
                <a:cs typeface="Helvetica"/>
              </a:defRPr>
            </a:pPr>
            <a:r>
              <a:rPr sz="1350" b="1">
                <a:solidFill>
                  <a:srgbClr val="11233B"/>
                </a:solidFill>
                <a:latin typeface="Helvetica"/>
                <a:ea typeface="Helvetica"/>
                <a:cs typeface="Helvetica"/>
              </a:rPr>
              <a:t>Quarantaine</a:t>
            </a:r>
          </a:p>
          <a:p xmlns:a="http://schemas.openxmlformats.org/drawingml/2006/main">
            <a:pPr algn="ctr">
              <a:defRPr sz="1350">
                <a:solidFill>
                  <a:srgbClr val="11233B"/>
                </a:solidFill>
                <a:latin typeface="Helvetica"/>
                <a:ea typeface="Helvetica"/>
                <a:cs typeface="Helvetica"/>
              </a:defRPr>
            </a:pPr>
            <a:r>
              <a:rPr sz="1350">
                <a:solidFill>
                  <a:srgbClr val="11233B"/>
                </a:solidFill>
                <a:latin typeface="Helvetica"/>
                <a:ea typeface="Helvetica"/>
                <a:cs typeface="Helvetica"/>
              </a:rPr>
              <a:t>964 lignes expliquées</a:t>
            </a:r>
          </a:p>
        </p:txBody>
      </p:sp>
      <p:sp>
        <p:nvSpPr>
          <p:cNvPr id="10" name="">
            <a:extLst xmlns:a="http://schemas.openxmlformats.org/drawingml/2006/main">
              <a:ext uri="{FF2B5EF4-FFF2-40B4-BE49-F238E27FC236}">
                <a16:creationId xmlns:a16="http://schemas.microsoft.com/office/drawing/2014/main" id="{8B7E6238-157F-4B49-B898-8F8BF7DC7344}"/>
              </a:ext>
            </a:extLst>
          </p:cNvPr>
          <p:cNvSpPr>
            <a:spLocks xmlns:a="http://schemas.openxmlformats.org/drawingml/2006/main" noGrp="1"/>
          </p:cNvSpPr>
          <p:nvPr/>
        </p:nvSpPr>
        <p:spPr>
          <a:xfrm xmlns:a="http://schemas.openxmlformats.org/drawingml/2006/main">
            <a:off x="8667750" y="4476750"/>
            <a:ext cx="2619375" cy="904875"/>
          </a:xfrm>
          <a:prstGeom xmlns:a="http://schemas.openxmlformats.org/drawingml/2006/main" prst="roundRect">
            <a:avLst>
              <a:gd name="adj" fmla="val 18947"/>
            </a:avLst>
          </a:prstGeom>
          <a:solidFill xmlns:a="http://schemas.openxmlformats.org/drawingml/2006/main">
            <a:srgbClr val="E8E1EE"/>
          </a:solidFill>
          <a:ln xmlns:a="http://schemas.openxmlformats.org/drawingml/2006/main" w="9525">
            <a:solidFill>
              <a:srgbClr val="D8D2C7"/>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defRPr sz="1350">
                <a:solidFill>
                  <a:srgbClr val="11233B"/>
                </a:solidFill>
                <a:latin typeface="Helvetica"/>
                <a:ea typeface="Helvetica"/>
                <a:cs typeface="Helvetica"/>
              </a:defRPr>
            </a:pPr>
            <a:r>
              <a:rPr sz="1350" b="1">
                <a:solidFill>
                  <a:srgbClr val="11233B"/>
                </a:solidFill>
                <a:latin typeface="Helvetica"/>
                <a:ea typeface="Helvetica"/>
                <a:cs typeface="Helvetica"/>
              </a:rPr>
              <a:t>Rapport</a:t>
            </a:r>
          </a:p>
          <a:p xmlns:a="http://schemas.openxmlformats.org/drawingml/2006/main">
            <a:pPr algn="ctr">
              <a:defRPr sz="1350">
                <a:solidFill>
                  <a:srgbClr val="11233B"/>
                </a:solidFill>
                <a:latin typeface="Helvetica"/>
                <a:ea typeface="Helvetica"/>
                <a:cs typeface="Helvetica"/>
              </a:defRPr>
            </a:pPr>
            <a:r>
              <a:rPr sz="1350">
                <a:solidFill>
                  <a:srgbClr val="11233B"/>
                </a:solidFill>
                <a:latin typeface="Helvetica"/>
                <a:ea typeface="Helvetica"/>
                <a:cs typeface="Helvetica"/>
              </a:rPr>
              <a:t>Volumes, raisons, hashes</a:t>
            </a:r>
          </a:p>
        </p:txBody>
      </p:sp>
      <p:cxnSp>
        <p:nvCxnSpPr>
          <p:cNvPr id="28" name=""/>
          <p:cNvCxnSpPr>
            <a:stCxn xmlns:a="http://schemas.openxmlformats.org/drawingml/2006/main" id="5" idx="3"/>
            <a:endCxn xmlns:a="http://schemas.openxmlformats.org/drawingml/2006/main" id="7" idx="1"/>
          </p:cNvCxnSpPr>
          <p:nvPr/>
        </p:nvCxnSpPr>
        <p:spPr>
          <a:xfrm xmlns:a="http://schemas.openxmlformats.org/drawingml/2006/main">
            <a:off x="3048000" y="2714625"/>
            <a:ext cx="1285875" cy="952500"/>
          </a:xfrm>
          <a:prstGeom xmlns:a="http://schemas.openxmlformats.org/drawingml/2006/main" prst="bentConnector3">
            <a:avLst>
              <a:gd name="adj1" fmla="val 50000"/>
            </a:avLst>
          </a:prstGeom>
          <a:ln xmlns:a="http://schemas.openxmlformats.org/drawingml/2006/main" w="28575">
            <a:solidFill>
              <a:srgbClr val="1B8A9B"/>
            </a:solidFill>
            <a:prstDash val="solid"/>
          </a:ln>
        </p:spPr>
      </p:cxn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flipV="1">
            <a:off x="3048000" y="3667125"/>
            <a:ext cx="1285875" cy="952500"/>
          </a:xfrm>
          <a:prstGeom xmlns:a="http://schemas.openxmlformats.org/drawingml/2006/main" prst="bentConnector3">
            <a:avLst>
              <a:gd name="adj1" fmla="val 50000"/>
            </a:avLst>
          </a:prstGeom>
          <a:ln xmlns:a="http://schemas.openxmlformats.org/drawingml/2006/main" w="28575">
            <a:solidFill>
              <a:srgbClr val="E56B3F"/>
            </a:solidFill>
            <a:prstDash val="solid"/>
          </a:ln>
        </p:spPr>
      </p:cxn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flipV="1">
            <a:off x="7381875" y="2452688"/>
            <a:ext cx="1285875" cy="1214438"/>
          </a:xfrm>
          <a:prstGeom xmlns:a="http://schemas.openxmlformats.org/drawingml/2006/main" prst="bentConnector3">
            <a:avLst>
              <a:gd name="adj1" fmla="val 50000"/>
            </a:avLst>
          </a:prstGeom>
          <a:ln xmlns:a="http://schemas.openxmlformats.org/drawingml/2006/main" w="19050">
            <a:solidFill>
              <a:srgbClr val="173B57"/>
            </a:solidFill>
            <a:prstDash val="solid"/>
          </a:ln>
        </p:spPr>
      </p:cxnSp>
      <p:cxnSp>
        <p:nvCxnSpPr>
          <p:cNvPr id="31" name=""/>
          <p:cNvCxnSpPr>
            <a:stCxn xmlns:a="http://schemas.openxmlformats.org/drawingml/2006/main" id="7" idx="3"/>
            <a:endCxn xmlns:a="http://schemas.openxmlformats.org/drawingml/2006/main" id="9" idx="1"/>
          </p:cNvCxnSpPr>
          <p:nvPr/>
        </p:nvCxnSpPr>
        <p:spPr>
          <a:xfrm xmlns:a="http://schemas.openxmlformats.org/drawingml/2006/main">
            <a:off x="7381875" y="3667125"/>
            <a:ext cx="1285875" cy="23813"/>
          </a:xfrm>
          <a:prstGeom xmlns:a="http://schemas.openxmlformats.org/drawingml/2006/main" prst="bentConnector3">
            <a:avLst>
              <a:gd name="adj1" fmla="val 50000"/>
            </a:avLst>
          </a:prstGeom>
          <a:ln xmlns:a="http://schemas.openxmlformats.org/drawingml/2006/main" w="19050">
            <a:solidFill>
              <a:srgbClr val="173B57"/>
            </a:solidFill>
            <a:prstDash val="solid"/>
          </a:ln>
        </p:spPr>
      </p:cxnSp>
      <p:cxnSp>
        <p:nvCxnSpPr>
          <p:cNvPr id="32" name=""/>
          <p:cNvCxnSpPr>
            <a:stCxn xmlns:a="http://schemas.openxmlformats.org/drawingml/2006/main" id="7" idx="3"/>
            <a:endCxn xmlns:a="http://schemas.openxmlformats.org/drawingml/2006/main" id="10" idx="1"/>
          </p:cNvCxnSpPr>
          <p:nvPr/>
        </p:nvCxnSpPr>
        <p:spPr>
          <a:xfrm xmlns:a="http://schemas.openxmlformats.org/drawingml/2006/main">
            <a:off x="7381875" y="3667125"/>
            <a:ext cx="1285875" cy="1262063"/>
          </a:xfrm>
          <a:prstGeom xmlns:a="http://schemas.openxmlformats.org/drawingml/2006/main" prst="bentConnector3">
            <a:avLst>
              <a:gd name="adj1" fmla="val 50000"/>
            </a:avLst>
          </a:prstGeom>
          <a:ln xmlns:a="http://schemas.openxmlformats.org/drawingml/2006/main" w="19050">
            <a:solidFill>
              <a:srgbClr val="173B57"/>
            </a:solidFill>
            <a:prstDash val="solid"/>
          </a:ln>
        </p:spPr>
      </p:cxnSp>
      <p:sp>
        <p:nvSpPr>
          <p:cNvPr id="16" name="">
            <a:extLst xmlns:a="http://schemas.openxmlformats.org/drawingml/2006/main">
              <a:ext uri="{FF2B5EF4-FFF2-40B4-BE49-F238E27FC236}">
                <a16:creationId xmlns:a16="http://schemas.microsoft.com/office/drawing/2014/main" id="{B269F8A2-E159-46EF-9CEF-DBCA3578031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8412E27-F350-438D-B8C0-951B4F790A1B}"/>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Sources : TheLook public sur BigQuery; BCE EXR.D.USD.EUR.SP00.A     3/12</a:t>
            </a:r>
          </a:p>
        </p:txBody>
      </p:sp>
    </p:spTree>
    <p:extLst>
      <p:ext uri="{BB962C8B-B14F-4D97-AF65-F5344CB8AC3E}">
        <p14:creationId xmlns:p14="http://schemas.microsoft.com/office/powerpoint/2010/main" val="1363087237"/>
      </p:ext>
    </p:extLst>
  </p:cSld>
</p:sld>
</file>

<file path=ppt/slides/slide4.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B4EA583-8A3E-4BF6-8304-1476039F3EC5}"/>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04</a:t>
            </a:r>
          </a:p>
        </p:txBody>
      </p:sp>
      <p:sp>
        <p:nvSpPr>
          <p:cNvPr id="2" name="">
            <a:extLst xmlns:a="http://schemas.openxmlformats.org/drawingml/2006/main">
              <a:ext uri="{FF2B5EF4-FFF2-40B4-BE49-F238E27FC236}">
                <a16:creationId xmlns:a16="http://schemas.microsoft.com/office/drawing/2014/main" id="{A9278C7D-FE13-4C32-8BC3-868DA0A6243A}"/>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C2 — Extraction BigQuery exécutée</a:t>
            </a:r>
          </a:p>
        </p:txBody>
      </p:sp>
      <p:sp>
        <p:nvSpPr>
          <p:cNvPr id="3" name="">
            <a:extLst xmlns:a="http://schemas.openxmlformats.org/drawingml/2006/main">
              <a:ext uri="{FF2B5EF4-FFF2-40B4-BE49-F238E27FC236}">
                <a16:creationId xmlns:a16="http://schemas.microsoft.com/office/drawing/2014/main" id="{AC5E5C6A-7F5D-4B1B-B3D5-BE3AB28F5F84}"/>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25D6C1-520F-497D-90A0-D2FADF3A78C5}"/>
              </a:ext>
            </a:extLst>
          </p:cNvPr>
          <p:cNvSpPr>
            <a:spLocks xmlns:a="http://schemas.openxmlformats.org/drawingml/2006/main" noGrp="1"/>
          </p:cNvSpPr>
          <p:nvPr/>
        </p:nvSpPr>
        <p:spPr>
          <a:xfrm xmlns:a="http://schemas.openxmlformats.org/drawingml/2006/main">
            <a:off x="685800" y="10858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Grain : une ligne par order_item; les états ne sont pas filtrés afin de conserver les exclusions et les cas à vérifier</a:t>
            </a:r>
          </a:p>
        </p:txBody>
      </p:sp>
      <p:sp>
        <p:nvSpPr>
          <p:cNvPr id="5" name="">
            <a:extLst xmlns:a="http://schemas.openxmlformats.org/drawingml/2006/main">
              <a:ext uri="{FF2B5EF4-FFF2-40B4-BE49-F238E27FC236}">
                <a16:creationId xmlns:a16="http://schemas.microsoft.com/office/drawing/2014/main" id="{7AC29734-41AA-4819-831B-8CDBC902C35D}"/>
              </a:ext>
            </a:extLst>
          </p:cNvPr>
          <p:cNvSpPr>
            <a:spLocks xmlns:a="http://schemas.openxmlformats.org/drawingml/2006/main" noGrp="1"/>
          </p:cNvSpPr>
          <p:nvPr/>
        </p:nvSpPr>
        <p:spPr>
          <a:xfrm xmlns:a="http://schemas.openxmlformats.org/drawingml/2006/main">
            <a:off x="685800" y="14668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SQL versionné</a:t>
            </a:r>
          </a:p>
        </p:txBody>
      </p:sp>
      <p:sp>
        <p:nvSpPr>
          <p:cNvPr id="6" name="">
            <a:extLst xmlns:a="http://schemas.openxmlformats.org/drawingml/2006/main">
              <a:ext uri="{FF2B5EF4-FFF2-40B4-BE49-F238E27FC236}">
                <a16:creationId xmlns:a16="http://schemas.microsoft.com/office/drawing/2014/main" id="{7BCA804B-BBF4-4AF2-A49F-E235AEF0CAA0}"/>
              </a:ext>
            </a:extLst>
          </p:cNvPr>
          <p:cNvSpPr>
            <a:spLocks xmlns:a="http://schemas.openxmlformats.org/drawingml/2006/main" noGrp="1"/>
          </p:cNvSpPr>
          <p:nvPr/>
        </p:nvSpPr>
        <p:spPr>
          <a:xfrm xmlns:a="http://schemas.openxmlformats.org/drawingml/2006/main">
            <a:off x="685800" y="1809750"/>
            <a:ext cx="5619750" cy="3905250"/>
          </a:xfrm>
          <a:prstGeom xmlns:a="http://schemas.openxmlformats.org/drawingml/2006/main" prst="rect">
            <a:avLst/>
          </a:prstGeom>
          <a:solidFill xmlns:a="http://schemas.openxmlformats.org/drawingml/2006/main">
            <a:srgbClr val="11233B"/>
          </a:solidFill>
          <a:ln xmlns:a="http://schemas.openxmlformats.org/drawingml/2006/main" w="0">
            <a:noFill/>
          </a:ln>
        </p:spPr>
        <p:txBody>
          <a:bodyPr xmlns:a="http://schemas.openxmlformats.org/drawingml/2006/main" lIns="152400" tIns="133350" rIns="152400" bIns="114300" anchor="t">
            <a:normAutofit fontScale="100000"/>
          </a:bodyPr>
          <a:lstStyle xmlns:a="http://schemas.openxmlformats.org/drawingml/2006/main"/>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SELECT</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oi.order_id, oi.id AS order_item_id, oi.product_id,</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DATE(oi.created_at, 'UTC') AS sale_date_utc,</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o.status AS order_status, oi.status AS item_status,</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oi.sale_price, p.category AS product_category</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FROM `...order_items` oi</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LEFT JOIN `...orders` o ON o.order_id = oi.order_id</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LEFT JOIN `...products` p ON p.id = oi.product_id</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WHERE oi.created_at &gt;= TIMESTAMP('2024-01-01', 'UTC')</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AND oi.created_at &lt;  TIMESTAMP('2024-02-01', 'UTC')</a:t>
            </a:r>
          </a:p>
        </p:txBody>
      </p:sp>
      <p:sp>
        <p:nvSpPr>
          <p:cNvPr id="7" name="">
            <a:extLst xmlns:a="http://schemas.openxmlformats.org/drawingml/2006/main">
              <a:ext uri="{FF2B5EF4-FFF2-40B4-BE49-F238E27FC236}">
                <a16:creationId xmlns:a16="http://schemas.microsoft.com/office/drawing/2014/main" id="{3D3AC78A-B30A-4776-AEA8-83CBDF8E4275}"/>
              </a:ext>
            </a:extLst>
          </p:cNvPr>
          <p:cNvSpPr>
            <a:spLocks xmlns:a="http://schemas.openxmlformats.org/drawingml/2006/main" noGrp="1"/>
          </p:cNvSpPr>
          <p:nvPr/>
        </p:nvSpPr>
        <p:spPr>
          <a:xfrm xmlns:a="http://schemas.openxmlformats.org/drawingml/2006/main">
            <a:off x="6715125" y="1466850"/>
            <a:ext cx="452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Extrait réel</a:t>
            </a:r>
          </a:p>
        </p:txBody>
      </p:sp>
      <p:graphicFrame>
        <p:nvGraphicFramePr>
          <p:cNvPr id="21" name=""/>
          <p:cNvGraphicFramePr/>
          <p:nvPr/>
        </p:nvGraphicFramePr>
        <p:xfrm>
          <a:off xmlns:a="http://schemas.openxmlformats.org/drawingml/2006/main" x="6715125" y="1809750"/>
          <a:ext xmlns:a="http://schemas.openxmlformats.org/drawingml/2006/main" cx="4572000" cy="2238375"/>
        </p:xfrm>
        <a:graphic xmlns:a="http://schemas.openxmlformats.org/drawingml/2006/main">
          <a:graphicData uri="http://schemas.openxmlformats.org/drawingml/2006/table">
            <a:tbl>
              <a:tblPr/>
              <a:tblGrid>
                <a:gridCol w="1143000"/>
                <a:gridCol w="1143000"/>
                <a:gridCol w="1143000"/>
                <a:gridCol w="1143000"/>
              </a:tblGrid>
              <a:tr h="447675">
                <a:tc>
                  <a:txBody>
                    <a:bodyPr/>
                    <a:lstStyle/>
                    <a:p>
                      <a:r>
                        <a:rPr sz="1200" b="1">
                          <a:solidFill>
                            <a:srgbClr val="FFFFFF"/>
                          </a:solidFill>
                          <a:latin typeface="Helvetica"/>
                          <a:ea typeface="Helvetica"/>
                          <a:cs typeface="Helvetica"/>
                        </a:rPr>
                        <a:t>item</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date UTC</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statut</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prix</a:t>
                      </a:r>
                    </a:p>
                  </a:txBody>
                  <a:tcPr marL="76200" marR="76200" marT="57150" marB="57150" anchor="ctr">
                    <a:solidFill>
                      <a:srgbClr val="173B57"/>
                    </a:solidFill>
                  </a:tcPr>
                </a:tc>
              </a:tr>
              <a:tr h="447675">
                <a:tc>
                  <a:txBody>
                    <a:bodyPr/>
                    <a:lstStyle/>
                    <a:p>
                      <a:r>
                        <a:rPr sz="1050">
                          <a:solidFill>
                            <a:srgbClr val="11233B"/>
                          </a:solidFill>
                          <a:latin typeface="Helvetica"/>
                          <a:ea typeface="Helvetica"/>
                          <a:cs typeface="Helvetica"/>
                        </a:rPr>
                        <a:t>140</a:t>
                      </a:r>
                    </a:p>
                  </a:txBody>
                  <a:tcPr marL="76200" marR="76200" marT="47625" marB="47625" anchor="ctr"/>
                </a:tc>
                <a:tc>
                  <a:txBody>
                    <a:bodyPr/>
                    <a:lstStyle/>
                    <a:p>
                      <a:r>
                        <a:rPr sz="1050">
                          <a:solidFill>
                            <a:srgbClr val="11233B"/>
                          </a:solidFill>
                          <a:latin typeface="Helvetica"/>
                          <a:ea typeface="Helvetica"/>
                          <a:cs typeface="Helvetica"/>
                        </a:rPr>
                        <a:t>2024-01-22</a:t>
                      </a:r>
                    </a:p>
                  </a:txBody>
                  <a:tcPr marL="76200" marR="76200" marT="47625" marB="47625" anchor="ctr"/>
                </a:tc>
                <a:tc>
                  <a:txBody>
                    <a:bodyPr/>
                    <a:lstStyle/>
                    <a:p>
                      <a:r>
                        <a:rPr sz="1050">
                          <a:solidFill>
                            <a:srgbClr val="11233B"/>
                          </a:solidFill>
                          <a:latin typeface="Helvetica"/>
                          <a:ea typeface="Helvetica"/>
                          <a:cs typeface="Helvetica"/>
                        </a:rPr>
                        <a:t>Cancelled</a:t>
                      </a:r>
                    </a:p>
                  </a:txBody>
                  <a:tcPr marL="76200" marR="76200" marT="47625" marB="47625" anchor="ctr"/>
                </a:tc>
                <a:tc>
                  <a:txBody>
                    <a:bodyPr/>
                    <a:lstStyle/>
                    <a:p>
                      <a:r>
                        <a:rPr sz="1050">
                          <a:solidFill>
                            <a:srgbClr val="11233B"/>
                          </a:solidFill>
                          <a:latin typeface="Helvetica"/>
                          <a:ea typeface="Helvetica"/>
                          <a:cs typeface="Helvetica"/>
                        </a:rPr>
                        <a:t>48.00</a:t>
                      </a:r>
                    </a:p>
                  </a:txBody>
                  <a:tcPr marL="76200" marR="76200" marT="47625" marB="47625" anchor="ctr"/>
                </a:tc>
              </a:tr>
              <a:tr h="447675">
                <a:tc>
                  <a:txBody>
                    <a:bodyPr/>
                    <a:lstStyle/>
                    <a:p>
                      <a:r>
                        <a:rPr sz="1050">
                          <a:solidFill>
                            <a:srgbClr val="11233B"/>
                          </a:solidFill>
                          <a:latin typeface="Helvetica"/>
                          <a:ea typeface="Helvetica"/>
                          <a:cs typeface="Helvetica"/>
                        </a:rPr>
                        <a:t>331</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2024-01-28</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Complete</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99.949996…</a:t>
                      </a:r>
                    </a:p>
                  </a:txBody>
                  <a:tcPr marL="76200" marR="76200" marT="47625" marB="47625" anchor="ctr">
                    <a:solidFill>
                      <a:srgbClr val="EEEAE3"/>
                    </a:solidFill>
                  </a:tcPr>
                </a:tc>
              </a:tr>
              <a:tr h="447675">
                <a:tc>
                  <a:txBody>
                    <a:bodyPr/>
                    <a:lstStyle/>
                    <a:p>
                      <a:r>
                        <a:rPr sz="1050">
                          <a:solidFill>
                            <a:srgbClr val="11233B"/>
                          </a:solidFill>
                          <a:latin typeface="Helvetica"/>
                          <a:ea typeface="Helvetica"/>
                          <a:cs typeface="Helvetica"/>
                        </a:rPr>
                        <a:t>388</a:t>
                      </a:r>
                    </a:p>
                  </a:txBody>
                  <a:tcPr marL="76200" marR="76200" marT="47625" marB="47625" anchor="ctr"/>
                </a:tc>
                <a:tc>
                  <a:txBody>
                    <a:bodyPr/>
                    <a:lstStyle/>
                    <a:p>
                      <a:r>
                        <a:rPr sz="1050">
                          <a:solidFill>
                            <a:srgbClr val="11233B"/>
                          </a:solidFill>
                          <a:latin typeface="Helvetica"/>
                          <a:ea typeface="Helvetica"/>
                          <a:cs typeface="Helvetica"/>
                        </a:rPr>
                        <a:t>2024-01-12</a:t>
                      </a:r>
                    </a:p>
                  </a:txBody>
                  <a:tcPr marL="76200" marR="76200" marT="47625" marB="47625" anchor="ctr"/>
                </a:tc>
                <a:tc>
                  <a:txBody>
                    <a:bodyPr/>
                    <a:lstStyle/>
                    <a:p>
                      <a:r>
                        <a:rPr sz="1050">
                          <a:solidFill>
                            <a:srgbClr val="11233B"/>
                          </a:solidFill>
                          <a:latin typeface="Helvetica"/>
                          <a:ea typeface="Helvetica"/>
                          <a:cs typeface="Helvetica"/>
                        </a:rPr>
                        <a:t>Returned</a:t>
                      </a:r>
                    </a:p>
                  </a:txBody>
                  <a:tcPr marL="76200" marR="76200" marT="47625" marB="47625" anchor="ctr"/>
                </a:tc>
                <a:tc>
                  <a:txBody>
                    <a:bodyPr/>
                    <a:lstStyle/>
                    <a:p>
                      <a:r>
                        <a:rPr sz="1050">
                          <a:solidFill>
                            <a:srgbClr val="11233B"/>
                          </a:solidFill>
                          <a:latin typeface="Helvetica"/>
                          <a:ea typeface="Helvetica"/>
                          <a:cs typeface="Helvetica"/>
                        </a:rPr>
                        <a:t>39.50</a:t>
                      </a:r>
                    </a:p>
                  </a:txBody>
                  <a:tcPr marL="76200" marR="76200" marT="47625" marB="47625" anchor="ctr"/>
                </a:tc>
              </a:tr>
              <a:tr h="447675">
                <a:tc>
                  <a:txBody>
                    <a:bodyPr/>
                    <a:lstStyle/>
                    <a:p>
                      <a:r>
                        <a:rPr sz="1050">
                          <a:solidFill>
                            <a:srgbClr val="11233B"/>
                          </a:solidFill>
                          <a:latin typeface="Helvetica"/>
                          <a:ea typeface="Helvetica"/>
                          <a:cs typeface="Helvetica"/>
                        </a:rPr>
                        <a:t>413</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2024-01-30</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Returned</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16.50</a:t>
                      </a:r>
                    </a:p>
                  </a:txBody>
                  <a:tcPr marL="76200" marR="76200" marT="47625" marB="47625" anchor="ctr">
                    <a:solidFill>
                      <a:srgbClr val="EEEAE3"/>
                    </a:solidFill>
                  </a:tcPr>
                </a:tc>
              </a:tr>
            </a:tbl>
          </a:graphicData>
        </a:graphic>
      </p:graphicFrame>
      <p:sp>
        <p:nvSpPr>
          <p:cNvPr id="9" name="">
            <a:extLst xmlns:a="http://schemas.openxmlformats.org/drawingml/2006/main">
              <a:ext uri="{FF2B5EF4-FFF2-40B4-BE49-F238E27FC236}">
                <a16:creationId xmlns:a16="http://schemas.microsoft.com/office/drawing/2014/main" id="{8208D09F-AC47-411E-860A-5E8E693D9282}"/>
              </a:ext>
            </a:extLst>
          </p:cNvPr>
          <p:cNvSpPr>
            <a:spLocks xmlns:a="http://schemas.openxmlformats.org/drawingml/2006/main" noGrp="1"/>
          </p:cNvSpPr>
          <p:nvPr/>
        </p:nvSpPr>
        <p:spPr>
          <a:xfrm xmlns:a="http://schemas.openxmlformats.org/drawingml/2006/main">
            <a:off x="6715125" y="4324350"/>
            <a:ext cx="457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125" b="1">
                <a:solidFill>
                  <a:srgbClr val="173B57"/>
                </a:solidFill>
                <a:latin typeface="Helvetica"/>
                <a:ea typeface="Helvetica"/>
                <a:cs typeface="Helvetica"/>
              </a:defRPr>
            </a:pPr>
            <a:r>
              <a:rPr sz="1125" b="1">
                <a:solidFill>
                  <a:srgbClr val="173B57"/>
                </a:solidFill>
                <a:latin typeface="Helvetica"/>
                <a:ea typeface="Helvetica"/>
                <a:cs typeface="Helvetica"/>
              </a:rPr>
              <a:t>Job 4fb47302-bc09-449f-b2aa-6cbfe12d0e5c</a:t>
            </a:r>
          </a:p>
        </p:txBody>
      </p:sp>
      <p:sp>
        <p:nvSpPr>
          <p:cNvPr id="10" name="">
            <a:extLst xmlns:a="http://schemas.openxmlformats.org/drawingml/2006/main">
              <a:ext uri="{FF2B5EF4-FFF2-40B4-BE49-F238E27FC236}">
                <a16:creationId xmlns:a16="http://schemas.microsoft.com/office/drawing/2014/main" id="{5F403F1E-9FB7-4579-8613-FEDFE219F19F}"/>
              </a:ext>
            </a:extLst>
          </p:cNvPr>
          <p:cNvSpPr>
            <a:spLocks xmlns:a="http://schemas.openxmlformats.org/drawingml/2006/main" noGrp="1"/>
          </p:cNvSpPr>
          <p:nvPr/>
        </p:nvSpPr>
        <p:spPr>
          <a:xfrm xmlns:a="http://schemas.openxmlformats.org/drawingml/2006/main">
            <a:off x="6715125" y="4695825"/>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00" b="0">
                <a:solidFill>
                  <a:srgbClr val="11233B"/>
                </a:solidFill>
                <a:latin typeface="Helvetica"/>
                <a:ea typeface="Helvetica"/>
                <a:cs typeface="Helvetica"/>
              </a:defRPr>
            </a:pPr>
            <a:r>
              <a:rPr sz="1500" b="0">
                <a:solidFill>
                  <a:srgbClr val="11233B"/>
                </a:solidFill>
                <a:latin typeface="Helvetica"/>
                <a:ea typeface="Helvetica"/>
                <a:cs typeface="Helvetica"/>
              </a:rPr>
              <a:t>2 131 lignes  ·  12 003 113 octets traités  ·  69 slot-ms  ·  cache absent</a:t>
            </a:r>
          </a:p>
        </p:txBody>
      </p:sp>
      <p:sp>
        <p:nvSpPr>
          <p:cNvPr id="11" name="">
            <a:extLst xmlns:a="http://schemas.openxmlformats.org/drawingml/2006/main">
              <a:ext uri="{FF2B5EF4-FFF2-40B4-BE49-F238E27FC236}">
                <a16:creationId xmlns:a16="http://schemas.microsoft.com/office/drawing/2014/main" id="{B91BAA46-E2AD-42F0-8CBC-EB1073F551DB}"/>
              </a:ext>
            </a:extLst>
          </p:cNvPr>
          <p:cNvSpPr>
            <a:spLocks xmlns:a="http://schemas.openxmlformats.org/drawingml/2006/main" noGrp="1"/>
          </p:cNvSpPr>
          <p:nvPr/>
        </p:nvSpPr>
        <p:spPr>
          <a:xfrm xmlns:a="http://schemas.openxmlformats.org/drawingml/2006/main">
            <a:off x="6715125" y="560070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LEFT JOIN : les références absentes restent visibles pour le contrôle qualité.</a:t>
            </a:r>
          </a:p>
        </p:txBody>
      </p:sp>
      <p:sp>
        <p:nvSpPr>
          <p:cNvPr id="12" name="">
            <a:extLst xmlns:a="http://schemas.openxmlformats.org/drawingml/2006/main">
              <a:ext uri="{FF2B5EF4-FFF2-40B4-BE49-F238E27FC236}">
                <a16:creationId xmlns:a16="http://schemas.microsoft.com/office/drawing/2014/main" id="{F2C73FBD-1886-44EF-9BBD-1DA6B50F2CF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157719C-D5D9-4D41-BAC9-79AA88E7040C}"/>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sql/bigquery_sales.sql; evidence/mesures_des_requetes/bigquery_sales_job.json     4/12</a:t>
            </a:r>
          </a:p>
        </p:txBody>
      </p:sp>
    </p:spTree>
    <p:extLst>
      <p:ext uri="{BB962C8B-B14F-4D97-AF65-F5344CB8AC3E}">
        <p14:creationId xmlns:p14="http://schemas.microsoft.com/office/powerpoint/2010/main" val="1580140698"/>
      </p:ext>
    </p:extLst>
  </p:cSld>
</p:sld>
</file>

<file path=ppt/slides/slide5.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00D67F-3B46-49F2-808C-1651BA6358C8}"/>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05</a:t>
            </a:r>
          </a:p>
        </p:txBody>
      </p:sp>
      <p:sp>
        <p:nvSpPr>
          <p:cNvPr id="2" name="">
            <a:extLst xmlns:a="http://schemas.openxmlformats.org/drawingml/2006/main">
              <a:ext uri="{FF2B5EF4-FFF2-40B4-BE49-F238E27FC236}">
                <a16:creationId xmlns:a16="http://schemas.microsoft.com/office/drawing/2014/main" id="{ED4A7974-CFA7-42DE-9880-F5186797221D}"/>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C2 — Extraction PostgreSQL exécutée</a:t>
            </a:r>
          </a:p>
        </p:txBody>
      </p:sp>
      <p:sp>
        <p:nvSpPr>
          <p:cNvPr id="3" name="">
            <a:extLst xmlns:a="http://schemas.openxmlformats.org/drawingml/2006/main">
              <a:ext uri="{FF2B5EF4-FFF2-40B4-BE49-F238E27FC236}">
                <a16:creationId xmlns:a16="http://schemas.microsoft.com/office/drawing/2014/main" id="{BC613375-957E-4FF2-A0F7-BDBC8F893352}"/>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4D34BD1-517C-467C-A832-499AA001B578}"/>
              </a:ext>
            </a:extLst>
          </p:cNvPr>
          <p:cNvSpPr>
            <a:spLocks xmlns:a="http://schemas.openxmlformats.org/drawingml/2006/main" noGrp="1"/>
          </p:cNvSpPr>
          <p:nvPr/>
        </p:nvSpPr>
        <p:spPr>
          <a:xfrm xmlns:a="http://schemas.openxmlformats.org/drawingml/2006/main">
            <a:off x="685800" y="10858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La jointure ajoute la paire, la série et l’URL de provenance à chaque observation BCE</a:t>
            </a:r>
          </a:p>
        </p:txBody>
      </p:sp>
      <p:sp>
        <p:nvSpPr>
          <p:cNvPr id="5" name="">
            <a:extLst xmlns:a="http://schemas.openxmlformats.org/drawingml/2006/main">
              <a:ext uri="{FF2B5EF4-FFF2-40B4-BE49-F238E27FC236}">
                <a16:creationId xmlns:a16="http://schemas.microsoft.com/office/drawing/2014/main" id="{02F311FF-FC3A-42F3-B064-9900F4DB43E8}"/>
              </a:ext>
            </a:extLst>
          </p:cNvPr>
          <p:cNvSpPr>
            <a:spLocks xmlns:a="http://schemas.openxmlformats.org/drawingml/2006/main" noGrp="1"/>
          </p:cNvSpPr>
          <p:nvPr/>
        </p:nvSpPr>
        <p:spPr>
          <a:xfrm xmlns:a="http://schemas.openxmlformats.org/drawingml/2006/main">
            <a:off x="781050" y="1428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Autofit/>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SQL versionné</a:t>
            </a:r>
          </a:p>
        </p:txBody>
      </p:sp>
      <p:sp>
        <p:nvSpPr>
          <p:cNvPr id="6" name="">
            <a:extLst xmlns:a="http://schemas.openxmlformats.org/drawingml/2006/main">
              <a:ext uri="{FF2B5EF4-FFF2-40B4-BE49-F238E27FC236}">
                <a16:creationId xmlns:a16="http://schemas.microsoft.com/office/drawing/2014/main" id="{8C4D547E-1157-469C-9BF9-197AFDC8FB13}"/>
              </a:ext>
            </a:extLst>
          </p:cNvPr>
          <p:cNvSpPr>
            <a:spLocks xmlns:a="http://schemas.openxmlformats.org/drawingml/2006/main" noGrp="1"/>
          </p:cNvSpPr>
          <p:nvPr/>
        </p:nvSpPr>
        <p:spPr>
          <a:xfrm xmlns:a="http://schemas.openxmlformats.org/drawingml/2006/main">
            <a:off x="685800" y="1857375"/>
            <a:ext cx="5619750" cy="3571875"/>
          </a:xfrm>
          <a:prstGeom xmlns:a="http://schemas.openxmlformats.org/drawingml/2006/main" prst="rect">
            <a:avLst/>
          </a:prstGeom>
          <a:solidFill xmlns:a="http://schemas.openxmlformats.org/drawingml/2006/main">
            <a:srgbClr val="11233B"/>
          </a:solidFill>
          <a:ln xmlns:a="http://schemas.openxmlformats.org/drawingml/2006/main" w="0">
            <a:noFill/>
          </a:ln>
        </p:spPr>
        <p:txBody>
          <a:bodyPr xmlns:a="http://schemas.openxmlformats.org/drawingml/2006/main" lIns="152400" tIns="133350" rIns="152400" bIns="114300" anchor="t">
            <a:normAutofit fontScale="100000"/>
          </a:bodyPr>
          <a:lstStyle xmlns:a="http://schemas.openxmlformats.org/drawingml/2006/main"/>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SELECT</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r.rate_date, s.quote_currency, s.base_currency,</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r.usd_per_eur, r.observation_status,</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s.series_key, s.source_url</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FROM exchange_rates r</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INNER JOIN rate_sources s ON s.source_id = r.source_id</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WHERE s.series_key = 'EXR.D.USD.EUR.SP00.A'</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AND r.rate_date &gt;= DATE '2024-01-01' - INTERVAL '7 days'</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  AND r.rate_date &lt;  DATE '2024-02-01'</a:t>
            </a:r>
          </a:p>
          <a:p xmlns:a="http://schemas.openxmlformats.org/drawingml/2006/main">
            <a:pPr algn="l">
              <a:defRPr sz="1125" b="0">
                <a:solidFill>
                  <a:srgbClr val="EAF3F6"/>
                </a:solidFill>
                <a:latin typeface="Menlo"/>
                <a:ea typeface="Menlo"/>
                <a:cs typeface="Menlo"/>
              </a:defRPr>
            </a:pPr>
            <a:r>
              <a:rPr sz="1125" b="0">
                <a:solidFill>
                  <a:srgbClr val="EAF3F6"/>
                </a:solidFill>
                <a:latin typeface="Menlo"/>
                <a:ea typeface="Menlo"/>
                <a:cs typeface="Menlo"/>
              </a:rPr>
              <a:t>ORDER BY r.rate_date;</a:t>
            </a:r>
          </a:p>
        </p:txBody>
      </p:sp>
      <p:sp>
        <p:nvSpPr>
          <p:cNvPr id="7" name="">
            <a:extLst xmlns:a="http://schemas.openxmlformats.org/drawingml/2006/main">
              <a:ext uri="{FF2B5EF4-FFF2-40B4-BE49-F238E27FC236}">
                <a16:creationId xmlns:a16="http://schemas.microsoft.com/office/drawing/2014/main" id="{31949DE4-F646-4712-A99F-2AF029F85CCF}"/>
              </a:ext>
            </a:extLst>
          </p:cNvPr>
          <p:cNvSpPr>
            <a:spLocks xmlns:a="http://schemas.openxmlformats.org/drawingml/2006/main" noGrp="1"/>
          </p:cNvSpPr>
          <p:nvPr/>
        </p:nvSpPr>
        <p:spPr>
          <a:xfrm xmlns:a="http://schemas.openxmlformats.org/drawingml/2006/main">
            <a:off x="6715125" y="1466850"/>
            <a:ext cx="452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Extrait réel</a:t>
            </a:r>
          </a:p>
        </p:txBody>
      </p:sp>
      <p:graphicFrame>
        <p:nvGraphicFramePr>
          <p:cNvPr id="20" name=""/>
          <p:cNvGraphicFramePr/>
          <p:nvPr/>
        </p:nvGraphicFramePr>
        <p:xfrm>
          <a:off xmlns:a="http://schemas.openxmlformats.org/drawingml/2006/main" x="6715125" y="1809750"/>
          <a:ext xmlns:a="http://schemas.openxmlformats.org/drawingml/2006/main" cx="4572000" cy="2476500"/>
        </p:xfrm>
        <a:graphic xmlns:a="http://schemas.openxmlformats.org/drawingml/2006/main">
          <a:graphicData uri="http://schemas.openxmlformats.org/drawingml/2006/table">
            <a:tbl>
              <a:tblPr/>
              <a:tblGrid>
                <a:gridCol w="1524000"/>
                <a:gridCol w="1524000"/>
                <a:gridCol w="1524000"/>
              </a:tblGrid>
              <a:tr h="412750">
                <a:tc>
                  <a:txBody>
                    <a:bodyPr/>
                    <a:lstStyle/>
                    <a:p>
                      <a:r>
                        <a:rPr sz="1200" b="1">
                          <a:solidFill>
                            <a:srgbClr val="FFFFFF"/>
                          </a:solidFill>
                          <a:latin typeface="Helvetica"/>
                          <a:ea typeface="Helvetica"/>
                          <a:cs typeface="Helvetica"/>
                        </a:rPr>
                        <a:t>date</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USD / EUR</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statut</a:t>
                      </a:r>
                    </a:p>
                  </a:txBody>
                  <a:tcPr marL="76200" marR="76200" marT="57150" marB="57150" anchor="ctr">
                    <a:solidFill>
                      <a:srgbClr val="173B57"/>
                    </a:solidFill>
                  </a:tcPr>
                </a:tc>
              </a:tr>
              <a:tr h="412750">
                <a:tc>
                  <a:txBody>
                    <a:bodyPr/>
                    <a:lstStyle/>
                    <a:p>
                      <a:r>
                        <a:rPr sz="1050">
                          <a:solidFill>
                            <a:srgbClr val="11233B"/>
                          </a:solidFill>
                          <a:latin typeface="Helvetica"/>
                          <a:ea typeface="Helvetica"/>
                          <a:cs typeface="Helvetica"/>
                        </a:rPr>
                        <a:t>2023-12-27</a:t>
                      </a:r>
                    </a:p>
                  </a:txBody>
                  <a:tcPr marL="76200" marR="76200" marT="47625" marB="47625" anchor="ctr"/>
                </a:tc>
                <a:tc>
                  <a:txBody>
                    <a:bodyPr/>
                    <a:lstStyle/>
                    <a:p>
                      <a:r>
                        <a:rPr sz="1050">
                          <a:solidFill>
                            <a:srgbClr val="11233B"/>
                          </a:solidFill>
                          <a:latin typeface="Helvetica"/>
                          <a:ea typeface="Helvetica"/>
                          <a:cs typeface="Helvetica"/>
                        </a:rPr>
                        <a:t>1.10650000</a:t>
                      </a:r>
                    </a:p>
                  </a:txBody>
                  <a:tcPr marL="76200" marR="76200" marT="47625" marB="47625" anchor="ctr"/>
                </a:tc>
                <a:tc>
                  <a:txBody>
                    <a:bodyPr/>
                    <a:lstStyle/>
                    <a:p>
                      <a:r>
                        <a:rPr sz="1050">
                          <a:solidFill>
                            <a:srgbClr val="11233B"/>
                          </a:solidFill>
                          <a:latin typeface="Helvetica"/>
                          <a:ea typeface="Helvetica"/>
                          <a:cs typeface="Helvetica"/>
                        </a:rPr>
                        <a:t>A</a:t>
                      </a:r>
                    </a:p>
                  </a:txBody>
                  <a:tcPr marL="76200" marR="76200" marT="47625" marB="47625" anchor="ctr"/>
                </a:tc>
              </a:tr>
              <a:tr h="412750">
                <a:tc>
                  <a:txBody>
                    <a:bodyPr/>
                    <a:lstStyle/>
                    <a:p>
                      <a:r>
                        <a:rPr sz="1050">
                          <a:solidFill>
                            <a:srgbClr val="11233B"/>
                          </a:solidFill>
                          <a:latin typeface="Helvetica"/>
                          <a:ea typeface="Helvetica"/>
                          <a:cs typeface="Helvetica"/>
                        </a:rPr>
                        <a:t>2023-12-28</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1.11140000</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A</a:t>
                      </a:r>
                    </a:p>
                  </a:txBody>
                  <a:tcPr marL="76200" marR="76200" marT="47625" marB="47625" anchor="ctr">
                    <a:solidFill>
                      <a:srgbClr val="EEEAE3"/>
                    </a:solidFill>
                  </a:tcPr>
                </a:tc>
              </a:tr>
              <a:tr h="412750">
                <a:tc>
                  <a:txBody>
                    <a:bodyPr/>
                    <a:lstStyle/>
                    <a:p>
                      <a:r>
                        <a:rPr sz="1050">
                          <a:solidFill>
                            <a:srgbClr val="11233B"/>
                          </a:solidFill>
                          <a:latin typeface="Helvetica"/>
                          <a:ea typeface="Helvetica"/>
                          <a:cs typeface="Helvetica"/>
                        </a:rPr>
                        <a:t>2023-12-29</a:t>
                      </a:r>
                    </a:p>
                  </a:txBody>
                  <a:tcPr marL="76200" marR="76200" marT="47625" marB="47625" anchor="ctr"/>
                </a:tc>
                <a:tc>
                  <a:txBody>
                    <a:bodyPr/>
                    <a:lstStyle/>
                    <a:p>
                      <a:r>
                        <a:rPr sz="1050">
                          <a:solidFill>
                            <a:srgbClr val="11233B"/>
                          </a:solidFill>
                          <a:latin typeface="Helvetica"/>
                          <a:ea typeface="Helvetica"/>
                          <a:cs typeface="Helvetica"/>
                        </a:rPr>
                        <a:t>1.10500000</a:t>
                      </a:r>
                    </a:p>
                  </a:txBody>
                  <a:tcPr marL="76200" marR="76200" marT="47625" marB="47625" anchor="ctr"/>
                </a:tc>
                <a:tc>
                  <a:txBody>
                    <a:bodyPr/>
                    <a:lstStyle/>
                    <a:p>
                      <a:r>
                        <a:rPr sz="1050">
                          <a:solidFill>
                            <a:srgbClr val="11233B"/>
                          </a:solidFill>
                          <a:latin typeface="Helvetica"/>
                          <a:ea typeface="Helvetica"/>
                          <a:cs typeface="Helvetica"/>
                        </a:rPr>
                        <a:t>A</a:t>
                      </a:r>
                    </a:p>
                  </a:txBody>
                  <a:tcPr marL="76200" marR="76200" marT="47625" marB="47625" anchor="ctr"/>
                </a:tc>
              </a:tr>
              <a:tr h="412750">
                <a:tc>
                  <a:txBody>
                    <a:bodyPr/>
                    <a:lstStyle/>
                    <a:p>
                      <a:r>
                        <a:rPr sz="1050">
                          <a:solidFill>
                            <a:srgbClr val="11233B"/>
                          </a:solidFill>
                          <a:latin typeface="Helvetica"/>
                          <a:ea typeface="Helvetica"/>
                          <a:cs typeface="Helvetica"/>
                        </a:rPr>
                        <a:t>2024-01-02</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1.09560000</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A</a:t>
                      </a:r>
                    </a:p>
                  </a:txBody>
                  <a:tcPr marL="76200" marR="76200" marT="47625" marB="47625" anchor="ctr">
                    <a:solidFill>
                      <a:srgbClr val="EEEAE3"/>
                    </a:solidFill>
                  </a:tcPr>
                </a:tc>
              </a:tr>
              <a:tr h="412750">
                <a:tc>
                  <a:txBody>
                    <a:bodyPr/>
                    <a:lstStyle/>
                    <a:p>
                      <a:r>
                        <a:rPr sz="1050">
                          <a:solidFill>
                            <a:srgbClr val="11233B"/>
                          </a:solidFill>
                          <a:latin typeface="Helvetica"/>
                          <a:ea typeface="Helvetica"/>
                          <a:cs typeface="Helvetica"/>
                        </a:rPr>
                        <a:t>2024-01-03</a:t>
                      </a:r>
                    </a:p>
                  </a:txBody>
                  <a:tcPr marL="76200" marR="76200" marT="47625" marB="47625" anchor="ctr"/>
                </a:tc>
                <a:tc>
                  <a:txBody>
                    <a:bodyPr/>
                    <a:lstStyle/>
                    <a:p>
                      <a:r>
                        <a:rPr sz="1050">
                          <a:solidFill>
                            <a:srgbClr val="11233B"/>
                          </a:solidFill>
                          <a:latin typeface="Helvetica"/>
                          <a:ea typeface="Helvetica"/>
                          <a:cs typeface="Helvetica"/>
                        </a:rPr>
                        <a:t>1.09190000</a:t>
                      </a:r>
                    </a:p>
                  </a:txBody>
                  <a:tcPr marL="76200" marR="76200" marT="47625" marB="47625" anchor="ctr"/>
                </a:tc>
                <a:tc>
                  <a:txBody>
                    <a:bodyPr/>
                    <a:lstStyle/>
                    <a:p>
                      <a:r>
                        <a:rPr sz="1050">
                          <a:solidFill>
                            <a:srgbClr val="11233B"/>
                          </a:solidFill>
                          <a:latin typeface="Helvetica"/>
                          <a:ea typeface="Helvetica"/>
                          <a:cs typeface="Helvetica"/>
                        </a:rPr>
                        <a:t>A</a:t>
                      </a:r>
                    </a:p>
                  </a:txBody>
                  <a:tcPr marL="76200" marR="76200" marT="47625" marB="47625" anchor="ctr"/>
                </a:tc>
              </a:tr>
            </a:tbl>
          </a:graphicData>
        </a:graphic>
      </p:graphicFrame>
      <p:sp>
        <p:nvSpPr>
          <p:cNvPr id="9" name="">
            <a:extLst xmlns:a="http://schemas.openxmlformats.org/drawingml/2006/main">
              <a:ext uri="{FF2B5EF4-FFF2-40B4-BE49-F238E27FC236}">
                <a16:creationId xmlns:a16="http://schemas.microsoft.com/office/drawing/2014/main" id="{743B9B88-5A10-40DB-8C63-BFBE6B4192BB}"/>
              </a:ext>
            </a:extLst>
          </p:cNvPr>
          <p:cNvSpPr>
            <a:spLocks xmlns:a="http://schemas.openxmlformats.org/drawingml/2006/main" noGrp="1"/>
          </p:cNvSpPr>
          <p:nvPr/>
        </p:nvSpPr>
        <p:spPr>
          <a:xfrm xmlns:a="http://schemas.openxmlformats.org/drawingml/2006/main">
            <a:off x="6715125" y="45529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75" b="1">
                <a:solidFill>
                  <a:srgbClr val="173B57"/>
                </a:solidFill>
                <a:latin typeface="Helvetica"/>
                <a:ea typeface="Helvetica"/>
                <a:cs typeface="Helvetica"/>
              </a:defRPr>
            </a:pPr>
            <a:r>
              <a:rPr sz="1575" b="1">
                <a:solidFill>
                  <a:srgbClr val="173B57"/>
                </a:solidFill>
                <a:latin typeface="Helvetica"/>
                <a:ea typeface="Helvetica"/>
                <a:cs typeface="Helvetica"/>
              </a:rPr>
              <a:t>25 taux  ·  PostgreSQL 17.11  ·  27/12/2023 au 31/01/2024</a:t>
            </a:r>
          </a:p>
        </p:txBody>
      </p:sp>
      <p:sp>
        <p:nvSpPr>
          <p:cNvPr id="10" name="">
            <a:extLst xmlns:a="http://schemas.openxmlformats.org/drawingml/2006/main">
              <a:ext uri="{FF2B5EF4-FFF2-40B4-BE49-F238E27FC236}">
                <a16:creationId xmlns:a16="http://schemas.microsoft.com/office/drawing/2014/main" id="{C47F6F5E-404F-4A16-A6C3-D8BD8C994EF0}"/>
              </a:ext>
            </a:extLst>
          </p:cNvPr>
          <p:cNvSpPr>
            <a:spLocks xmlns:a="http://schemas.openxmlformats.org/drawingml/2006/main" noGrp="1"/>
          </p:cNvSpPr>
          <p:nvPr/>
        </p:nvSpPr>
        <p:spPr>
          <a:xfrm xmlns:a="http://schemas.openxmlformats.org/drawingml/2006/main">
            <a:off x="6715125" y="53816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98039"/>
          </a:bodyPr>
          <a:lstStyle xmlns:a="http://schemas.openxmlformats.org/drawingml/2006/main"/>
          <a:p xmlns:a="http://schemas.openxmlformats.org/drawingml/2006/main">
            <a:pPr algn="l">
              <a:defRPr sz="1275" b="0">
                <a:solidFill>
                  <a:srgbClr val="5E6D78"/>
                </a:solidFill>
                <a:latin typeface="Helvetica"/>
                <a:ea typeface="Helvetica"/>
                <a:cs typeface="Helvetica"/>
              </a:defRPr>
            </a:pPr>
            <a:r>
              <a:rPr sz="1275" b="0">
                <a:solidFill>
                  <a:srgbClr val="5E6D78"/>
                </a:solidFill>
                <a:latin typeface="Helvetica"/>
                <a:ea typeface="Helvetica"/>
                <a:cs typeface="Helvetica"/>
              </a:rPr>
              <a:t>Un taux sans source valide ne peut pas entrer dans la conversion.</a:t>
            </a:r>
          </a:p>
        </p:txBody>
      </p:sp>
      <p:sp>
        <p:nvSpPr>
          <p:cNvPr id="11" name="">
            <a:extLst xmlns:a="http://schemas.openxmlformats.org/drawingml/2006/main">
              <a:ext uri="{FF2B5EF4-FFF2-40B4-BE49-F238E27FC236}">
                <a16:creationId xmlns:a16="http://schemas.microsoft.com/office/drawing/2014/main" id="{DE544B57-F040-4234-A59F-E3E4AD4CC4A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E3A980B-B608-40EA-BB4B-ABAC09DA8A89}"/>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sql/postgres_rates.sql; evidence/.../postgres_job.json     5/12</a:t>
            </a:r>
          </a:p>
        </p:txBody>
      </p:sp>
    </p:spTree>
    <p:extLst>
      <p:ext uri="{BB962C8B-B14F-4D97-AF65-F5344CB8AC3E}">
        <p14:creationId xmlns:p14="http://schemas.microsoft.com/office/powerpoint/2010/main" val="610666582"/>
      </p:ext>
    </p:extLst>
  </p:cSld>
</p:sld>
</file>

<file path=ppt/slides/slide6.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5E21CF4-3FCF-4F2D-935D-05D6C8572A00}"/>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06</a:t>
            </a:r>
          </a:p>
        </p:txBody>
      </p:sp>
      <p:sp>
        <p:nvSpPr>
          <p:cNvPr id="2" name="">
            <a:extLst xmlns:a="http://schemas.openxmlformats.org/drawingml/2006/main">
              <a:ext uri="{FF2B5EF4-FFF2-40B4-BE49-F238E27FC236}">
                <a16:creationId xmlns:a16="http://schemas.microsoft.com/office/drawing/2014/main" id="{C6AD35CF-16F3-45D5-B1F5-DCF919932FEF}"/>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C2 — Mesures d’optimisation et limites</a:t>
            </a:r>
          </a:p>
        </p:txBody>
      </p:sp>
      <p:sp>
        <p:nvSpPr>
          <p:cNvPr id="3" name="">
            <a:extLst xmlns:a="http://schemas.openxmlformats.org/drawingml/2006/main">
              <a:ext uri="{FF2B5EF4-FFF2-40B4-BE49-F238E27FC236}">
                <a16:creationId xmlns:a16="http://schemas.microsoft.com/office/drawing/2014/main" id="{41656D32-97A9-4FAA-8384-8C118B346EF3}"/>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20D8B3-51D7-49AB-9255-8F86BB609FD7}"/>
              </a:ext>
            </a:extLst>
          </p:cNvPr>
          <p:cNvSpPr>
            <a:spLocks xmlns:a="http://schemas.openxmlformats.org/drawingml/2006/main" noGrp="1"/>
          </p:cNvSpPr>
          <p:nvPr/>
        </p:nvSpPr>
        <p:spPr>
          <a:xfrm xmlns:a="http://schemas.openxmlformats.org/drawingml/2006/main">
            <a:off x="685800" y="10858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Les comparaisons distinguent une estimation de dry run, un job exécuté et un plan PostgreSQL réel</a:t>
            </a:r>
          </a:p>
        </p:txBody>
      </p:sp>
      <p:graphicFrame>
        <p:nvGraphicFramePr>
          <p:cNvPr id="20" name="Chart"/>
          <p:cNvGraphicFramePr/>
          <p:nvPr/>
        </p:nvGraphicFramePr>
        <p:xfrm>
          <a:off xmlns:a="http://schemas.openxmlformats.org/drawingml/2006/main" x="590550" y="1619250"/>
          <a:ext xmlns:a="http://schemas.openxmlformats.org/drawingml/2006/main" cx="6191250" cy="3524250"/>
        </p:xfrm>
        <a:graphic xmlns:a="http://schemas.openxmlformats.org/drawingml/2006/main">
          <a:graphicData uri="http://schemas.openxmlformats.org/drawingml/2006/chart">
            <c:chart xmlns:r="http://schemas.openxmlformats.org/officeDocument/2006/relationships" xmlns:c="http://schemas.openxmlformats.org/drawingml/2006/chart" r:id="R7c6edaf21a4d4930"/>
          </a:graphicData>
        </a:graphic>
      </p:graphicFrame>
      <p:sp>
        <p:nvSpPr>
          <p:cNvPr id="6" name="">
            <a:extLst xmlns:a="http://schemas.openxmlformats.org/drawingml/2006/main">
              <a:ext uri="{FF2B5EF4-FFF2-40B4-BE49-F238E27FC236}">
                <a16:creationId xmlns:a16="http://schemas.microsoft.com/office/drawing/2014/main" id="{DA90AE6A-A886-4191-8DA6-F8DE7D12A686}"/>
              </a:ext>
            </a:extLst>
          </p:cNvPr>
          <p:cNvSpPr>
            <a:spLocks xmlns:a="http://schemas.openxmlformats.org/drawingml/2006/main" noGrp="1"/>
          </p:cNvSpPr>
          <p:nvPr/>
        </p:nvSpPr>
        <p:spPr>
          <a:xfrm xmlns:a="http://schemas.openxmlformats.org/drawingml/2006/main">
            <a:off x="876300" y="52197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defRPr sz="1950" b="1">
                <a:solidFill>
                  <a:srgbClr val="2F7D64"/>
                </a:solidFill>
                <a:latin typeface="Helvetica"/>
                <a:ea typeface="Helvetica"/>
                <a:cs typeface="Helvetica"/>
              </a:defRPr>
            </a:pPr>
            <a:r>
              <a:rPr sz="1950" b="1">
                <a:solidFill>
                  <a:srgbClr val="2F7D64"/>
                </a:solidFill>
                <a:latin typeface="Helvetica"/>
                <a:ea typeface="Helvetica"/>
                <a:cs typeface="Helvetica"/>
              </a:rPr>
              <a:t>−51,33 % d’octets estimés</a:t>
            </a:r>
          </a:p>
        </p:txBody>
      </p:sp>
      <p:sp>
        <p:nvSpPr>
          <p:cNvPr id="7" name="">
            <a:extLst xmlns:a="http://schemas.openxmlformats.org/drawingml/2006/main">
              <a:ext uri="{FF2B5EF4-FFF2-40B4-BE49-F238E27FC236}">
                <a16:creationId xmlns:a16="http://schemas.microsoft.com/office/drawing/2014/main" id="{DF7B1746-336E-4521-AE4D-5A71E3DE8B89}"/>
              </a:ext>
            </a:extLst>
          </p:cNvPr>
          <p:cNvSpPr>
            <a:spLocks xmlns:a="http://schemas.openxmlformats.org/drawingml/2006/main" noGrp="1"/>
          </p:cNvSpPr>
          <p:nvPr/>
        </p:nvSpPr>
        <p:spPr>
          <a:xfrm xmlns:a="http://schemas.openxmlformats.org/drawingml/2006/main">
            <a:off x="7334250" y="15811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BigQuery</a:t>
            </a:r>
          </a:p>
        </p:txBody>
      </p:sp>
      <p:sp>
        <p:nvSpPr>
          <p:cNvPr id="8" name="">
            <a:extLst xmlns:a="http://schemas.openxmlformats.org/drawingml/2006/main">
              <a:ext uri="{FF2B5EF4-FFF2-40B4-BE49-F238E27FC236}">
                <a16:creationId xmlns:a16="http://schemas.microsoft.com/office/drawing/2014/main" id="{3ABF67F4-23A6-4AD4-8229-3A722AE68B82}"/>
              </a:ext>
            </a:extLst>
          </p:cNvPr>
          <p:cNvSpPr>
            <a:spLocks xmlns:a="http://schemas.openxmlformats.org/drawingml/2006/main" noGrp="1"/>
          </p:cNvSpPr>
          <p:nvPr/>
        </p:nvSpPr>
        <p:spPr>
          <a:xfrm xmlns:a="http://schemas.openxmlformats.org/drawingml/2006/main">
            <a:off x="7334250" y="2000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Job final</a:t>
            </a:r>
          </a:p>
        </p:txBody>
      </p:sp>
      <p:sp>
        <p:nvSpPr>
          <p:cNvPr id="9" name="">
            <a:extLst xmlns:a="http://schemas.openxmlformats.org/drawingml/2006/main">
              <a:ext uri="{FF2B5EF4-FFF2-40B4-BE49-F238E27FC236}">
                <a16:creationId xmlns:a16="http://schemas.microsoft.com/office/drawing/2014/main" id="{74210B77-D6A5-480E-B14B-97BEF354F4A1}"/>
              </a:ext>
            </a:extLst>
          </p:cNvPr>
          <p:cNvSpPr>
            <a:spLocks xmlns:a="http://schemas.openxmlformats.org/drawingml/2006/main" noGrp="1"/>
          </p:cNvSpPr>
          <p:nvPr/>
        </p:nvSpPr>
        <p:spPr>
          <a:xfrm xmlns:a="http://schemas.openxmlformats.org/drawingml/2006/main">
            <a:off x="7334250" y="230505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12 003 113 octets traités</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31 457 280 octets dans le champ facturable</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69 slot-ms, 343 ms de travail SQL</a:t>
            </a:r>
          </a:p>
        </p:txBody>
      </p:sp>
      <p:sp>
        <p:nvSpPr>
          <p:cNvPr id="10" name="">
            <a:extLst xmlns:a="http://schemas.openxmlformats.org/drawingml/2006/main">
              <a:ext uri="{FF2B5EF4-FFF2-40B4-BE49-F238E27FC236}">
                <a16:creationId xmlns:a16="http://schemas.microsoft.com/office/drawing/2014/main" id="{270772EB-3DC3-4550-9D50-7375955C41B0}"/>
              </a:ext>
            </a:extLst>
          </p:cNvPr>
          <p:cNvSpPr>
            <a:spLocks xmlns:a="http://schemas.openxmlformats.org/drawingml/2006/main" noGrp="1"/>
          </p:cNvSpPr>
          <p:nvPr/>
        </p:nvSpPr>
        <p:spPr>
          <a:xfrm xmlns:a="http://schemas.openxmlformats.org/drawingml/2006/main">
            <a:off x="7334250" y="32194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99206"/>
          </a:bodyPr>
          <a:lstStyle xmlns:a="http://schemas.openxmlformats.org/drawingml/2006/main"/>
          <a:p xmlns:a="http://schemas.openxmlformats.org/drawingml/2006/main">
            <a:pPr algn="l">
              <a:defRPr sz="1050" b="0">
                <a:solidFill>
                  <a:srgbClr val="5E6D78"/>
                </a:solidFill>
                <a:latin typeface="Helvetica"/>
                <a:ea typeface="Helvetica"/>
                <a:cs typeface="Helvetica"/>
              </a:defRPr>
            </a:pPr>
            <a:r>
              <a:rPr sz="1050" b="0">
                <a:solidFill>
                  <a:srgbClr val="5E6D78"/>
                </a:solidFill>
                <a:latin typeface="Helvetica"/>
                <a:ea typeface="Helvetica"/>
                <a:cs typeface="Helvetica"/>
              </a:rPr>
              <a:t>Pourquoi plus d’octets facturables ? Trois tables sont référencées. Le minimum technique de 10 MiB par table donne 30 MiB, soit 31 457 280 octets.</a:t>
            </a:r>
          </a:p>
        </p:txBody>
      </p:sp>
      <p:sp>
        <p:nvSpPr>
          <p:cNvPr id="11" name="">
            <a:extLst xmlns:a="http://schemas.openxmlformats.org/drawingml/2006/main">
              <a:ext uri="{FF2B5EF4-FFF2-40B4-BE49-F238E27FC236}">
                <a16:creationId xmlns:a16="http://schemas.microsoft.com/office/drawing/2014/main" id="{AE0BE9E7-E5A8-41C1-B5DE-E5BBF9EF256B}"/>
              </a:ext>
            </a:extLst>
          </p:cNvPr>
          <p:cNvSpPr>
            <a:spLocks xmlns:a="http://schemas.openxmlformats.org/drawingml/2006/main" noGrp="1"/>
          </p:cNvSpPr>
          <p:nvPr/>
        </p:nvSpPr>
        <p:spPr>
          <a:xfrm xmlns:a="http://schemas.openxmlformats.org/drawingml/2006/main">
            <a:off x="7334250" y="39052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PostgreSQL</a:t>
            </a:r>
          </a:p>
        </p:txBody>
      </p:sp>
      <p:sp>
        <p:nvSpPr>
          <p:cNvPr id="12" name="">
            <a:extLst xmlns:a="http://schemas.openxmlformats.org/drawingml/2006/main">
              <a:ext uri="{FF2B5EF4-FFF2-40B4-BE49-F238E27FC236}">
                <a16:creationId xmlns:a16="http://schemas.microsoft.com/office/drawing/2014/main" id="{79A93945-66D6-4108-B278-14B76FFC3018}"/>
              </a:ext>
            </a:extLst>
          </p:cNvPr>
          <p:cNvSpPr>
            <a:spLocks xmlns:a="http://schemas.openxmlformats.org/drawingml/2006/main" noGrp="1"/>
          </p:cNvSpPr>
          <p:nvPr/>
        </p:nvSpPr>
        <p:spPr>
          <a:xfrm xmlns:a="http://schemas.openxmlformats.org/drawingml/2006/main">
            <a:off x="7334250" y="424815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Index couvrant utilisé</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4 blocs en cache, 0 bloc lu du disque</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0,022 ms d’exécution serveur</a:t>
            </a:r>
          </a:p>
        </p:txBody>
      </p:sp>
      <p:sp>
        <p:nvSpPr>
          <p:cNvPr id="13" name="">
            <a:extLst xmlns:a="http://schemas.openxmlformats.org/drawingml/2006/main">
              <a:ext uri="{FF2B5EF4-FFF2-40B4-BE49-F238E27FC236}">
                <a16:creationId xmlns:a16="http://schemas.microsoft.com/office/drawing/2014/main" id="{43C4D30F-36E5-4F39-BBC5-404B2A51A7F1}"/>
              </a:ext>
            </a:extLst>
          </p:cNvPr>
          <p:cNvSpPr>
            <a:spLocks xmlns:a="http://schemas.openxmlformats.org/drawingml/2006/main" noGrp="1"/>
          </p:cNvSpPr>
          <p:nvPr/>
        </p:nvSpPr>
        <p:spPr>
          <a:xfrm xmlns:a="http://schemas.openxmlformats.org/drawingml/2006/main">
            <a:off x="7334250" y="5276850"/>
            <a:ext cx="400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B54A45"/>
                </a:solidFill>
                <a:latin typeface="Helvetica"/>
                <a:ea typeface="Helvetica"/>
                <a:cs typeface="Helvetica"/>
              </a:defRPr>
            </a:pPr>
            <a:r>
              <a:rPr sz="1200" b="1">
                <a:solidFill>
                  <a:srgbClr val="B54A45"/>
                </a:solidFill>
                <a:latin typeface="Helvetica"/>
                <a:ea typeface="Helvetica"/>
                <a:cs typeface="Helvetica"/>
              </a:rPr>
              <a:t>Aucun gain de durée n’est revendiqué. Les tables BigQuery ne sont pas partitionnées selon les métadonnées relevées.</a:t>
            </a:r>
          </a:p>
        </p:txBody>
      </p:sp>
      <p:sp>
        <p:nvSpPr>
          <p:cNvPr id="14" name="">
            <a:extLst xmlns:a="http://schemas.openxmlformats.org/drawingml/2006/main">
              <a:ext uri="{FF2B5EF4-FFF2-40B4-BE49-F238E27FC236}">
                <a16:creationId xmlns:a16="http://schemas.microsoft.com/office/drawing/2014/main" id="{CD2C9F94-7623-4530-9FB4-DBDD2B8E427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8BC962-8403-4B00-BFAE-9F7ACF4C7621}"/>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evidence/mesures_des_requetes/bigquery_dry_runs.json; postgres_job.json     6/12</a:t>
            </a:r>
          </a:p>
        </p:txBody>
      </p:sp>
    </p:spTree>
    <p:extLst>
      <p:ext uri="{BB962C8B-B14F-4D97-AF65-F5344CB8AC3E}">
        <p14:creationId xmlns:p14="http://schemas.microsoft.com/office/powerpoint/2010/main" val="1736022841"/>
      </p:ext>
    </p:extLst>
  </p:cSld>
</p:sld>
</file>

<file path=ppt/slides/slide7.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3451FAF-8202-46E4-934C-C9218EB59FA2}"/>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07</a:t>
            </a:r>
          </a:p>
        </p:txBody>
      </p:sp>
      <p:sp>
        <p:nvSpPr>
          <p:cNvPr id="2" name="">
            <a:extLst xmlns:a="http://schemas.openxmlformats.org/drawingml/2006/main">
              <a:ext uri="{FF2B5EF4-FFF2-40B4-BE49-F238E27FC236}">
                <a16:creationId xmlns:a16="http://schemas.microsoft.com/office/drawing/2014/main" id="{CEB10C44-88FF-49F8-BF45-8051A5139342}"/>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C3 — Ordre déterministe de l’algorithme</a:t>
            </a:r>
          </a:p>
        </p:txBody>
      </p:sp>
      <p:sp>
        <p:nvSpPr>
          <p:cNvPr id="3" name="">
            <a:extLst xmlns:a="http://schemas.openxmlformats.org/drawingml/2006/main">
              <a:ext uri="{FF2B5EF4-FFF2-40B4-BE49-F238E27FC236}">
                <a16:creationId xmlns:a16="http://schemas.microsoft.com/office/drawing/2014/main" id="{0B02077B-2706-478B-811D-252321EE6B13}"/>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8B6958-4FA6-4CCC-9EDD-9B899D4E1001}"/>
              </a:ext>
            </a:extLst>
          </p:cNvPr>
          <p:cNvSpPr>
            <a:spLocks xmlns:a="http://schemas.openxmlformats.org/drawingml/2006/main" noGrp="1"/>
          </p:cNvSpPr>
          <p:nvPr/>
        </p:nvSpPr>
        <p:spPr>
          <a:xfrm xmlns:a="http://schemas.openxmlformats.org/drawingml/2006/main">
            <a:off x="742950" y="1428750"/>
            <a:ext cx="400050" cy="400050"/>
          </a:xfrm>
          <a:prstGeom xmlns:a="http://schemas.openxmlformats.org/drawingml/2006/main" prst="roundRect">
            <a:avLst>
              <a:gd name="adj" fmla="val 50000"/>
            </a:avLst>
          </a:prstGeom>
          <a:solidFill xmlns:a="http://schemas.openxmlformats.org/drawingml/2006/main">
            <a:srgbClr val="173B57"/>
          </a:solidFill>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1</a:t>
            </a:r>
          </a:p>
        </p:txBody>
      </p:sp>
      <p:sp>
        <p:nvSpPr>
          <p:cNvPr id="5" name="">
            <a:extLst xmlns:a="http://schemas.openxmlformats.org/drawingml/2006/main">
              <a:ext uri="{FF2B5EF4-FFF2-40B4-BE49-F238E27FC236}">
                <a16:creationId xmlns:a16="http://schemas.microsoft.com/office/drawing/2014/main" id="{B41F6A20-81E4-44DA-8BC3-ADF7C9AF41A3}"/>
              </a:ext>
            </a:extLst>
          </p:cNvPr>
          <p:cNvSpPr>
            <a:spLocks xmlns:a="http://schemas.openxmlformats.org/drawingml/2006/main" noGrp="1"/>
          </p:cNvSpPr>
          <p:nvPr/>
        </p:nvSpPr>
        <p:spPr>
          <a:xfrm xmlns:a="http://schemas.openxmlformats.org/drawingml/2006/main">
            <a:off x="1352550" y="14097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650" b="1">
                <a:solidFill>
                  <a:srgbClr val="11233B"/>
                </a:solidFill>
                <a:latin typeface="Helvetica"/>
                <a:ea typeface="Helvetica"/>
                <a:cs typeface="Helvetica"/>
              </a:defRPr>
            </a:pPr>
            <a:r>
              <a:rPr sz="1650" b="1">
                <a:solidFill>
                  <a:srgbClr val="11233B"/>
                </a:solidFill>
                <a:latin typeface="Helvetica"/>
                <a:ea typeface="Helvetica"/>
                <a:cs typeface="Helvetica"/>
              </a:rPr>
              <a:t>Valider</a:t>
            </a:r>
          </a:p>
        </p:txBody>
      </p:sp>
      <p:sp>
        <p:nvSpPr>
          <p:cNvPr id="6" name="">
            <a:extLst xmlns:a="http://schemas.openxmlformats.org/drawingml/2006/main">
              <a:ext uri="{FF2B5EF4-FFF2-40B4-BE49-F238E27FC236}">
                <a16:creationId xmlns:a16="http://schemas.microsoft.com/office/drawing/2014/main" id="{E81B04B5-BC82-4B21-A341-1C226DBD2CDC}"/>
              </a:ext>
            </a:extLst>
          </p:cNvPr>
          <p:cNvSpPr>
            <a:spLocks xmlns:a="http://schemas.openxmlformats.org/drawingml/2006/main" noGrp="1"/>
          </p:cNvSpPr>
          <p:nvPr/>
        </p:nvSpPr>
        <p:spPr>
          <a:xfrm xmlns:a="http://schemas.openxmlformats.org/drawingml/2006/main">
            <a:off x="3543300" y="14097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00" b="0">
                <a:solidFill>
                  <a:srgbClr val="5E6D78"/>
                </a:solidFill>
                <a:latin typeface="Helvetica"/>
                <a:ea typeface="Helvetica"/>
                <a:cs typeface="Helvetica"/>
              </a:defRPr>
            </a:pPr>
            <a:r>
              <a:rPr sz="1500" b="0">
                <a:solidFill>
                  <a:srgbClr val="5E6D78"/>
                </a:solidFill>
                <a:latin typeface="Helvetica"/>
                <a:ea typeface="Helvetica"/>
                <a:cs typeface="Helvetica"/>
              </a:rPr>
              <a:t>Fichiers, en-têtes, colonnes</a:t>
            </a:r>
          </a:p>
        </p:txBody>
      </p:sp>
      <p:sp>
        <p:nvSpPr>
          <p:cNvPr id="7" name="">
            <a:extLst xmlns:a="http://schemas.openxmlformats.org/drawingml/2006/main">
              <a:ext uri="{FF2B5EF4-FFF2-40B4-BE49-F238E27FC236}">
                <a16:creationId xmlns:a16="http://schemas.microsoft.com/office/drawing/2014/main" id="{702E24F9-EBFB-4C1D-8AA2-F40F13E05BC1}"/>
              </a:ext>
            </a:extLst>
          </p:cNvPr>
          <p:cNvSpPr>
            <a:spLocks xmlns:a="http://schemas.openxmlformats.org/drawingml/2006/main" noGrp="1"/>
          </p:cNvSpPr>
          <p:nvPr/>
        </p:nvSpPr>
        <p:spPr>
          <a:xfrm xmlns:a="http://schemas.openxmlformats.org/drawingml/2006/main">
            <a:off x="942975" y="1866900"/>
            <a:ext cx="19050" cy="209550"/>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6DBA19A-2A06-4C0A-AA25-1D4F6BE82B97}"/>
              </a:ext>
            </a:extLst>
          </p:cNvPr>
          <p:cNvSpPr>
            <a:spLocks xmlns:a="http://schemas.openxmlformats.org/drawingml/2006/main" noGrp="1"/>
          </p:cNvSpPr>
          <p:nvPr/>
        </p:nvSpPr>
        <p:spPr>
          <a:xfrm xmlns:a="http://schemas.openxmlformats.org/drawingml/2006/main">
            <a:off x="742950" y="2095500"/>
            <a:ext cx="400050" cy="400050"/>
          </a:xfrm>
          <a:prstGeom xmlns:a="http://schemas.openxmlformats.org/drawingml/2006/main" prst="roundRect">
            <a:avLst>
              <a:gd name="adj" fmla="val 50000"/>
            </a:avLst>
          </a:prstGeom>
          <a:solidFill xmlns:a="http://schemas.openxmlformats.org/drawingml/2006/main">
            <a:srgbClr val="173B57"/>
          </a:solidFill>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2</a:t>
            </a:r>
          </a:p>
        </p:txBody>
      </p:sp>
      <p:sp>
        <p:nvSpPr>
          <p:cNvPr id="9" name="">
            <a:extLst xmlns:a="http://schemas.openxmlformats.org/drawingml/2006/main">
              <a:ext uri="{FF2B5EF4-FFF2-40B4-BE49-F238E27FC236}">
                <a16:creationId xmlns:a16="http://schemas.microsoft.com/office/drawing/2014/main" id="{A2A42C4A-5FF4-498F-B9A4-2AE55447C9D4}"/>
              </a:ext>
            </a:extLst>
          </p:cNvPr>
          <p:cNvSpPr>
            <a:spLocks xmlns:a="http://schemas.openxmlformats.org/drawingml/2006/main" noGrp="1"/>
          </p:cNvSpPr>
          <p:nvPr/>
        </p:nvSpPr>
        <p:spPr>
          <a:xfrm xmlns:a="http://schemas.openxmlformats.org/drawingml/2006/main">
            <a:off x="1352550" y="20764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650" b="1">
                <a:solidFill>
                  <a:srgbClr val="11233B"/>
                </a:solidFill>
                <a:latin typeface="Helvetica"/>
                <a:ea typeface="Helvetica"/>
                <a:cs typeface="Helvetica"/>
              </a:defRPr>
            </a:pPr>
            <a:r>
              <a:rPr sz="1650" b="1">
                <a:solidFill>
                  <a:srgbClr val="11233B"/>
                </a:solidFill>
                <a:latin typeface="Helvetica"/>
                <a:ea typeface="Helvetica"/>
                <a:cs typeface="Helvetica"/>
              </a:rPr>
              <a:t>Normaliser</a:t>
            </a:r>
          </a:p>
        </p:txBody>
      </p:sp>
      <p:sp>
        <p:nvSpPr>
          <p:cNvPr id="10" name="">
            <a:extLst xmlns:a="http://schemas.openxmlformats.org/drawingml/2006/main">
              <a:ext uri="{FF2B5EF4-FFF2-40B4-BE49-F238E27FC236}">
                <a16:creationId xmlns:a16="http://schemas.microsoft.com/office/drawing/2014/main" id="{0C8CE4F6-687E-4893-9269-44B0E62AA73B}"/>
              </a:ext>
            </a:extLst>
          </p:cNvPr>
          <p:cNvSpPr>
            <a:spLocks xmlns:a="http://schemas.openxmlformats.org/drawingml/2006/main" noGrp="1"/>
          </p:cNvSpPr>
          <p:nvPr/>
        </p:nvSpPr>
        <p:spPr>
          <a:xfrm xmlns:a="http://schemas.openxmlformats.org/drawingml/2006/main">
            <a:off x="3543300" y="207645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00" b="0">
                <a:solidFill>
                  <a:srgbClr val="5E6D78"/>
                </a:solidFill>
                <a:latin typeface="Helvetica"/>
                <a:ea typeface="Helvetica"/>
                <a:cs typeface="Helvetica"/>
              </a:defRPr>
            </a:pPr>
            <a:r>
              <a:rPr sz="1500" b="0">
                <a:solidFill>
                  <a:srgbClr val="5E6D78"/>
                </a:solidFill>
                <a:latin typeface="Helvetica"/>
                <a:ea typeface="Helvetica"/>
                <a:cs typeface="Helvetica"/>
              </a:rPr>
              <a:t>IDs, dates UTC, décimaux, libellés</a:t>
            </a:r>
          </a:p>
        </p:txBody>
      </p:sp>
      <p:sp>
        <p:nvSpPr>
          <p:cNvPr id="11" name="">
            <a:extLst xmlns:a="http://schemas.openxmlformats.org/drawingml/2006/main">
              <a:ext uri="{FF2B5EF4-FFF2-40B4-BE49-F238E27FC236}">
                <a16:creationId xmlns:a16="http://schemas.microsoft.com/office/drawing/2014/main" id="{BB325507-300F-4F4B-ADF8-D50678E7F267}"/>
              </a:ext>
            </a:extLst>
          </p:cNvPr>
          <p:cNvSpPr>
            <a:spLocks xmlns:a="http://schemas.openxmlformats.org/drawingml/2006/main" noGrp="1"/>
          </p:cNvSpPr>
          <p:nvPr/>
        </p:nvSpPr>
        <p:spPr>
          <a:xfrm xmlns:a="http://schemas.openxmlformats.org/drawingml/2006/main">
            <a:off x="942975" y="2533650"/>
            <a:ext cx="19050" cy="209550"/>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6B0C83A-2F50-411F-A741-FA9EAEF0CD5C}"/>
              </a:ext>
            </a:extLst>
          </p:cNvPr>
          <p:cNvSpPr>
            <a:spLocks xmlns:a="http://schemas.openxmlformats.org/drawingml/2006/main" noGrp="1"/>
          </p:cNvSpPr>
          <p:nvPr/>
        </p:nvSpPr>
        <p:spPr>
          <a:xfrm xmlns:a="http://schemas.openxmlformats.org/drawingml/2006/main">
            <a:off x="742950" y="2762250"/>
            <a:ext cx="400050" cy="400050"/>
          </a:xfrm>
          <a:prstGeom xmlns:a="http://schemas.openxmlformats.org/drawingml/2006/main" prst="roundRect">
            <a:avLst>
              <a:gd name="adj" fmla="val 50000"/>
            </a:avLst>
          </a:prstGeom>
          <a:solidFill xmlns:a="http://schemas.openxmlformats.org/drawingml/2006/main">
            <a:srgbClr val="173B57"/>
          </a:solidFill>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3</a:t>
            </a:r>
          </a:p>
        </p:txBody>
      </p:sp>
      <p:sp>
        <p:nvSpPr>
          <p:cNvPr id="13" name="">
            <a:extLst xmlns:a="http://schemas.openxmlformats.org/drawingml/2006/main">
              <a:ext uri="{FF2B5EF4-FFF2-40B4-BE49-F238E27FC236}">
                <a16:creationId xmlns:a16="http://schemas.microsoft.com/office/drawing/2014/main" id="{ACF6EBD3-3A81-4778-8624-0957F982C6ED}"/>
              </a:ext>
            </a:extLst>
          </p:cNvPr>
          <p:cNvSpPr>
            <a:spLocks xmlns:a="http://schemas.openxmlformats.org/drawingml/2006/main" noGrp="1"/>
          </p:cNvSpPr>
          <p:nvPr/>
        </p:nvSpPr>
        <p:spPr>
          <a:xfrm xmlns:a="http://schemas.openxmlformats.org/drawingml/2006/main">
            <a:off x="1352550" y="27432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650" b="1">
                <a:solidFill>
                  <a:srgbClr val="11233B"/>
                </a:solidFill>
                <a:latin typeface="Helvetica"/>
                <a:ea typeface="Helvetica"/>
                <a:cs typeface="Helvetica"/>
              </a:defRPr>
            </a:pPr>
            <a:r>
              <a:rPr sz="1650" b="1">
                <a:solidFill>
                  <a:srgbClr val="11233B"/>
                </a:solidFill>
                <a:latin typeface="Helvetica"/>
                <a:ea typeface="Helvetica"/>
                <a:cs typeface="Helvetica"/>
              </a:rPr>
              <a:t>Contrôler</a:t>
            </a:r>
          </a:p>
        </p:txBody>
      </p:sp>
      <p:sp>
        <p:nvSpPr>
          <p:cNvPr id="14" name="">
            <a:extLst xmlns:a="http://schemas.openxmlformats.org/drawingml/2006/main">
              <a:ext uri="{FF2B5EF4-FFF2-40B4-BE49-F238E27FC236}">
                <a16:creationId xmlns:a16="http://schemas.microsoft.com/office/drawing/2014/main" id="{FDF1B02E-9538-43A3-A918-E9FB6A3BBD04}"/>
              </a:ext>
            </a:extLst>
          </p:cNvPr>
          <p:cNvSpPr>
            <a:spLocks xmlns:a="http://schemas.openxmlformats.org/drawingml/2006/main" noGrp="1"/>
          </p:cNvSpPr>
          <p:nvPr/>
        </p:nvSpPr>
        <p:spPr>
          <a:xfrm xmlns:a="http://schemas.openxmlformats.org/drawingml/2006/main">
            <a:off x="3543300" y="27432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00" b="0">
                <a:solidFill>
                  <a:srgbClr val="5E6D78"/>
                </a:solidFill>
                <a:latin typeface="Helvetica"/>
                <a:ea typeface="Helvetica"/>
                <a:cs typeface="Helvetica"/>
              </a:defRPr>
            </a:pPr>
            <a:r>
              <a:rPr sz="1500" b="0">
                <a:solidFill>
                  <a:srgbClr val="5E6D78"/>
                </a:solidFill>
                <a:latin typeface="Helvetica"/>
                <a:ea typeface="Helvetica"/>
                <a:cs typeface="Helvetica"/>
              </a:rPr>
              <a:t>Corruptions et doublons</a:t>
            </a:r>
          </a:p>
        </p:txBody>
      </p:sp>
      <p:sp>
        <p:nvSpPr>
          <p:cNvPr id="15" name="">
            <a:extLst xmlns:a="http://schemas.openxmlformats.org/drawingml/2006/main">
              <a:ext uri="{FF2B5EF4-FFF2-40B4-BE49-F238E27FC236}">
                <a16:creationId xmlns:a16="http://schemas.microsoft.com/office/drawing/2014/main" id="{C21FD1F1-7A92-4C2A-B622-A281FB7E8DCD}"/>
              </a:ext>
            </a:extLst>
          </p:cNvPr>
          <p:cNvSpPr>
            <a:spLocks xmlns:a="http://schemas.openxmlformats.org/drawingml/2006/main" noGrp="1"/>
          </p:cNvSpPr>
          <p:nvPr/>
        </p:nvSpPr>
        <p:spPr>
          <a:xfrm xmlns:a="http://schemas.openxmlformats.org/drawingml/2006/main">
            <a:off x="942975" y="3200400"/>
            <a:ext cx="19050" cy="209550"/>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98ED26D-209C-459F-930A-808227C17827}"/>
              </a:ext>
            </a:extLst>
          </p:cNvPr>
          <p:cNvSpPr>
            <a:spLocks xmlns:a="http://schemas.openxmlformats.org/drawingml/2006/main" noGrp="1"/>
          </p:cNvSpPr>
          <p:nvPr/>
        </p:nvSpPr>
        <p:spPr>
          <a:xfrm xmlns:a="http://schemas.openxmlformats.org/drawingml/2006/main">
            <a:off x="742950" y="3429000"/>
            <a:ext cx="400050" cy="400050"/>
          </a:xfrm>
          <a:prstGeom xmlns:a="http://schemas.openxmlformats.org/drawingml/2006/main" prst="roundRect">
            <a:avLst>
              <a:gd name="adj" fmla="val 50000"/>
            </a:avLst>
          </a:prstGeom>
          <a:solidFill xmlns:a="http://schemas.openxmlformats.org/drawingml/2006/main">
            <a:srgbClr val="1B8A9B"/>
          </a:solidFill>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4</a:t>
            </a:r>
          </a:p>
        </p:txBody>
      </p:sp>
      <p:sp>
        <p:nvSpPr>
          <p:cNvPr id="17" name="">
            <a:extLst xmlns:a="http://schemas.openxmlformats.org/drawingml/2006/main">
              <a:ext uri="{FF2B5EF4-FFF2-40B4-BE49-F238E27FC236}">
                <a16:creationId xmlns:a16="http://schemas.microsoft.com/office/drawing/2014/main" id="{87E79EA4-E813-4EE9-931C-01391A4C5EF1}"/>
              </a:ext>
            </a:extLst>
          </p:cNvPr>
          <p:cNvSpPr>
            <a:spLocks xmlns:a="http://schemas.openxmlformats.org/drawingml/2006/main" noGrp="1"/>
          </p:cNvSpPr>
          <p:nvPr/>
        </p:nvSpPr>
        <p:spPr>
          <a:xfrm xmlns:a="http://schemas.openxmlformats.org/drawingml/2006/main">
            <a:off x="1352550" y="34099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650" b="1">
                <a:solidFill>
                  <a:srgbClr val="11233B"/>
                </a:solidFill>
                <a:latin typeface="Helvetica"/>
                <a:ea typeface="Helvetica"/>
                <a:cs typeface="Helvetica"/>
              </a:defRPr>
            </a:pPr>
            <a:r>
              <a:rPr sz="1650" b="1">
                <a:solidFill>
                  <a:srgbClr val="11233B"/>
                </a:solidFill>
                <a:latin typeface="Helvetica"/>
                <a:ea typeface="Helvetica"/>
                <a:cs typeface="Helvetica"/>
              </a:rPr>
              <a:t>Décider</a:t>
            </a:r>
          </a:p>
        </p:txBody>
      </p:sp>
      <p:sp>
        <p:nvSpPr>
          <p:cNvPr id="18" name="">
            <a:extLst xmlns:a="http://schemas.openxmlformats.org/drawingml/2006/main">
              <a:ext uri="{FF2B5EF4-FFF2-40B4-BE49-F238E27FC236}">
                <a16:creationId xmlns:a16="http://schemas.microsoft.com/office/drawing/2014/main" id="{71B3A0F8-777C-413E-8A22-D5FAFCBD0206}"/>
              </a:ext>
            </a:extLst>
          </p:cNvPr>
          <p:cNvSpPr>
            <a:spLocks xmlns:a="http://schemas.openxmlformats.org/drawingml/2006/main" noGrp="1"/>
          </p:cNvSpPr>
          <p:nvPr/>
        </p:nvSpPr>
        <p:spPr>
          <a:xfrm xmlns:a="http://schemas.openxmlformats.org/drawingml/2006/main">
            <a:off x="3543300" y="340995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00" b="0">
                <a:solidFill>
                  <a:srgbClr val="5E6D78"/>
                </a:solidFill>
                <a:latin typeface="Helvetica"/>
                <a:ea typeface="Helvetica"/>
                <a:cs typeface="Helvetica"/>
              </a:defRPr>
            </a:pPr>
            <a:r>
              <a:rPr sz="1500" b="0">
                <a:solidFill>
                  <a:srgbClr val="5E6D78"/>
                </a:solidFill>
                <a:latin typeface="Helvetica"/>
                <a:ea typeface="Helvetica"/>
                <a:cs typeface="Helvetica"/>
              </a:rPr>
              <a:t>Qualité puis règle métier</a:t>
            </a:r>
          </a:p>
        </p:txBody>
      </p:sp>
      <p:sp>
        <p:nvSpPr>
          <p:cNvPr id="19" name="">
            <a:extLst xmlns:a="http://schemas.openxmlformats.org/drawingml/2006/main">
              <a:ext uri="{FF2B5EF4-FFF2-40B4-BE49-F238E27FC236}">
                <a16:creationId xmlns:a16="http://schemas.microsoft.com/office/drawing/2014/main" id="{B5648173-32EB-4402-8E7D-77EFAE96BDE3}"/>
              </a:ext>
            </a:extLst>
          </p:cNvPr>
          <p:cNvSpPr>
            <a:spLocks xmlns:a="http://schemas.openxmlformats.org/drawingml/2006/main" noGrp="1"/>
          </p:cNvSpPr>
          <p:nvPr/>
        </p:nvSpPr>
        <p:spPr>
          <a:xfrm xmlns:a="http://schemas.openxmlformats.org/drawingml/2006/main">
            <a:off x="942975" y="3867150"/>
            <a:ext cx="19050" cy="209550"/>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2FC354-6DB5-4334-9F88-E4ED28296714}"/>
              </a:ext>
            </a:extLst>
          </p:cNvPr>
          <p:cNvSpPr>
            <a:spLocks xmlns:a="http://schemas.openxmlformats.org/drawingml/2006/main" noGrp="1"/>
          </p:cNvSpPr>
          <p:nvPr/>
        </p:nvSpPr>
        <p:spPr>
          <a:xfrm xmlns:a="http://schemas.openxmlformats.org/drawingml/2006/main">
            <a:off x="742950" y="4095750"/>
            <a:ext cx="400050" cy="400050"/>
          </a:xfrm>
          <a:prstGeom xmlns:a="http://schemas.openxmlformats.org/drawingml/2006/main" prst="roundRect">
            <a:avLst>
              <a:gd name="adj" fmla="val 50000"/>
            </a:avLst>
          </a:prstGeom>
          <a:solidFill xmlns:a="http://schemas.openxmlformats.org/drawingml/2006/main">
            <a:srgbClr val="1B8A9B"/>
          </a:solidFill>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5</a:t>
            </a:r>
          </a:p>
        </p:txBody>
      </p:sp>
      <p:sp>
        <p:nvSpPr>
          <p:cNvPr id="21" name="">
            <a:extLst xmlns:a="http://schemas.openxmlformats.org/drawingml/2006/main">
              <a:ext uri="{FF2B5EF4-FFF2-40B4-BE49-F238E27FC236}">
                <a16:creationId xmlns:a16="http://schemas.microsoft.com/office/drawing/2014/main" id="{FA526506-C165-4111-9857-D5D1938DF436}"/>
              </a:ext>
            </a:extLst>
          </p:cNvPr>
          <p:cNvSpPr>
            <a:spLocks xmlns:a="http://schemas.openxmlformats.org/drawingml/2006/main" noGrp="1"/>
          </p:cNvSpPr>
          <p:nvPr/>
        </p:nvSpPr>
        <p:spPr>
          <a:xfrm xmlns:a="http://schemas.openxmlformats.org/drawingml/2006/main">
            <a:off x="1352550" y="40767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650" b="1">
                <a:solidFill>
                  <a:srgbClr val="11233B"/>
                </a:solidFill>
                <a:latin typeface="Helvetica"/>
                <a:ea typeface="Helvetica"/>
                <a:cs typeface="Helvetica"/>
              </a:defRPr>
            </a:pPr>
            <a:r>
              <a:rPr sz="1650" b="1">
                <a:solidFill>
                  <a:srgbClr val="11233B"/>
                </a:solidFill>
                <a:latin typeface="Helvetica"/>
                <a:ea typeface="Helvetica"/>
                <a:cs typeface="Helvetica"/>
              </a:rPr>
              <a:t>Rapprocher</a:t>
            </a:r>
          </a:p>
        </p:txBody>
      </p:sp>
      <p:sp>
        <p:nvSpPr>
          <p:cNvPr id="22" name="">
            <a:extLst xmlns:a="http://schemas.openxmlformats.org/drawingml/2006/main">
              <a:ext uri="{FF2B5EF4-FFF2-40B4-BE49-F238E27FC236}">
                <a16:creationId xmlns:a16="http://schemas.microsoft.com/office/drawing/2014/main" id="{8949F8C1-0C64-4A86-B826-2A66D57DC3A2}"/>
              </a:ext>
            </a:extLst>
          </p:cNvPr>
          <p:cNvSpPr>
            <a:spLocks xmlns:a="http://schemas.openxmlformats.org/drawingml/2006/main" noGrp="1"/>
          </p:cNvSpPr>
          <p:nvPr/>
        </p:nvSpPr>
        <p:spPr>
          <a:xfrm xmlns:a="http://schemas.openxmlformats.org/drawingml/2006/main">
            <a:off x="3543300" y="40767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00" b="0">
                <a:solidFill>
                  <a:srgbClr val="5E6D78"/>
                </a:solidFill>
                <a:latin typeface="Helvetica"/>
                <a:ea typeface="Helvetica"/>
                <a:cs typeface="Helvetica"/>
              </a:defRPr>
            </a:pPr>
            <a:r>
              <a:rPr sz="1500" b="0">
                <a:solidFill>
                  <a:srgbClr val="5E6D78"/>
                </a:solidFill>
                <a:latin typeface="Helvetica"/>
                <a:ea typeface="Helvetica"/>
                <a:cs typeface="Helvetica"/>
              </a:rPr>
              <a:t>Dernier taux antérieur, max. 7 jours</a:t>
            </a:r>
          </a:p>
        </p:txBody>
      </p:sp>
      <p:sp>
        <p:nvSpPr>
          <p:cNvPr id="23" name="">
            <a:extLst xmlns:a="http://schemas.openxmlformats.org/drawingml/2006/main">
              <a:ext uri="{FF2B5EF4-FFF2-40B4-BE49-F238E27FC236}">
                <a16:creationId xmlns:a16="http://schemas.microsoft.com/office/drawing/2014/main" id="{20B6EAF4-A57E-4A92-9187-6C32AF16AF61}"/>
              </a:ext>
            </a:extLst>
          </p:cNvPr>
          <p:cNvSpPr>
            <a:spLocks xmlns:a="http://schemas.openxmlformats.org/drawingml/2006/main" noGrp="1"/>
          </p:cNvSpPr>
          <p:nvPr/>
        </p:nvSpPr>
        <p:spPr>
          <a:xfrm xmlns:a="http://schemas.openxmlformats.org/drawingml/2006/main">
            <a:off x="942975" y="4533900"/>
            <a:ext cx="19050" cy="209550"/>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EC434D0-3A5A-450D-9C26-7C7EB1ABA311}"/>
              </a:ext>
            </a:extLst>
          </p:cNvPr>
          <p:cNvSpPr>
            <a:spLocks xmlns:a="http://schemas.openxmlformats.org/drawingml/2006/main" noGrp="1"/>
          </p:cNvSpPr>
          <p:nvPr/>
        </p:nvSpPr>
        <p:spPr>
          <a:xfrm xmlns:a="http://schemas.openxmlformats.org/drawingml/2006/main">
            <a:off x="742950" y="4762500"/>
            <a:ext cx="400050" cy="400050"/>
          </a:xfrm>
          <a:prstGeom xmlns:a="http://schemas.openxmlformats.org/drawingml/2006/main" prst="roundRect">
            <a:avLst>
              <a:gd name="adj" fmla="val 50000"/>
            </a:avLst>
          </a:prstGeom>
          <a:solidFill xmlns:a="http://schemas.openxmlformats.org/drawingml/2006/main">
            <a:srgbClr val="1B8A9B"/>
          </a:solidFill>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6</a:t>
            </a:r>
          </a:p>
        </p:txBody>
      </p:sp>
      <p:sp>
        <p:nvSpPr>
          <p:cNvPr id="25" name="">
            <a:extLst xmlns:a="http://schemas.openxmlformats.org/drawingml/2006/main">
              <a:ext uri="{FF2B5EF4-FFF2-40B4-BE49-F238E27FC236}">
                <a16:creationId xmlns:a16="http://schemas.microsoft.com/office/drawing/2014/main" id="{FED87032-4A22-410B-9CE2-854DF2D2A102}"/>
              </a:ext>
            </a:extLst>
          </p:cNvPr>
          <p:cNvSpPr>
            <a:spLocks xmlns:a="http://schemas.openxmlformats.org/drawingml/2006/main" noGrp="1"/>
          </p:cNvSpPr>
          <p:nvPr/>
        </p:nvSpPr>
        <p:spPr>
          <a:xfrm xmlns:a="http://schemas.openxmlformats.org/drawingml/2006/main">
            <a:off x="1352550" y="474345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650" b="1">
                <a:solidFill>
                  <a:srgbClr val="11233B"/>
                </a:solidFill>
                <a:latin typeface="Helvetica"/>
                <a:ea typeface="Helvetica"/>
                <a:cs typeface="Helvetica"/>
              </a:defRPr>
            </a:pPr>
            <a:r>
              <a:rPr sz="1650" b="1">
                <a:solidFill>
                  <a:srgbClr val="11233B"/>
                </a:solidFill>
                <a:latin typeface="Helvetica"/>
                <a:ea typeface="Helvetica"/>
                <a:cs typeface="Helvetica"/>
              </a:rPr>
              <a:t>Calculer</a:t>
            </a:r>
          </a:p>
        </p:txBody>
      </p:sp>
      <p:sp>
        <p:nvSpPr>
          <p:cNvPr id="26" name="">
            <a:extLst xmlns:a="http://schemas.openxmlformats.org/drawingml/2006/main">
              <a:ext uri="{FF2B5EF4-FFF2-40B4-BE49-F238E27FC236}">
                <a16:creationId xmlns:a16="http://schemas.microsoft.com/office/drawing/2014/main" id="{0BF90C9D-0DE7-45AB-A9DA-61F78E29DBF9}"/>
              </a:ext>
            </a:extLst>
          </p:cNvPr>
          <p:cNvSpPr>
            <a:spLocks xmlns:a="http://schemas.openxmlformats.org/drawingml/2006/main" noGrp="1"/>
          </p:cNvSpPr>
          <p:nvPr/>
        </p:nvSpPr>
        <p:spPr>
          <a:xfrm xmlns:a="http://schemas.openxmlformats.org/drawingml/2006/main">
            <a:off x="3543300" y="474345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00" b="0">
                <a:solidFill>
                  <a:srgbClr val="5E6D78"/>
                </a:solidFill>
                <a:latin typeface="Helvetica"/>
                <a:ea typeface="Helvetica"/>
                <a:cs typeface="Helvetica"/>
              </a:defRPr>
            </a:pPr>
            <a:r>
              <a:rPr sz="1500" b="0">
                <a:solidFill>
                  <a:srgbClr val="5E6D78"/>
                </a:solidFill>
                <a:latin typeface="Helvetica"/>
                <a:ea typeface="Helvetica"/>
                <a:cs typeface="Helvetica"/>
              </a:rPr>
              <a:t>USD ÷ USD/EUR, arrondi par ligne</a:t>
            </a:r>
          </a:p>
        </p:txBody>
      </p:sp>
      <p:sp>
        <p:nvSpPr>
          <p:cNvPr id="27" name="">
            <a:extLst xmlns:a="http://schemas.openxmlformats.org/drawingml/2006/main">
              <a:ext uri="{FF2B5EF4-FFF2-40B4-BE49-F238E27FC236}">
                <a16:creationId xmlns:a16="http://schemas.microsoft.com/office/drawing/2014/main" id="{2D8AACB1-742F-4619-AAB3-0AB65FA3CB15}"/>
              </a:ext>
            </a:extLst>
          </p:cNvPr>
          <p:cNvSpPr>
            <a:spLocks xmlns:a="http://schemas.openxmlformats.org/drawingml/2006/main" noGrp="1"/>
          </p:cNvSpPr>
          <p:nvPr/>
        </p:nvSpPr>
        <p:spPr>
          <a:xfrm xmlns:a="http://schemas.openxmlformats.org/drawingml/2006/main">
            <a:off x="942975" y="5200650"/>
            <a:ext cx="19050" cy="209550"/>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BC0A921-006C-499D-BCC4-078B0C6D98D0}"/>
              </a:ext>
            </a:extLst>
          </p:cNvPr>
          <p:cNvSpPr>
            <a:spLocks xmlns:a="http://schemas.openxmlformats.org/drawingml/2006/main" noGrp="1"/>
          </p:cNvSpPr>
          <p:nvPr/>
        </p:nvSpPr>
        <p:spPr>
          <a:xfrm xmlns:a="http://schemas.openxmlformats.org/drawingml/2006/main">
            <a:off x="742950" y="5429250"/>
            <a:ext cx="400050" cy="400050"/>
          </a:xfrm>
          <a:prstGeom xmlns:a="http://schemas.openxmlformats.org/drawingml/2006/main" prst="roundRect">
            <a:avLst>
              <a:gd name="adj" fmla="val 50000"/>
            </a:avLst>
          </a:prstGeom>
          <a:solidFill xmlns:a="http://schemas.openxmlformats.org/drawingml/2006/main">
            <a:srgbClr val="E56B3F"/>
          </a:solidFill>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defRPr sz="1350" b="1">
                <a:solidFill>
                  <a:srgbClr val="FFFFFF"/>
                </a:solidFill>
                <a:latin typeface="Helvetica"/>
                <a:ea typeface="Helvetica"/>
                <a:cs typeface="Helvetica"/>
              </a:defRPr>
            </a:pPr>
            <a:r>
              <a:rPr sz="1350" b="1">
                <a:solidFill>
                  <a:srgbClr val="FFFFFF"/>
                </a:solidFill>
                <a:latin typeface="Helvetica"/>
                <a:ea typeface="Helvetica"/>
                <a:cs typeface="Helvetica"/>
              </a:rPr>
              <a:t>7</a:t>
            </a:r>
          </a:p>
        </p:txBody>
      </p:sp>
      <p:sp>
        <p:nvSpPr>
          <p:cNvPr id="29" name="">
            <a:extLst xmlns:a="http://schemas.openxmlformats.org/drawingml/2006/main">
              <a:ext uri="{FF2B5EF4-FFF2-40B4-BE49-F238E27FC236}">
                <a16:creationId xmlns:a16="http://schemas.microsoft.com/office/drawing/2014/main" id="{A1637FE1-40A6-4D26-8DAE-01891795F1A9}"/>
              </a:ext>
            </a:extLst>
          </p:cNvPr>
          <p:cNvSpPr>
            <a:spLocks xmlns:a="http://schemas.openxmlformats.org/drawingml/2006/main" noGrp="1"/>
          </p:cNvSpPr>
          <p:nvPr/>
        </p:nvSpPr>
        <p:spPr>
          <a:xfrm xmlns:a="http://schemas.openxmlformats.org/drawingml/2006/main">
            <a:off x="1352550" y="5410200"/>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650" b="1">
                <a:solidFill>
                  <a:srgbClr val="11233B"/>
                </a:solidFill>
                <a:latin typeface="Helvetica"/>
                <a:ea typeface="Helvetica"/>
                <a:cs typeface="Helvetica"/>
              </a:defRPr>
            </a:pPr>
            <a:r>
              <a:rPr sz="1650" b="1">
                <a:solidFill>
                  <a:srgbClr val="11233B"/>
                </a:solidFill>
                <a:latin typeface="Helvetica"/>
                <a:ea typeface="Helvetica"/>
                <a:cs typeface="Helvetica"/>
              </a:rPr>
              <a:t>Écrire</a:t>
            </a:r>
          </a:p>
        </p:txBody>
      </p:sp>
      <p:sp>
        <p:nvSpPr>
          <p:cNvPr id="30" name="">
            <a:extLst xmlns:a="http://schemas.openxmlformats.org/drawingml/2006/main">
              <a:ext uri="{FF2B5EF4-FFF2-40B4-BE49-F238E27FC236}">
                <a16:creationId xmlns:a16="http://schemas.microsoft.com/office/drawing/2014/main" id="{0180FDEB-0113-494D-B8A4-F08E8EA3FBCB}"/>
              </a:ext>
            </a:extLst>
          </p:cNvPr>
          <p:cNvSpPr>
            <a:spLocks xmlns:a="http://schemas.openxmlformats.org/drawingml/2006/main" noGrp="1"/>
          </p:cNvSpPr>
          <p:nvPr/>
        </p:nvSpPr>
        <p:spPr>
          <a:xfrm xmlns:a="http://schemas.openxmlformats.org/drawingml/2006/main">
            <a:off x="3543300" y="5410200"/>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1500" b="0">
                <a:solidFill>
                  <a:srgbClr val="5E6D78"/>
                </a:solidFill>
                <a:latin typeface="Helvetica"/>
                <a:ea typeface="Helvetica"/>
                <a:cs typeface="Helvetica"/>
              </a:defRPr>
            </a:pPr>
            <a:r>
              <a:rPr sz="1500" b="0">
                <a:solidFill>
                  <a:srgbClr val="5E6D78"/>
                </a:solidFill>
                <a:latin typeface="Helvetica"/>
                <a:ea typeface="Helvetica"/>
                <a:cs typeface="Helvetica"/>
              </a:rPr>
              <a:t>Final, quarantaine, rapport</a:t>
            </a:r>
          </a:p>
        </p:txBody>
      </p:sp>
      <p:sp>
        <p:nvSpPr>
          <p:cNvPr id="31" name="">
            <a:extLst xmlns:a="http://schemas.openxmlformats.org/drawingml/2006/main">
              <a:ext uri="{FF2B5EF4-FFF2-40B4-BE49-F238E27FC236}">
                <a16:creationId xmlns:a16="http://schemas.microsoft.com/office/drawing/2014/main" id="{DCCFBA7E-BDA3-4963-B2E3-125185DF0310}"/>
              </a:ext>
            </a:extLst>
          </p:cNvPr>
          <p:cNvSpPr>
            <a:spLocks xmlns:a="http://schemas.openxmlformats.org/drawingml/2006/main" noGrp="1"/>
          </p:cNvSpPr>
          <p:nvPr/>
        </p:nvSpPr>
        <p:spPr>
          <a:xfrm xmlns:a="http://schemas.openxmlformats.org/drawingml/2006/main">
            <a:off x="7239000" y="5524500"/>
            <a:ext cx="4000500" cy="666750"/>
          </a:xfrm>
          <a:prstGeom xmlns:a="http://schemas.openxmlformats.org/drawingml/2006/main" prst="roundRect">
            <a:avLst>
              <a:gd name="adj" fmla="val 17143"/>
            </a:avLst>
          </a:prstGeom>
          <a:solidFill xmlns:a="http://schemas.openxmlformats.org/drawingml/2006/main">
            <a:srgbClr val="DCECF0"/>
          </a:solidFill>
          <a:ln xmlns:a="http://schemas.openxmlformats.org/drawingml/2006/main" w="0">
            <a:noFill/>
          </a:ln>
        </p:spPr>
        <p:txBody>
          <a:bodyPr xmlns:a="http://schemas.openxmlformats.org/drawingml/2006/main" lIns="57150" tIns="38100" rIns="57150" bIns="38100" anchor="ctr">
            <a:normAutofit fontScale="89821"/>
          </a:bodyPr>
          <a:lstStyle xmlns:a="http://schemas.openxmlformats.org/drawingml/2006/main"/>
          <a:p xmlns:a="http://schemas.openxmlformats.org/drawingml/2006/main">
            <a:pPr algn="l">
              <a:defRPr sz="1275" b="1">
                <a:solidFill>
                  <a:srgbClr val="173B57"/>
                </a:solidFill>
                <a:latin typeface="Helvetica"/>
                <a:ea typeface="Helvetica"/>
                <a:cs typeface="Helvetica"/>
              </a:defRPr>
            </a:pPr>
            <a:r>
              <a:rPr sz="1275" b="1">
                <a:solidFill>
                  <a:srgbClr val="173B57"/>
                </a:solidFill>
                <a:latin typeface="Helvetica"/>
                <a:ea typeface="Helvetica"/>
                <a:cs typeface="Helvetica"/>
              </a:rPr>
              <a:t>Le premier motif applicable devient la décision principale. Aucune ligne ne change de statut selon l’ordre du CSV.</a:t>
            </a:r>
          </a:p>
        </p:txBody>
      </p:sp>
      <p:sp>
        <p:nvSpPr>
          <p:cNvPr id="32" name="">
            <a:extLst xmlns:a="http://schemas.openxmlformats.org/drawingml/2006/main">
              <a:ext uri="{FF2B5EF4-FFF2-40B4-BE49-F238E27FC236}">
                <a16:creationId xmlns:a16="http://schemas.microsoft.com/office/drawing/2014/main" id="{ACD0D540-3969-4F5C-876D-88F579F239C5}"/>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7EAD22F-9E6D-4F19-B7F1-7002895D2DD7}"/>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src/build_dataset.py; src/quality_rules.py; docs/algorithme-et-regles-qualite.md     7/12</a:t>
            </a:r>
          </a:p>
        </p:txBody>
      </p:sp>
    </p:spTree>
    <p:extLst>
      <p:ext uri="{BB962C8B-B14F-4D97-AF65-F5344CB8AC3E}">
        <p14:creationId xmlns:p14="http://schemas.microsoft.com/office/powerpoint/2010/main" val="1515606321"/>
      </p:ext>
    </p:extLst>
  </p:cSld>
</p:sld>
</file>

<file path=ppt/slides/slide8.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6D04DF-76A9-45C4-B46B-94DF4F4D1113}"/>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08</a:t>
            </a:r>
          </a:p>
        </p:txBody>
      </p:sp>
      <p:sp>
        <p:nvSpPr>
          <p:cNvPr id="2" name="">
            <a:extLst xmlns:a="http://schemas.openxmlformats.org/drawingml/2006/main">
              <a:ext uri="{FF2B5EF4-FFF2-40B4-BE49-F238E27FC236}">
                <a16:creationId xmlns:a16="http://schemas.microsoft.com/office/drawing/2014/main" id="{3090C0BC-76D8-4702-9D9F-858103FAB2D4}"/>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C3 — Règles, décisions et codes de raison</a:t>
            </a:r>
          </a:p>
        </p:txBody>
      </p:sp>
      <p:sp>
        <p:nvSpPr>
          <p:cNvPr id="3" name="">
            <a:extLst xmlns:a="http://schemas.openxmlformats.org/drawingml/2006/main">
              <a:ext uri="{FF2B5EF4-FFF2-40B4-BE49-F238E27FC236}">
                <a16:creationId xmlns:a16="http://schemas.microsoft.com/office/drawing/2014/main" id="{EC35B7B2-C29A-4F49-AA44-A3B7F03D5155}"/>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1D9B20-72BC-4F64-BB55-88EF48CD6719}"/>
              </a:ext>
            </a:extLst>
          </p:cNvPr>
          <p:cNvSpPr>
            <a:spLocks xmlns:a="http://schemas.openxmlformats.org/drawingml/2006/main" noGrp="1"/>
          </p:cNvSpPr>
          <p:nvPr/>
        </p:nvSpPr>
        <p:spPr>
          <a:xfrm xmlns:a="http://schemas.openxmlformats.org/drawingml/2006/main">
            <a:off x="685800" y="10858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Les anomalies fabriquées vivent uniquement dans tests/fixtures; les résultats publics n’en contiennent aucune ajoutée artificiellement</a:t>
            </a:r>
          </a:p>
        </p:txBody>
      </p:sp>
      <p:graphicFrame>
        <p:nvGraphicFramePr>
          <p:cNvPr id="12" name=""/>
          <p:cNvGraphicFramePr/>
          <p:nvPr/>
        </p:nvGraphicFramePr>
        <p:xfrm>
          <a:off xmlns:a="http://schemas.openxmlformats.org/drawingml/2006/main" x="704850" y="1581150"/>
          <a:ext xmlns:a="http://schemas.openxmlformats.org/drawingml/2006/main" cx="10763250" cy="4191000"/>
        </p:xfrm>
        <a:graphic xmlns:a="http://schemas.openxmlformats.org/drawingml/2006/main">
          <a:graphicData uri="http://schemas.openxmlformats.org/drawingml/2006/table">
            <a:tbl>
              <a:tblPr/>
              <a:tblGrid>
                <a:gridCol w="4095750"/>
                <a:gridCol w="2476500"/>
                <a:gridCol w="4191000"/>
              </a:tblGrid>
              <a:tr h="419100">
                <a:tc>
                  <a:txBody>
                    <a:bodyPr/>
                    <a:lstStyle/>
                    <a:p>
                      <a:r>
                        <a:rPr sz="1200" b="1">
                          <a:solidFill>
                            <a:srgbClr val="FFFFFF"/>
                          </a:solidFill>
                          <a:latin typeface="Helvetica"/>
                          <a:ea typeface="Helvetica"/>
                          <a:cs typeface="Helvetica"/>
                        </a:rPr>
                        <a:t>Condition</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Décision</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Code stable</a:t>
                      </a:r>
                    </a:p>
                  </a:txBody>
                  <a:tcPr marL="76200" marR="76200" marT="57150" marB="57150" anchor="ctr">
                    <a:solidFill>
                      <a:srgbClr val="173B57"/>
                    </a:solidFill>
                  </a:tcPr>
                </a:tc>
              </a:tr>
              <a:tr h="419100">
                <a:tc>
                  <a:txBody>
                    <a:bodyPr/>
                    <a:lstStyle/>
                    <a:p>
                      <a:r>
                        <a:rPr sz="1050">
                          <a:solidFill>
                            <a:srgbClr val="11233B"/>
                          </a:solidFill>
                          <a:latin typeface="Helvetica"/>
                          <a:ea typeface="Helvetica"/>
                          <a:cs typeface="Helvetica"/>
                        </a:rPr>
                        <a:t>Clé répétée</a:t>
                      </a:r>
                    </a:p>
                  </a:txBody>
                  <a:tcPr marL="76200" marR="76200" marT="47625" marB="47625" anchor="ctr"/>
                </a:tc>
                <a:tc>
                  <a:txBody>
                    <a:bodyPr/>
                    <a:lstStyle/>
                    <a:p>
                      <a:r>
                        <a:rPr sz="1050">
                          <a:solidFill>
                            <a:srgbClr val="B54A45"/>
                          </a:solidFill>
                          <a:latin typeface="Helvetica"/>
                          <a:ea typeface="Helvetica"/>
                          <a:cs typeface="Helvetica"/>
                        </a:rPr>
                        <a:t>REJETÉE</a:t>
                      </a:r>
                    </a:p>
                  </a:txBody>
                  <a:tcPr marL="76200" marR="76200" marT="47625" marB="47625" anchor="ctr"/>
                </a:tc>
                <a:tc>
                  <a:txBody>
                    <a:bodyPr/>
                    <a:lstStyle/>
                    <a:p>
                      <a:r>
                        <a:rPr sz="1050">
                          <a:solidFill>
                            <a:srgbClr val="11233B"/>
                          </a:solidFill>
                          <a:latin typeface="Helvetica"/>
                          <a:ea typeface="Helvetica"/>
                          <a:cs typeface="Helvetica"/>
                        </a:rPr>
                        <a:t>DUPLICATE_LINE_ID</a:t>
                      </a:r>
                    </a:p>
                  </a:txBody>
                  <a:tcPr marL="76200" marR="76200" marT="47625" marB="47625" anchor="ctr"/>
                </a:tc>
              </a:tr>
              <a:tr h="419100">
                <a:tc>
                  <a:txBody>
                    <a:bodyPr/>
                    <a:lstStyle/>
                    <a:p>
                      <a:r>
                        <a:rPr sz="1050">
                          <a:solidFill>
                            <a:srgbClr val="11233B"/>
                          </a:solidFill>
                          <a:latin typeface="Helvetica"/>
                          <a:ea typeface="Helvetica"/>
                          <a:cs typeface="Helvetica"/>
                        </a:rPr>
                        <a:t>ID, date ou prix invalide</a:t>
                      </a:r>
                    </a:p>
                  </a:txBody>
                  <a:tcPr marL="76200" marR="76200" marT="47625" marB="47625" anchor="ctr">
                    <a:solidFill>
                      <a:srgbClr val="EEEAE3"/>
                    </a:solidFill>
                  </a:tcPr>
                </a:tc>
                <a:tc>
                  <a:txBody>
                    <a:bodyPr/>
                    <a:lstStyle/>
                    <a:p>
                      <a:r>
                        <a:rPr sz="1050">
                          <a:solidFill>
                            <a:srgbClr val="B54A45"/>
                          </a:solidFill>
                          <a:latin typeface="Helvetica"/>
                          <a:ea typeface="Helvetica"/>
                          <a:cs typeface="Helvetica"/>
                        </a:rPr>
                        <a:t>REJETÉE</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INVALID_* / NON_POSITIVE_PRICE</a:t>
                      </a:r>
                    </a:p>
                  </a:txBody>
                  <a:tcPr marL="76200" marR="76200" marT="47625" marB="47625" anchor="ctr">
                    <a:solidFill>
                      <a:srgbClr val="EEEAE3"/>
                    </a:solidFill>
                  </a:tcPr>
                </a:tc>
              </a:tr>
              <a:tr h="419100">
                <a:tc>
                  <a:txBody>
                    <a:bodyPr/>
                    <a:lstStyle/>
                    <a:p>
                      <a:r>
                        <a:rPr sz="1050">
                          <a:solidFill>
                            <a:srgbClr val="11233B"/>
                          </a:solidFill>
                          <a:latin typeface="Helvetica"/>
                          <a:ea typeface="Helvetica"/>
                          <a:cs typeface="Helvetica"/>
                        </a:rPr>
                        <a:t>Statuts contradictoires</a:t>
                      </a:r>
                    </a:p>
                  </a:txBody>
                  <a:tcPr marL="76200" marR="76200" marT="47625" marB="47625" anchor="ctr"/>
                </a:tc>
                <a:tc>
                  <a:txBody>
                    <a:bodyPr/>
                    <a:lstStyle/>
                    <a:p>
                      <a:r>
                        <a:rPr sz="1050">
                          <a:solidFill>
                            <a:srgbClr val="C88B2B"/>
                          </a:solidFill>
                          <a:latin typeface="Helvetica"/>
                          <a:ea typeface="Helvetica"/>
                          <a:cs typeface="Helvetica"/>
                        </a:rPr>
                        <a:t>À VÉRIFIER</a:t>
                      </a:r>
                    </a:p>
                  </a:txBody>
                  <a:tcPr marL="76200" marR="76200" marT="47625" marB="47625" anchor="ctr"/>
                </a:tc>
                <a:tc>
                  <a:txBody>
                    <a:bodyPr/>
                    <a:lstStyle/>
                    <a:p>
                      <a:r>
                        <a:rPr sz="1050">
                          <a:solidFill>
                            <a:srgbClr val="11233B"/>
                          </a:solidFill>
                          <a:latin typeface="Helvetica"/>
                          <a:ea typeface="Helvetica"/>
                          <a:cs typeface="Helvetica"/>
                        </a:rPr>
                        <a:t>STATUS_CONFLICT</a:t>
                      </a:r>
                    </a:p>
                  </a:txBody>
                  <a:tcPr marL="76200" marR="76200" marT="47625" marB="47625" anchor="ctr"/>
                </a:tc>
              </a:tr>
              <a:tr h="419100">
                <a:tc>
                  <a:txBody>
                    <a:bodyPr/>
                    <a:lstStyle/>
                    <a:p>
                      <a:r>
                        <a:rPr sz="1050">
                          <a:solidFill>
                            <a:srgbClr val="11233B"/>
                          </a:solidFill>
                          <a:latin typeface="Helvetica"/>
                          <a:ea typeface="Helvetica"/>
                          <a:cs typeface="Helvetica"/>
                        </a:rPr>
                        <a:t>Commande annulée</a:t>
                      </a:r>
                    </a:p>
                  </a:txBody>
                  <a:tcPr marL="76200" marR="76200" marT="47625" marB="47625" anchor="ctr">
                    <a:solidFill>
                      <a:srgbClr val="EEEAE3"/>
                    </a:solidFill>
                  </a:tcPr>
                </a:tc>
                <a:tc>
                  <a:txBody>
                    <a:bodyPr/>
                    <a:lstStyle/>
                    <a:p>
                      <a:r>
                        <a:rPr sz="1050">
                          <a:solidFill>
                            <a:srgbClr val="E56B3F"/>
                          </a:solidFill>
                          <a:latin typeface="Helvetica"/>
                          <a:ea typeface="Helvetica"/>
                          <a:cs typeface="Helvetica"/>
                        </a:rPr>
                        <a:t>EXCLUE MÉTIER</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CANCELLED_ORDER</a:t>
                      </a:r>
                    </a:p>
                  </a:txBody>
                  <a:tcPr marL="76200" marR="76200" marT="47625" marB="47625" anchor="ctr">
                    <a:solidFill>
                      <a:srgbClr val="EEEAE3"/>
                    </a:solidFill>
                  </a:tcPr>
                </a:tc>
              </a:tr>
              <a:tr h="419100">
                <a:tc>
                  <a:txBody>
                    <a:bodyPr/>
                    <a:lstStyle/>
                    <a:p>
                      <a:r>
                        <a:rPr sz="1050">
                          <a:solidFill>
                            <a:srgbClr val="11233B"/>
                          </a:solidFill>
                          <a:latin typeface="Helvetica"/>
                          <a:ea typeface="Helvetica"/>
                          <a:cs typeface="Helvetica"/>
                        </a:rPr>
                        <a:t>Commande retournée</a:t>
                      </a:r>
                    </a:p>
                  </a:txBody>
                  <a:tcPr marL="76200" marR="76200" marT="47625" marB="47625" anchor="ctr"/>
                </a:tc>
                <a:tc>
                  <a:txBody>
                    <a:bodyPr/>
                    <a:lstStyle/>
                    <a:p>
                      <a:r>
                        <a:rPr sz="1050">
                          <a:solidFill>
                            <a:srgbClr val="E56B3F"/>
                          </a:solidFill>
                          <a:latin typeface="Helvetica"/>
                          <a:ea typeface="Helvetica"/>
                          <a:cs typeface="Helvetica"/>
                        </a:rPr>
                        <a:t>EXCLUE MÉTIER</a:t>
                      </a:r>
                    </a:p>
                  </a:txBody>
                  <a:tcPr marL="76200" marR="76200" marT="47625" marB="47625" anchor="ctr"/>
                </a:tc>
                <a:tc>
                  <a:txBody>
                    <a:bodyPr/>
                    <a:lstStyle/>
                    <a:p>
                      <a:r>
                        <a:rPr sz="1050">
                          <a:solidFill>
                            <a:srgbClr val="11233B"/>
                          </a:solidFill>
                          <a:latin typeface="Helvetica"/>
                          <a:ea typeface="Helvetica"/>
                          <a:cs typeface="Helvetica"/>
                        </a:rPr>
                        <a:t>RETURNED_ORDER</a:t>
                      </a:r>
                    </a:p>
                  </a:txBody>
                  <a:tcPr marL="76200" marR="76200" marT="47625" marB="47625" anchor="ctr"/>
                </a:tc>
              </a:tr>
              <a:tr h="419100">
                <a:tc>
                  <a:txBody>
                    <a:bodyPr/>
                    <a:lstStyle/>
                    <a:p>
                      <a:r>
                        <a:rPr sz="1050">
                          <a:solidFill>
                            <a:srgbClr val="11233B"/>
                          </a:solidFill>
                          <a:latin typeface="Helvetica"/>
                          <a:ea typeface="Helvetica"/>
                          <a:cs typeface="Helvetica"/>
                        </a:rPr>
                        <a:t>Commande en traitement</a:t>
                      </a:r>
                    </a:p>
                  </a:txBody>
                  <a:tcPr marL="76200" marR="76200" marT="47625" marB="47625" anchor="ctr">
                    <a:solidFill>
                      <a:srgbClr val="EEEAE3"/>
                    </a:solidFill>
                  </a:tcPr>
                </a:tc>
                <a:tc>
                  <a:txBody>
                    <a:bodyPr/>
                    <a:lstStyle/>
                    <a:p>
                      <a:r>
                        <a:rPr sz="1050">
                          <a:solidFill>
                            <a:srgbClr val="C88B2B"/>
                          </a:solidFill>
                          <a:latin typeface="Helvetica"/>
                          <a:ea typeface="Helvetica"/>
                          <a:cs typeface="Helvetica"/>
                        </a:rPr>
                        <a:t>À VÉRIFIER</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PROCESSING_ORDER</a:t>
                      </a:r>
                    </a:p>
                  </a:txBody>
                  <a:tcPr marL="76200" marR="76200" marT="47625" marB="47625" anchor="ctr">
                    <a:solidFill>
                      <a:srgbClr val="EEEAE3"/>
                    </a:solidFill>
                  </a:tcPr>
                </a:tc>
              </a:tr>
              <a:tr h="419100">
                <a:tc>
                  <a:txBody>
                    <a:bodyPr/>
                    <a:lstStyle/>
                    <a:p>
                      <a:r>
                        <a:rPr sz="1050">
                          <a:solidFill>
                            <a:srgbClr val="11233B"/>
                          </a:solidFill>
                          <a:latin typeface="Helvetica"/>
                          <a:ea typeface="Helvetica"/>
                          <a:cs typeface="Helvetica"/>
                        </a:rPr>
                        <a:t>Catégorie absente</a:t>
                      </a:r>
                    </a:p>
                  </a:txBody>
                  <a:tcPr marL="76200" marR="76200" marT="47625" marB="47625" anchor="ctr"/>
                </a:tc>
                <a:tc>
                  <a:txBody>
                    <a:bodyPr/>
                    <a:lstStyle/>
                    <a:p>
                      <a:r>
                        <a:rPr sz="1050">
                          <a:solidFill>
                            <a:srgbClr val="C88B2B"/>
                          </a:solidFill>
                          <a:latin typeface="Helvetica"/>
                          <a:ea typeface="Helvetica"/>
                          <a:cs typeface="Helvetica"/>
                        </a:rPr>
                        <a:t>À VÉRIFIER</a:t>
                      </a:r>
                    </a:p>
                  </a:txBody>
                  <a:tcPr marL="76200" marR="76200" marT="47625" marB="47625" anchor="ctr"/>
                </a:tc>
                <a:tc>
                  <a:txBody>
                    <a:bodyPr/>
                    <a:lstStyle/>
                    <a:p>
                      <a:r>
                        <a:rPr sz="1050">
                          <a:solidFill>
                            <a:srgbClr val="11233B"/>
                          </a:solidFill>
                          <a:latin typeface="Helvetica"/>
                          <a:ea typeface="Helvetica"/>
                          <a:cs typeface="Helvetica"/>
                        </a:rPr>
                        <a:t>MISSING_PRODUCT_CATEGORY</a:t>
                      </a:r>
                    </a:p>
                  </a:txBody>
                  <a:tcPr marL="76200" marR="76200" marT="47625" marB="47625" anchor="ctr"/>
                </a:tc>
              </a:tr>
              <a:tr h="419100">
                <a:tc>
                  <a:txBody>
                    <a:bodyPr/>
                    <a:lstStyle/>
                    <a:p>
                      <a:r>
                        <a:rPr sz="1050">
                          <a:solidFill>
                            <a:srgbClr val="11233B"/>
                          </a:solidFill>
                          <a:latin typeface="Helvetica"/>
                          <a:ea typeface="Helvetica"/>
                          <a:cs typeface="Helvetica"/>
                        </a:rPr>
                        <a:t>Aucun taux admissible</a:t>
                      </a:r>
                    </a:p>
                  </a:txBody>
                  <a:tcPr marL="76200" marR="76200" marT="47625" marB="47625" anchor="ctr">
                    <a:solidFill>
                      <a:srgbClr val="EEEAE3"/>
                    </a:solidFill>
                  </a:tcPr>
                </a:tc>
                <a:tc>
                  <a:txBody>
                    <a:bodyPr/>
                    <a:lstStyle/>
                    <a:p>
                      <a:r>
                        <a:rPr sz="1050">
                          <a:solidFill>
                            <a:srgbClr val="C88B2B"/>
                          </a:solidFill>
                          <a:latin typeface="Helvetica"/>
                          <a:ea typeface="Helvetica"/>
                          <a:cs typeface="Helvetica"/>
                        </a:rPr>
                        <a:t>À VÉRIFIER</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NO_PRIOR_RATE / RATE_TOO_OLD</a:t>
                      </a:r>
                    </a:p>
                  </a:txBody>
                  <a:tcPr marL="76200" marR="76200" marT="47625" marB="47625" anchor="ctr">
                    <a:solidFill>
                      <a:srgbClr val="EEEAE3"/>
                    </a:solidFill>
                  </a:tcPr>
                </a:tc>
              </a:tr>
              <a:tr h="419100">
                <a:tc>
                  <a:txBody>
                    <a:bodyPr/>
                    <a:lstStyle/>
                    <a:p>
                      <a:r>
                        <a:rPr sz="1050">
                          <a:solidFill>
                            <a:srgbClr val="11233B"/>
                          </a:solidFill>
                          <a:latin typeface="Helvetica"/>
                          <a:ea typeface="Helvetica"/>
                          <a:cs typeface="Helvetica"/>
                        </a:rPr>
                        <a:t>Tous les contrôles passent</a:t>
                      </a:r>
                    </a:p>
                  </a:txBody>
                  <a:tcPr marL="76200" marR="76200" marT="47625" marB="47625" anchor="ctr"/>
                </a:tc>
                <a:tc>
                  <a:txBody>
                    <a:bodyPr/>
                    <a:lstStyle/>
                    <a:p>
                      <a:r>
                        <a:rPr sz="1050">
                          <a:solidFill>
                            <a:srgbClr val="2F7D64"/>
                          </a:solidFill>
                          <a:latin typeface="Helvetica"/>
                          <a:ea typeface="Helvetica"/>
                          <a:cs typeface="Helvetica"/>
                        </a:rPr>
                        <a:t>ACCEPTÉE</a:t>
                      </a:r>
                    </a:p>
                  </a:txBody>
                  <a:tcPr marL="76200" marR="76200" marT="47625" marB="47625" anchor="ctr"/>
                </a:tc>
                <a:tc>
                  <a:txBody>
                    <a:bodyPr/>
                    <a:lstStyle/>
                    <a:p>
                      <a:r>
                        <a:rPr sz="1050">
                          <a:solidFill>
                            <a:srgbClr val="11233B"/>
                          </a:solidFill>
                          <a:latin typeface="Helvetica"/>
                          <a:ea typeface="Helvetica"/>
                          <a:cs typeface="Helvetica"/>
                        </a:rPr>
                        <a:t>aucun motif d’exclusion</a:t>
                      </a:r>
                    </a:p>
                  </a:txBody>
                  <a:tcPr marL="76200" marR="76200" marT="47625" marB="47625" anchor="ctr"/>
                </a:tc>
              </a:tr>
            </a:tbl>
          </a:graphicData>
        </a:graphic>
      </p:graphicFrame>
      <p:sp>
        <p:nvSpPr>
          <p:cNvPr id="6" name="">
            <a:extLst xmlns:a="http://schemas.openxmlformats.org/drawingml/2006/main">
              <a:ext uri="{FF2B5EF4-FFF2-40B4-BE49-F238E27FC236}">
                <a16:creationId xmlns:a16="http://schemas.microsoft.com/office/drawing/2014/main" id="{94B49557-9E9D-45D8-95B9-C8F518AD87B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9021FD-5280-41CE-B343-18A255E05BC9}"/>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src/quality_rules.py; tests/test_quality_rules.py; tests/fixtures/     8/12</a:t>
            </a:r>
          </a:p>
        </p:txBody>
      </p:sp>
    </p:spTree>
    <p:extLst>
      <p:ext uri="{BB962C8B-B14F-4D97-AF65-F5344CB8AC3E}">
        <p14:creationId xmlns:p14="http://schemas.microsoft.com/office/powerpoint/2010/main" val="1383242206"/>
      </p:ext>
    </p:extLst>
  </p:cSld>
</p:sld>
</file>

<file path=ppt/slides/slide9.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A13D22-16B6-4B19-9D27-1EAFA1AD9914}"/>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09</a:t>
            </a:r>
          </a:p>
        </p:txBody>
      </p:sp>
      <p:sp>
        <p:nvSpPr>
          <p:cNvPr id="2" name="">
            <a:extLst xmlns:a="http://schemas.openxmlformats.org/drawingml/2006/main">
              <a:ext uri="{FF2B5EF4-FFF2-40B4-BE49-F238E27FC236}">
                <a16:creationId xmlns:a16="http://schemas.microsoft.com/office/drawing/2014/main" id="{7A39E890-35BA-47F2-A971-6E1E2C182837}"/>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C3 — Preuve d’exécution du pipeline</a:t>
            </a:r>
          </a:p>
        </p:txBody>
      </p:sp>
      <p:sp>
        <p:nvSpPr>
          <p:cNvPr id="3" name="">
            <a:extLst xmlns:a="http://schemas.openxmlformats.org/drawingml/2006/main">
              <a:ext uri="{FF2B5EF4-FFF2-40B4-BE49-F238E27FC236}">
                <a16:creationId xmlns:a16="http://schemas.microsoft.com/office/drawing/2014/main" id="{F1F693F2-275A-45C4-A729-48D65097BF4B}"/>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47213F-7EFB-49B6-A073-928039882FB3}"/>
              </a:ext>
            </a:extLst>
          </p:cNvPr>
          <p:cNvSpPr>
            <a:spLocks xmlns:a="http://schemas.openxmlformats.org/drawingml/2006/main" noGrp="1"/>
          </p:cNvSpPr>
          <p:nvPr/>
        </p:nvSpPr>
        <p:spPr>
          <a:xfrm xmlns:a="http://schemas.openxmlformats.org/drawingml/2006/main">
            <a:off x="685800" y="10858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Chaque ligne d’entrée apparaît une fois, soit dans le jeu final, soit dans la quarantaine</a:t>
            </a:r>
          </a:p>
        </p:txBody>
      </p:sp>
      <p:graphicFrame>
        <p:nvGraphicFramePr>
          <p:cNvPr id="17" name="Chart"/>
          <p:cNvGraphicFramePr/>
          <p:nvPr/>
        </p:nvGraphicFramePr>
        <p:xfrm>
          <a:off xmlns:a="http://schemas.openxmlformats.org/drawingml/2006/main" x="590550" y="1504950"/>
          <a:ext xmlns:a="http://schemas.openxmlformats.org/drawingml/2006/main" cx="5334000" cy="3143250"/>
        </p:xfrm>
        <a:graphic xmlns:a="http://schemas.openxmlformats.org/drawingml/2006/main">
          <a:graphicData uri="http://schemas.openxmlformats.org/drawingml/2006/chart">
            <c:chart xmlns:r="http://schemas.openxmlformats.org/officeDocument/2006/relationships" xmlns:c="http://schemas.openxmlformats.org/drawingml/2006/chart" r:id="R1d48623b71aa4444"/>
          </a:graphicData>
        </a:graphic>
      </p:graphicFrame>
      <p:sp>
        <p:nvSpPr>
          <p:cNvPr id="6" name="">
            <a:extLst xmlns:a="http://schemas.openxmlformats.org/drawingml/2006/main">
              <a:ext uri="{FF2B5EF4-FFF2-40B4-BE49-F238E27FC236}">
                <a16:creationId xmlns:a16="http://schemas.microsoft.com/office/drawing/2014/main" id="{87561294-4CEC-4E23-9731-1D0B7C6ACE29}"/>
              </a:ext>
            </a:extLst>
          </p:cNvPr>
          <p:cNvSpPr>
            <a:spLocks xmlns:a="http://schemas.openxmlformats.org/drawingml/2006/main" noGrp="1"/>
          </p:cNvSpPr>
          <p:nvPr/>
        </p:nvSpPr>
        <p:spPr>
          <a:xfrm xmlns:a="http://schemas.openxmlformats.org/drawingml/2006/main">
            <a:off x="762000" y="48006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defRPr sz="1875" b="1">
                <a:solidFill>
                  <a:srgbClr val="173B57"/>
                </a:solidFill>
                <a:latin typeface="Helvetica"/>
                <a:ea typeface="Helvetica"/>
                <a:cs typeface="Helvetica"/>
              </a:defRPr>
            </a:pPr>
            <a:r>
              <a:rPr sz="1875" b="1">
                <a:solidFill>
                  <a:srgbClr val="173B57"/>
                </a:solidFill>
                <a:latin typeface="Helvetica"/>
                <a:ea typeface="Helvetica"/>
                <a:cs typeface="Helvetica"/>
              </a:rPr>
              <a:t>1 167 + 450 + 514 + 0 = 2 131</a:t>
            </a:r>
          </a:p>
        </p:txBody>
      </p:sp>
      <p:sp>
        <p:nvSpPr>
          <p:cNvPr id="7" name="">
            <a:extLst xmlns:a="http://schemas.openxmlformats.org/drawingml/2006/main">
              <a:ext uri="{FF2B5EF4-FFF2-40B4-BE49-F238E27FC236}">
                <a16:creationId xmlns:a16="http://schemas.microsoft.com/office/drawing/2014/main" id="{8F9D57D6-F805-4BAB-89D1-4A8B4C12E087}"/>
              </a:ext>
            </a:extLst>
          </p:cNvPr>
          <p:cNvSpPr>
            <a:spLocks xmlns:a="http://schemas.openxmlformats.org/drawingml/2006/main" noGrp="1"/>
          </p:cNvSpPr>
          <p:nvPr/>
        </p:nvSpPr>
        <p:spPr>
          <a:xfrm xmlns:a="http://schemas.openxmlformats.org/drawingml/2006/main">
            <a:off x="6429375" y="14668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Exemples réels</a:t>
            </a:r>
          </a:p>
        </p:txBody>
      </p:sp>
      <p:graphicFrame>
        <p:nvGraphicFramePr>
          <p:cNvPr id="20" name=""/>
          <p:cNvGraphicFramePr/>
          <p:nvPr/>
        </p:nvGraphicFramePr>
        <p:xfrm>
          <a:off xmlns:a="http://schemas.openxmlformats.org/drawingml/2006/main" x="6429375" y="1847850"/>
          <a:ext xmlns:a="http://schemas.openxmlformats.org/drawingml/2006/main" cx="4857750" cy="2143125"/>
        </p:xfrm>
        <a:graphic xmlns:a="http://schemas.openxmlformats.org/drawingml/2006/main">
          <a:graphicData uri="http://schemas.openxmlformats.org/drawingml/2006/table">
            <a:tbl>
              <a:tblPr/>
              <a:tblGrid>
                <a:gridCol w="1214438"/>
                <a:gridCol w="1214438"/>
                <a:gridCol w="1214438"/>
                <a:gridCol w="1214438"/>
              </a:tblGrid>
              <a:tr h="535781">
                <a:tc>
                  <a:txBody>
                    <a:bodyPr/>
                    <a:lstStyle/>
                    <a:p>
                      <a:r>
                        <a:rPr sz="1200" b="1">
                          <a:solidFill>
                            <a:srgbClr val="FFFFFF"/>
                          </a:solidFill>
                          <a:latin typeface="Helvetica"/>
                          <a:ea typeface="Helvetica"/>
                          <a:cs typeface="Helvetica"/>
                        </a:rPr>
                        <a:t>item</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décision</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taux</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EUR</a:t>
                      </a:r>
                    </a:p>
                  </a:txBody>
                  <a:tcPr marL="76200" marR="76200" marT="57150" marB="57150" anchor="ctr">
                    <a:solidFill>
                      <a:srgbClr val="173B57"/>
                    </a:solidFill>
                  </a:tcPr>
                </a:tc>
              </a:tr>
              <a:tr h="535781">
                <a:tc>
                  <a:txBody>
                    <a:bodyPr/>
                    <a:lstStyle/>
                    <a:p>
                      <a:r>
                        <a:rPr sz="975">
                          <a:solidFill>
                            <a:srgbClr val="11233B"/>
                          </a:solidFill>
                          <a:latin typeface="Helvetica"/>
                          <a:ea typeface="Helvetica"/>
                          <a:cs typeface="Helvetica"/>
                        </a:rPr>
                        <a:t>331</a:t>
                      </a:r>
                    </a:p>
                  </a:txBody>
                  <a:tcPr marL="76200" marR="76200" marT="47625" marB="47625" anchor="ctr"/>
                </a:tc>
                <a:tc>
                  <a:txBody>
                    <a:bodyPr/>
                    <a:lstStyle/>
                    <a:p>
                      <a:r>
                        <a:rPr sz="975">
                          <a:solidFill>
                            <a:srgbClr val="11233B"/>
                          </a:solidFill>
                          <a:latin typeface="Helvetica"/>
                          <a:ea typeface="Helvetica"/>
                          <a:cs typeface="Helvetica"/>
                        </a:rPr>
                        <a:t>ACCEPTÉE</a:t>
                      </a:r>
                    </a:p>
                  </a:txBody>
                  <a:tcPr marL="76200" marR="76200" marT="47625" marB="47625" anchor="ctr"/>
                </a:tc>
                <a:tc>
                  <a:txBody>
                    <a:bodyPr/>
                    <a:lstStyle/>
                    <a:p>
                      <a:r>
                        <a:rPr sz="975">
                          <a:solidFill>
                            <a:srgbClr val="11233B"/>
                          </a:solidFill>
                          <a:latin typeface="Helvetica"/>
                          <a:ea typeface="Helvetica"/>
                          <a:cs typeface="Helvetica"/>
                        </a:rPr>
                        <a:t>26/01 · 1,0871</a:t>
                      </a:r>
                    </a:p>
                  </a:txBody>
                  <a:tcPr marL="76200" marR="76200" marT="47625" marB="47625" anchor="ctr"/>
                </a:tc>
                <a:tc>
                  <a:txBody>
                    <a:bodyPr/>
                    <a:lstStyle/>
                    <a:p>
                      <a:r>
                        <a:rPr sz="975">
                          <a:solidFill>
                            <a:srgbClr val="11233B"/>
                          </a:solidFill>
                          <a:latin typeface="Helvetica"/>
                          <a:ea typeface="Helvetica"/>
                          <a:cs typeface="Helvetica"/>
                        </a:rPr>
                        <a:t>91,94</a:t>
                      </a:r>
                    </a:p>
                  </a:txBody>
                  <a:tcPr marL="76200" marR="76200" marT="47625" marB="47625" anchor="ctr"/>
                </a:tc>
              </a:tr>
              <a:tr h="535781">
                <a:tc>
                  <a:txBody>
                    <a:bodyPr/>
                    <a:lstStyle/>
                    <a:p>
                      <a:r>
                        <a:rPr sz="975">
                          <a:solidFill>
                            <a:srgbClr val="11233B"/>
                          </a:solidFill>
                          <a:latin typeface="Helvetica"/>
                          <a:ea typeface="Helvetica"/>
                          <a:cs typeface="Helvetica"/>
                        </a:rPr>
                        <a:t>140</a:t>
                      </a:r>
                    </a:p>
                  </a:txBody>
                  <a:tcPr marL="76200" marR="76200" marT="47625" marB="47625" anchor="ctr">
                    <a:solidFill>
                      <a:srgbClr val="EEEAE3"/>
                    </a:solidFill>
                  </a:tcPr>
                </a:tc>
                <a:tc>
                  <a:txBody>
                    <a:bodyPr/>
                    <a:lstStyle/>
                    <a:p>
                      <a:r>
                        <a:rPr sz="975">
                          <a:solidFill>
                            <a:srgbClr val="11233B"/>
                          </a:solidFill>
                          <a:latin typeface="Helvetica"/>
                          <a:ea typeface="Helvetica"/>
                          <a:cs typeface="Helvetica"/>
                        </a:rPr>
                        <a:t>EXCLUE</a:t>
                      </a:r>
                    </a:p>
                  </a:txBody>
                  <a:tcPr marL="76200" marR="76200" marT="47625" marB="47625" anchor="ctr">
                    <a:solidFill>
                      <a:srgbClr val="EEEAE3"/>
                    </a:solidFill>
                  </a:tcPr>
                </a:tc>
                <a:tc>
                  <a:txBody>
                    <a:bodyPr/>
                    <a:lstStyle/>
                    <a:p>
                      <a:r>
                        <a:rPr sz="975">
                          <a:solidFill>
                            <a:srgbClr val="11233B"/>
                          </a:solidFill>
                          <a:latin typeface="Helvetica"/>
                          <a:ea typeface="Helvetica"/>
                          <a:cs typeface="Helvetica"/>
                        </a:rPr>
                        <a:t>—</a:t>
                      </a:r>
                    </a:p>
                  </a:txBody>
                  <a:tcPr marL="76200" marR="76200" marT="47625" marB="47625" anchor="ctr">
                    <a:solidFill>
                      <a:srgbClr val="EEEAE3"/>
                    </a:solidFill>
                  </a:tcPr>
                </a:tc>
                <a:tc>
                  <a:txBody>
                    <a:bodyPr/>
                    <a:lstStyle/>
                    <a:p>
                      <a:r>
                        <a:rPr sz="975">
                          <a:solidFill>
                            <a:srgbClr val="11233B"/>
                          </a:solidFill>
                          <a:latin typeface="Helvetica"/>
                          <a:ea typeface="Helvetica"/>
                          <a:cs typeface="Helvetica"/>
                        </a:rPr>
                        <a:t>—</a:t>
                      </a:r>
                    </a:p>
                  </a:txBody>
                  <a:tcPr marL="76200" marR="76200" marT="47625" marB="47625" anchor="ctr">
                    <a:solidFill>
                      <a:srgbClr val="EEEAE3"/>
                    </a:solidFill>
                  </a:tcPr>
                </a:tc>
              </a:tr>
              <a:tr h="535781">
                <a:tc>
                  <a:txBody>
                    <a:bodyPr/>
                    <a:lstStyle/>
                    <a:p>
                      <a:r>
                        <a:rPr sz="975">
                          <a:solidFill>
                            <a:srgbClr val="11233B"/>
                          </a:solidFill>
                          <a:latin typeface="Helvetica"/>
                          <a:ea typeface="Helvetica"/>
                          <a:cs typeface="Helvetica"/>
                        </a:rPr>
                        <a:t>851</a:t>
                      </a:r>
                    </a:p>
                  </a:txBody>
                  <a:tcPr marL="76200" marR="76200" marT="47625" marB="47625" anchor="ctr"/>
                </a:tc>
                <a:tc>
                  <a:txBody>
                    <a:bodyPr/>
                    <a:lstStyle/>
                    <a:p>
                      <a:r>
                        <a:rPr sz="975">
                          <a:solidFill>
                            <a:srgbClr val="11233B"/>
                          </a:solidFill>
                          <a:latin typeface="Helvetica"/>
                          <a:ea typeface="Helvetica"/>
                          <a:cs typeface="Helvetica"/>
                        </a:rPr>
                        <a:t>À VÉRIFIER</a:t>
                      </a:r>
                    </a:p>
                  </a:txBody>
                  <a:tcPr marL="76200" marR="76200" marT="47625" marB="47625" anchor="ctr"/>
                </a:tc>
                <a:tc>
                  <a:txBody>
                    <a:bodyPr/>
                    <a:lstStyle/>
                    <a:p>
                      <a:r>
                        <a:rPr sz="975">
                          <a:solidFill>
                            <a:srgbClr val="11233B"/>
                          </a:solidFill>
                          <a:latin typeface="Helvetica"/>
                          <a:ea typeface="Helvetica"/>
                          <a:cs typeface="Helvetica"/>
                        </a:rPr>
                        <a:t>—</a:t>
                      </a:r>
                    </a:p>
                  </a:txBody>
                  <a:tcPr marL="76200" marR="76200" marT="47625" marB="47625" anchor="ctr"/>
                </a:tc>
                <a:tc>
                  <a:txBody>
                    <a:bodyPr/>
                    <a:lstStyle/>
                    <a:p>
                      <a:r>
                        <a:rPr sz="975">
                          <a:solidFill>
                            <a:srgbClr val="11233B"/>
                          </a:solidFill>
                          <a:latin typeface="Helvetica"/>
                          <a:ea typeface="Helvetica"/>
                          <a:cs typeface="Helvetica"/>
                        </a:rPr>
                        <a:t>—</a:t>
                      </a:r>
                    </a:p>
                  </a:txBody>
                  <a:tcPr marL="76200" marR="76200" marT="47625" marB="47625" anchor="ctr"/>
                </a:tc>
              </a:tr>
            </a:tbl>
          </a:graphicData>
        </a:graphic>
      </p:graphicFrame>
      <p:sp>
        <p:nvSpPr>
          <p:cNvPr id="9" name="">
            <a:extLst xmlns:a="http://schemas.openxmlformats.org/drawingml/2006/main">
              <a:ext uri="{FF2B5EF4-FFF2-40B4-BE49-F238E27FC236}">
                <a16:creationId xmlns:a16="http://schemas.microsoft.com/office/drawing/2014/main" id="{83277A95-D862-43A2-A130-6EC645DE7D6C}"/>
              </a:ext>
            </a:extLst>
          </p:cNvPr>
          <p:cNvSpPr>
            <a:spLocks xmlns:a="http://schemas.openxmlformats.org/drawingml/2006/main" noGrp="1"/>
          </p:cNvSpPr>
          <p:nvPr/>
        </p:nvSpPr>
        <p:spPr>
          <a:xfrm xmlns:a="http://schemas.openxmlformats.org/drawingml/2006/main">
            <a:off x="6429375" y="43243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Contrôles indépendants</a:t>
            </a:r>
          </a:p>
        </p:txBody>
      </p:sp>
      <p:sp>
        <p:nvSpPr>
          <p:cNvPr id="10" name="">
            <a:extLst xmlns:a="http://schemas.openxmlformats.org/drawingml/2006/main">
              <a:ext uri="{FF2B5EF4-FFF2-40B4-BE49-F238E27FC236}">
                <a16:creationId xmlns:a16="http://schemas.microsoft.com/office/drawing/2014/main" id="{12387FB5-A667-424D-B60D-28B2C1C09A67}"/>
              </a:ext>
            </a:extLst>
          </p:cNvPr>
          <p:cNvSpPr>
            <a:spLocks xmlns:a="http://schemas.openxmlformats.org/drawingml/2006/main" noGrp="1"/>
          </p:cNvSpPr>
          <p:nvPr/>
        </p:nvSpPr>
        <p:spPr>
          <a:xfrm xmlns:a="http://schemas.openxmlformats.org/drawingml/2006/main">
            <a:off x="6429375" y="4667250"/>
            <a:ext cx="4762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 conservation des volumes</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 unicité de la clé finale</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 taux âgé de 0 à 7 jours</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 conversion EUR ligne par ligne</a:t>
            </a:r>
          </a:p>
          <a:p xmlns:a="http://schemas.openxmlformats.org/drawingml/2006/main">
            <a:pPr algn="l">
              <a:defRPr sz="1425" b="0">
                <a:solidFill>
                  <a:srgbClr val="11233B"/>
                </a:solidFill>
                <a:latin typeface="Helvetica"/>
                <a:ea typeface="Helvetica"/>
                <a:cs typeface="Helvetica"/>
              </a:defRPr>
            </a:pPr>
            <a:r>
              <a:rPr sz="1425" b="0">
                <a:solidFill>
                  <a:srgbClr val="11233B"/>
                </a:solidFill>
                <a:latin typeface="Helvetica"/>
                <a:ea typeface="Helvetica"/>
                <a:cs typeface="Helvetica"/>
              </a:rPr>
              <a:t>✓ séparation des fixtures</a:t>
            </a:r>
          </a:p>
        </p:txBody>
      </p:sp>
      <p:sp>
        <p:nvSpPr>
          <p:cNvPr id="11" name="">
            <a:extLst xmlns:a="http://schemas.openxmlformats.org/drawingml/2006/main">
              <a:ext uri="{FF2B5EF4-FFF2-40B4-BE49-F238E27FC236}">
                <a16:creationId xmlns:a16="http://schemas.microsoft.com/office/drawing/2014/main" id="{77B1B675-923A-4065-B8FB-8E155E00F7A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52994AE-1F6E-442E-9420-232D30EAFFAB}"/>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output/rapport_qualite.json; evidence/rapport_de_tests/c3_output_verification.json     9/12</a:t>
            </a:r>
          </a:p>
        </p:txBody>
      </p:sp>
    </p:spTree>
    <p:extLst>
      <p:ext uri="{BB962C8B-B14F-4D97-AF65-F5344CB8AC3E}">
        <p14:creationId xmlns:p14="http://schemas.microsoft.com/office/powerpoint/2010/main" val="1967148025"/>
      </p:ext>
    </p:extLst>
  </p:cSld>
</p:sld>
</file>

<file path=ppt/slides/slide10.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DB831C2-1D3A-4D50-9E08-EE79D0E0AAA1}"/>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10</a:t>
            </a:r>
          </a:p>
        </p:txBody>
      </p:sp>
      <p:sp>
        <p:nvSpPr>
          <p:cNvPr id="2" name="">
            <a:extLst xmlns:a="http://schemas.openxmlformats.org/drawingml/2006/main">
              <a:ext uri="{FF2B5EF4-FFF2-40B4-BE49-F238E27FC236}">
                <a16:creationId xmlns:a16="http://schemas.microsoft.com/office/drawing/2014/main" id="{7FD30456-50C0-4E9E-9EE3-D6D7928E0F64}"/>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Résultat du POC sur les données publiques</a:t>
            </a:r>
          </a:p>
        </p:txBody>
      </p:sp>
      <p:sp>
        <p:nvSpPr>
          <p:cNvPr id="3" name="">
            <a:extLst xmlns:a="http://schemas.openxmlformats.org/drawingml/2006/main">
              <a:ext uri="{FF2B5EF4-FFF2-40B4-BE49-F238E27FC236}">
                <a16:creationId xmlns:a16="http://schemas.microsoft.com/office/drawing/2014/main" id="{79AA2CD3-B2E9-4D83-9847-FEA9B614361B}"/>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94B5D1-99A3-4E54-AD5B-885F92392E91}"/>
              </a:ext>
            </a:extLst>
          </p:cNvPr>
          <p:cNvSpPr>
            <a:spLocks xmlns:a="http://schemas.openxmlformats.org/drawingml/2006/main" noGrp="1"/>
          </p:cNvSpPr>
          <p:nvPr/>
        </p:nvSpPr>
        <p:spPr>
          <a:xfrm xmlns:a="http://schemas.openxmlformats.org/drawingml/2006/main">
            <a:off x="685800" y="10858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0">
                <a:solidFill>
                  <a:srgbClr val="5E6D78"/>
                </a:solidFill>
                <a:latin typeface="Helvetica"/>
                <a:ea typeface="Helvetica"/>
                <a:cs typeface="Helvetica"/>
              </a:defRPr>
            </a:pPr>
            <a:r>
              <a:rPr sz="1200" b="0">
                <a:solidFill>
                  <a:srgbClr val="5E6D78"/>
                </a:solidFill>
                <a:latin typeface="Helvetica"/>
                <a:ea typeface="Helvetica"/>
                <a:cs typeface="Helvetica"/>
              </a:rPr>
              <a:t>Le montant en euros reste conditionnel à l’hypothèse non vérifiée que sale_price représente des USD</a:t>
            </a:r>
          </a:p>
        </p:txBody>
      </p:sp>
      <p:sp>
        <p:nvSpPr>
          <p:cNvPr id="5" name="">
            <a:extLst xmlns:a="http://schemas.openxmlformats.org/drawingml/2006/main">
              <a:ext uri="{FF2B5EF4-FFF2-40B4-BE49-F238E27FC236}">
                <a16:creationId xmlns:a16="http://schemas.microsoft.com/office/drawing/2014/main" id="{393B7166-4867-4CB2-98A8-5ADBB49BD46A}"/>
              </a:ext>
            </a:extLst>
          </p:cNvPr>
          <p:cNvSpPr>
            <a:spLocks xmlns:a="http://schemas.openxmlformats.org/drawingml/2006/main" noGrp="1"/>
          </p:cNvSpPr>
          <p:nvPr/>
        </p:nvSpPr>
        <p:spPr>
          <a:xfrm xmlns:a="http://schemas.openxmlformats.org/drawingml/2006/main">
            <a:off x="685800" y="161925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3600" b="1">
                <a:solidFill>
                  <a:srgbClr val="2F7D64"/>
                </a:solidFill>
                <a:latin typeface="Helvetica"/>
                <a:ea typeface="Helvetica"/>
                <a:cs typeface="Helvetica"/>
              </a:defRPr>
            </a:pPr>
            <a:r>
              <a:rPr sz="3600" b="1">
                <a:solidFill>
                  <a:srgbClr val="2F7D64"/>
                </a:solidFill>
                <a:latin typeface="Helvetica"/>
                <a:ea typeface="Helvetica"/>
                <a:cs typeface="Helvetica"/>
              </a:rPr>
              <a:t>67 052,70 EUR</a:t>
            </a:r>
          </a:p>
        </p:txBody>
      </p:sp>
      <p:sp>
        <p:nvSpPr>
          <p:cNvPr id="6" name="">
            <a:extLst xmlns:a="http://schemas.openxmlformats.org/drawingml/2006/main">
              <a:ext uri="{FF2B5EF4-FFF2-40B4-BE49-F238E27FC236}">
                <a16:creationId xmlns:a16="http://schemas.microsoft.com/office/drawing/2014/main" id="{042E19CC-4DC0-443C-9205-B383C4A34505}"/>
              </a:ext>
            </a:extLst>
          </p:cNvPr>
          <p:cNvSpPr>
            <a:spLocks xmlns:a="http://schemas.openxmlformats.org/drawingml/2006/main" noGrp="1"/>
          </p:cNvSpPr>
          <p:nvPr/>
        </p:nvSpPr>
        <p:spPr>
          <a:xfrm xmlns:a="http://schemas.openxmlformats.org/drawingml/2006/main">
            <a:off x="742950" y="257175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75" b="0">
                <a:solidFill>
                  <a:srgbClr val="5E6D78"/>
                </a:solidFill>
                <a:latin typeface="Helvetica"/>
                <a:ea typeface="Helvetica"/>
                <a:cs typeface="Helvetica"/>
              </a:defRPr>
            </a:pPr>
            <a:r>
              <a:rPr sz="1575" b="0">
                <a:solidFill>
                  <a:srgbClr val="5E6D78"/>
                </a:solidFill>
                <a:latin typeface="Helvetica"/>
                <a:ea typeface="Helvetica"/>
                <a:cs typeface="Helvetica"/>
              </a:rPr>
              <a:t>Somme des 1 167 lignes acceptées, après arrondi au centime par ligne</a:t>
            </a:r>
          </a:p>
        </p:txBody>
      </p:sp>
      <p:sp>
        <p:nvSpPr>
          <p:cNvPr id="7" name="">
            <a:extLst xmlns:a="http://schemas.openxmlformats.org/drawingml/2006/main">
              <a:ext uri="{FF2B5EF4-FFF2-40B4-BE49-F238E27FC236}">
                <a16:creationId xmlns:a16="http://schemas.microsoft.com/office/drawing/2014/main" id="{7E15BBF7-8ED1-4BD2-BD27-B4309C5E2E45}"/>
              </a:ext>
            </a:extLst>
          </p:cNvPr>
          <p:cNvSpPr>
            <a:spLocks xmlns:a="http://schemas.openxmlformats.org/drawingml/2006/main" noGrp="1"/>
          </p:cNvSpPr>
          <p:nvPr/>
        </p:nvSpPr>
        <p:spPr>
          <a:xfrm xmlns:a="http://schemas.openxmlformats.org/drawingml/2006/main">
            <a:off x="6419850" y="14668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Répartition des 964 lignes hors jeu final</a:t>
            </a:r>
          </a:p>
        </p:txBody>
      </p:sp>
      <p:graphicFrame>
        <p:nvGraphicFramePr>
          <p:cNvPr id="20" name="Chart"/>
          <p:cNvGraphicFramePr/>
          <p:nvPr/>
        </p:nvGraphicFramePr>
        <p:xfrm>
          <a:off xmlns:a="http://schemas.openxmlformats.org/drawingml/2006/main" x="6191250" y="1905000"/>
          <a:ext xmlns:a="http://schemas.openxmlformats.org/drawingml/2006/main" cx="5048250" cy="3143250"/>
        </p:xfrm>
        <a:graphic xmlns:a="http://schemas.openxmlformats.org/drawingml/2006/main">
          <a:graphicData uri="http://schemas.openxmlformats.org/drawingml/2006/chart">
            <c:chart xmlns:r="http://schemas.openxmlformats.org/officeDocument/2006/relationships" xmlns:c="http://schemas.openxmlformats.org/drawingml/2006/chart" r:id="Rf9763d36386644e9"/>
          </a:graphicData>
        </a:graphic>
      </p:graphicFrame>
      <p:graphicFrame>
        <p:nvGraphicFramePr>
          <p:cNvPr id="21" name=""/>
          <p:cNvGraphicFramePr/>
          <p:nvPr/>
        </p:nvGraphicFramePr>
        <p:xfrm>
          <a:off xmlns:a="http://schemas.openxmlformats.org/drawingml/2006/main" x="762000" y="3829050"/>
          <a:ext xmlns:a="http://schemas.openxmlformats.org/drawingml/2006/main" cx="4476750" cy="1714500"/>
        </p:xfrm>
        <a:graphic xmlns:a="http://schemas.openxmlformats.org/drawingml/2006/main">
          <a:graphicData uri="http://schemas.openxmlformats.org/drawingml/2006/table">
            <a:tbl>
              <a:tblPr/>
              <a:tblGrid>
                <a:gridCol w="2238375"/>
                <a:gridCol w="2238375"/>
              </a:tblGrid>
              <a:tr h="428625">
                <a:tc>
                  <a:txBody>
                    <a:bodyPr/>
                    <a:lstStyle/>
                    <a:p>
                      <a:r>
                        <a:rPr sz="1200" b="1">
                          <a:solidFill>
                            <a:srgbClr val="FFFFFF"/>
                          </a:solidFill>
                          <a:latin typeface="Helvetica"/>
                          <a:ea typeface="Helvetica"/>
                          <a:cs typeface="Helvetica"/>
                        </a:rPr>
                        <a:t>Contrôle</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Résultat</a:t>
                      </a:r>
                    </a:p>
                  </a:txBody>
                  <a:tcPr marL="76200" marR="76200" marT="57150" marB="57150" anchor="ctr">
                    <a:solidFill>
                      <a:srgbClr val="173B57"/>
                    </a:solidFill>
                  </a:tcPr>
                </a:tc>
              </a:tr>
              <a:tr h="428625">
                <a:tc>
                  <a:txBody>
                    <a:bodyPr/>
                    <a:lstStyle/>
                    <a:p>
                      <a:r>
                        <a:rPr sz="1125">
                          <a:solidFill>
                            <a:srgbClr val="11233B"/>
                          </a:solidFill>
                          <a:latin typeface="Helvetica"/>
                          <a:ea typeface="Helvetica"/>
                          <a:cs typeface="Helvetica"/>
                        </a:rPr>
                        <a:t>Clés finales uniques</a:t>
                      </a:r>
                    </a:p>
                  </a:txBody>
                  <a:tcPr marL="76200" marR="76200" marT="47625" marB="47625" anchor="ctr"/>
                </a:tc>
                <a:tc>
                  <a:txBody>
                    <a:bodyPr/>
                    <a:lstStyle/>
                    <a:p>
                      <a:r>
                        <a:rPr sz="1125">
                          <a:solidFill>
                            <a:srgbClr val="11233B"/>
                          </a:solidFill>
                          <a:latin typeface="Helvetica"/>
                          <a:ea typeface="Helvetica"/>
                          <a:cs typeface="Helvetica"/>
                        </a:rPr>
                        <a:t>1 167 / 1 167</a:t>
                      </a:r>
                    </a:p>
                  </a:txBody>
                  <a:tcPr marL="76200" marR="76200" marT="47625" marB="47625" anchor="ctr"/>
                </a:tc>
              </a:tr>
              <a:tr h="428625">
                <a:tc>
                  <a:txBody>
                    <a:bodyPr/>
                    <a:lstStyle/>
                    <a:p>
                      <a:r>
                        <a:rPr sz="1125">
                          <a:solidFill>
                            <a:srgbClr val="11233B"/>
                          </a:solidFill>
                          <a:latin typeface="Helvetica"/>
                          <a:ea typeface="Helvetica"/>
                          <a:cs typeface="Helvetica"/>
                        </a:rPr>
                        <a:t>Taux ou prix non positif</a:t>
                      </a:r>
                    </a:p>
                  </a:txBody>
                  <a:tcPr marL="76200" marR="76200" marT="47625" marB="47625" anchor="ctr">
                    <a:solidFill>
                      <a:srgbClr val="EEEAE3"/>
                    </a:solidFill>
                  </a:tcPr>
                </a:tc>
                <a:tc>
                  <a:txBody>
                    <a:bodyPr/>
                    <a:lstStyle/>
                    <a:p>
                      <a:r>
                        <a:rPr sz="1125">
                          <a:solidFill>
                            <a:srgbClr val="11233B"/>
                          </a:solidFill>
                          <a:latin typeface="Helvetica"/>
                          <a:ea typeface="Helvetica"/>
                          <a:cs typeface="Helvetica"/>
                        </a:rPr>
                        <a:t>0</a:t>
                      </a:r>
                    </a:p>
                  </a:txBody>
                  <a:tcPr marL="76200" marR="76200" marT="47625" marB="47625" anchor="ctr">
                    <a:solidFill>
                      <a:srgbClr val="EEEAE3"/>
                    </a:solidFill>
                  </a:tcPr>
                </a:tc>
              </a:tr>
              <a:tr h="428625">
                <a:tc>
                  <a:txBody>
                    <a:bodyPr/>
                    <a:lstStyle/>
                    <a:p>
                      <a:r>
                        <a:rPr sz="1125">
                          <a:solidFill>
                            <a:srgbClr val="11233B"/>
                          </a:solidFill>
                          <a:latin typeface="Helvetica"/>
                          <a:ea typeface="Helvetica"/>
                          <a:cs typeface="Helvetica"/>
                        </a:rPr>
                        <a:t>Taux âgé de plus de 7 jours</a:t>
                      </a:r>
                    </a:p>
                  </a:txBody>
                  <a:tcPr marL="76200" marR="76200" marT="47625" marB="47625" anchor="ctr"/>
                </a:tc>
                <a:tc>
                  <a:txBody>
                    <a:bodyPr/>
                    <a:lstStyle/>
                    <a:p>
                      <a:r>
                        <a:rPr sz="1125">
                          <a:solidFill>
                            <a:srgbClr val="11233B"/>
                          </a:solidFill>
                          <a:latin typeface="Helvetica"/>
                          <a:ea typeface="Helvetica"/>
                          <a:cs typeface="Helvetica"/>
                        </a:rPr>
                        <a:t>0</a:t>
                      </a:r>
                    </a:p>
                  </a:txBody>
                  <a:tcPr marL="76200" marR="76200" marT="47625" marB="47625" anchor="ctr"/>
                </a:tc>
              </a:tr>
            </a:tbl>
          </a:graphicData>
        </a:graphic>
      </p:graphicFrame>
      <p:sp>
        <p:nvSpPr>
          <p:cNvPr id="10" name="">
            <a:extLst xmlns:a="http://schemas.openxmlformats.org/drawingml/2006/main">
              <a:ext uri="{FF2B5EF4-FFF2-40B4-BE49-F238E27FC236}">
                <a16:creationId xmlns:a16="http://schemas.microsoft.com/office/drawing/2014/main" id="{6FBAE199-1F95-44E8-85B4-057F55181C82}"/>
              </a:ext>
            </a:extLst>
          </p:cNvPr>
          <p:cNvSpPr>
            <a:spLocks xmlns:a="http://schemas.openxmlformats.org/drawingml/2006/main" noGrp="1"/>
          </p:cNvSpPr>
          <p:nvPr/>
        </p:nvSpPr>
        <p:spPr>
          <a:xfrm xmlns:a="http://schemas.openxmlformats.org/drawingml/2006/main">
            <a:off x="6191250" y="521970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98765"/>
          </a:bodyPr>
          <a:lstStyle xmlns:a="http://schemas.openxmlformats.org/drawingml/2006/main"/>
          <a:p xmlns:a="http://schemas.openxmlformats.org/drawingml/2006/main">
            <a:pPr algn="ctr">
              <a:defRPr sz="1350" b="1">
                <a:solidFill>
                  <a:srgbClr val="2F7D64"/>
                </a:solidFill>
                <a:latin typeface="Helvetica"/>
                <a:ea typeface="Helvetica"/>
                <a:cs typeface="Helvetica"/>
              </a:defRPr>
            </a:pPr>
            <a:r>
              <a:rPr sz="1350" b="1">
                <a:solidFill>
                  <a:srgbClr val="2F7D64"/>
                </a:solidFill>
                <a:latin typeface="Helvetica"/>
                <a:ea typeface="Helvetica"/>
                <a:cs typeface="Helvetica"/>
              </a:rPr>
              <a:t>0 rejet qualité observé dans l’extraction réelle</a:t>
            </a:r>
          </a:p>
          <a:p xmlns:a="http://schemas.openxmlformats.org/drawingml/2006/main">
            <a:pPr algn="ctr">
              <a:defRPr sz="1350" b="1">
                <a:solidFill>
                  <a:srgbClr val="2F7D64"/>
                </a:solidFill>
                <a:latin typeface="Helvetica"/>
                <a:ea typeface="Helvetica"/>
                <a:cs typeface="Helvetica"/>
              </a:defRPr>
            </a:pPr>
            <a:r>
              <a:rPr sz="1350" b="1">
                <a:solidFill>
                  <a:srgbClr val="2F7D64"/>
                </a:solidFill>
                <a:latin typeface="Helvetica"/>
                <a:ea typeface="Helvetica"/>
                <a:cs typeface="Helvetica"/>
              </a:rPr>
              <a:t>Les fixtures séparées prouvent que les règles détectent les anomalies.</a:t>
            </a:r>
          </a:p>
        </p:txBody>
      </p:sp>
      <p:sp>
        <p:nvSpPr>
          <p:cNvPr id="11" name="">
            <a:extLst xmlns:a="http://schemas.openxmlformats.org/drawingml/2006/main">
              <a:ext uri="{FF2B5EF4-FFF2-40B4-BE49-F238E27FC236}">
                <a16:creationId xmlns:a16="http://schemas.microsoft.com/office/drawing/2014/main" id="{8BA0FC84-F9D0-42B8-9E80-BBD85ABCF27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6C0B5A2-0216-4510-84E6-CCAFE6D075F4}"/>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output/ventes_fiables.csv; output/quarantaine.csv; output/rapport_qualite.json     10/12</a:t>
            </a:r>
          </a:p>
        </p:txBody>
      </p:sp>
    </p:spTree>
    <p:extLst>
      <p:ext uri="{BB962C8B-B14F-4D97-AF65-F5344CB8AC3E}">
        <p14:creationId xmlns:p14="http://schemas.microsoft.com/office/powerpoint/2010/main" val="1665370760"/>
      </p:ext>
    </p:extLst>
  </p:cSld>
</p:sld>
</file>

<file path=ppt/slides/slide11.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23FC9C1-96D7-4E15-AB91-B5C258056AF1}"/>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11</a:t>
            </a:r>
          </a:p>
        </p:txBody>
      </p:sp>
      <p:sp>
        <p:nvSpPr>
          <p:cNvPr id="2" name="">
            <a:extLst xmlns:a="http://schemas.openxmlformats.org/drawingml/2006/main">
              <a:ext uri="{FF2B5EF4-FFF2-40B4-BE49-F238E27FC236}">
                <a16:creationId xmlns:a16="http://schemas.microsoft.com/office/drawing/2014/main" id="{F43ACB23-8211-4F64-9FC3-0FD2F6248E53}"/>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Reproductibilité et CI</a:t>
            </a:r>
          </a:p>
        </p:txBody>
      </p:sp>
      <p:sp>
        <p:nvSpPr>
          <p:cNvPr id="3" name="">
            <a:extLst xmlns:a="http://schemas.openxmlformats.org/drawingml/2006/main">
              <a:ext uri="{FF2B5EF4-FFF2-40B4-BE49-F238E27FC236}">
                <a16:creationId xmlns:a16="http://schemas.microsoft.com/office/drawing/2014/main" id="{C94628FE-9317-4A37-A58B-40F9DB212735}"/>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1B4B98-9713-4853-83D6-0D600A3AC9FB}"/>
              </a:ext>
            </a:extLst>
          </p:cNvPr>
          <p:cNvSpPr>
            <a:spLocks xmlns:a="http://schemas.openxmlformats.org/drawingml/2006/main" noGrp="1"/>
          </p:cNvSpPr>
          <p:nvPr/>
        </p:nvSpPr>
        <p:spPr>
          <a:xfrm xmlns:a="http://schemas.openxmlformats.org/drawingml/2006/main">
            <a:off x="685800" y="14668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Reconstruction hors connexion</a:t>
            </a:r>
          </a:p>
        </p:txBody>
      </p:sp>
      <p:sp>
        <p:nvSpPr>
          <p:cNvPr id="5" name="">
            <a:extLst xmlns:a="http://schemas.openxmlformats.org/drawingml/2006/main">
              <a:ext uri="{FF2B5EF4-FFF2-40B4-BE49-F238E27FC236}">
                <a16:creationId xmlns:a16="http://schemas.microsoft.com/office/drawing/2014/main" id="{20A14E4C-2D8C-4695-B931-79474E57391F}"/>
              </a:ext>
            </a:extLst>
          </p:cNvPr>
          <p:cNvSpPr>
            <a:spLocks xmlns:a="http://schemas.openxmlformats.org/drawingml/2006/main" noGrp="1"/>
          </p:cNvSpPr>
          <p:nvPr/>
        </p:nvSpPr>
        <p:spPr>
          <a:xfrm xmlns:a="http://schemas.openxmlformats.org/drawingml/2006/main">
            <a:off x="685800" y="1885950"/>
            <a:ext cx="5238750" cy="1314450"/>
          </a:xfrm>
          <a:prstGeom xmlns:a="http://schemas.openxmlformats.org/drawingml/2006/main" prst="rect">
            <a:avLst/>
          </a:prstGeom>
          <a:solidFill xmlns:a="http://schemas.openxmlformats.org/drawingml/2006/main">
            <a:srgbClr val="11233B"/>
          </a:solidFill>
          <a:ln xmlns:a="http://schemas.openxmlformats.org/drawingml/2006/main" w="0">
            <a:noFill/>
          </a:ln>
        </p:spPr>
        <p:txBody>
          <a:bodyPr xmlns:a="http://schemas.openxmlformats.org/drawingml/2006/main" lIns="171450" tIns="133350" rIns="171450" bIns="133350" anchor="ctr">
            <a:normAutofit fontScale="100000"/>
          </a:bodyPr>
          <a:lstStyle xmlns:a="http://schemas.openxmlformats.org/drawingml/2006/main"/>
          <a:p xmlns:a="http://schemas.openxmlformats.org/drawingml/2006/main">
            <a:pPr algn="l">
              <a:defRPr sz="1350" b="0">
                <a:solidFill>
                  <a:srgbClr val="EAF3F6"/>
                </a:solidFill>
                <a:latin typeface="Menlo"/>
                <a:ea typeface="Menlo"/>
                <a:cs typeface="Menlo"/>
              </a:defRPr>
            </a:pPr>
            <a:r>
              <a:rPr sz="1350" b="0">
                <a:solidFill>
                  <a:srgbClr val="EAF3F6"/>
                </a:solidFill>
                <a:latin typeface="Menlo"/>
                <a:ea typeface="Menlo"/>
                <a:cs typeface="Menlo"/>
              </a:rPr>
              <a:t>python3 src/build_dataset.py</a:t>
            </a:r>
          </a:p>
          <a:p xmlns:a="http://schemas.openxmlformats.org/drawingml/2006/main">
            <a:pPr algn="l">
              <a:defRPr sz="1350" b="0">
                <a:solidFill>
                  <a:srgbClr val="EAF3F6"/>
                </a:solidFill>
                <a:latin typeface="Menlo"/>
                <a:ea typeface="Menlo"/>
                <a:cs typeface="Menlo"/>
              </a:defRPr>
            </a:pPr>
            <a:r>
              <a:rPr sz="1350" b="0">
                <a:solidFill>
                  <a:srgbClr val="EAF3F6"/>
                </a:solidFill>
                <a:latin typeface="Menlo"/>
                <a:ea typeface="Menlo"/>
                <a:cs typeface="Menlo"/>
              </a:rPr>
              <a:t>python3 src/verify_outputs.py</a:t>
            </a:r>
          </a:p>
          <a:p xmlns:a="http://schemas.openxmlformats.org/drawingml/2006/main">
            <a:pPr algn="l">
              <a:defRPr sz="1350" b="0">
                <a:solidFill>
                  <a:srgbClr val="EAF3F6"/>
                </a:solidFill>
                <a:latin typeface="Menlo"/>
                <a:ea typeface="Menlo"/>
                <a:cs typeface="Menlo"/>
              </a:defRPr>
            </a:pPr>
            <a:r>
              <a:rPr sz="1350" b="0">
                <a:solidFill>
                  <a:srgbClr val="EAF3F6"/>
                </a:solidFill>
                <a:latin typeface="Menlo"/>
                <a:ea typeface="Menlo"/>
                <a:cs typeface="Menlo"/>
              </a:rPr>
              <a:t>python3 -m unittest discover -s tests -v</a:t>
            </a:r>
          </a:p>
        </p:txBody>
      </p:sp>
      <p:sp>
        <p:nvSpPr>
          <p:cNvPr id="6" name="">
            <a:extLst xmlns:a="http://schemas.openxmlformats.org/drawingml/2006/main">
              <a:ext uri="{FF2B5EF4-FFF2-40B4-BE49-F238E27FC236}">
                <a16:creationId xmlns:a16="http://schemas.microsoft.com/office/drawing/2014/main" id="{70213BD6-41AC-4F89-948D-9A18A73A3CDE}"/>
              </a:ext>
            </a:extLst>
          </p:cNvPr>
          <p:cNvSpPr>
            <a:spLocks xmlns:a="http://schemas.openxmlformats.org/drawingml/2006/main" noGrp="1"/>
          </p:cNvSpPr>
          <p:nvPr/>
        </p:nvSpPr>
        <p:spPr>
          <a:xfrm xmlns:a="http://schemas.openxmlformats.org/drawingml/2006/main">
            <a:off x="762000" y="34766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2325" b="1">
                <a:solidFill>
                  <a:srgbClr val="2F7D64"/>
                </a:solidFill>
                <a:latin typeface="Helvetica"/>
                <a:ea typeface="Helvetica"/>
                <a:cs typeface="Helvetica"/>
              </a:defRPr>
            </a:pPr>
            <a:r>
              <a:rPr sz="2325" b="1">
                <a:solidFill>
                  <a:srgbClr val="2F7D64"/>
                </a:solidFill>
                <a:latin typeface="Helvetica"/>
                <a:ea typeface="Helvetica"/>
                <a:cs typeface="Helvetica"/>
              </a:rPr>
              <a:t>34 tests réussis</a:t>
            </a:r>
          </a:p>
        </p:txBody>
      </p:sp>
      <p:sp>
        <p:nvSpPr>
          <p:cNvPr id="7" name="">
            <a:extLst xmlns:a="http://schemas.openxmlformats.org/drawingml/2006/main">
              <a:ext uri="{FF2B5EF4-FFF2-40B4-BE49-F238E27FC236}">
                <a16:creationId xmlns:a16="http://schemas.microsoft.com/office/drawing/2014/main" id="{D674119C-BD0C-4E66-8D23-AF62C78011C6}"/>
              </a:ext>
            </a:extLst>
          </p:cNvPr>
          <p:cNvSpPr>
            <a:spLocks xmlns:a="http://schemas.openxmlformats.org/drawingml/2006/main" noGrp="1"/>
          </p:cNvSpPr>
          <p:nvPr/>
        </p:nvSpPr>
        <p:spPr>
          <a:xfrm xmlns:a="http://schemas.openxmlformats.org/drawingml/2006/main">
            <a:off x="762000" y="4095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00" b="0">
                <a:solidFill>
                  <a:srgbClr val="11233B"/>
                </a:solidFill>
                <a:latin typeface="Helvetica"/>
                <a:ea typeface="Helvetica"/>
                <a:cs typeface="Helvetica"/>
              </a:defRPr>
            </a:pPr>
            <a:r>
              <a:rPr sz="1500" b="0">
                <a:solidFill>
                  <a:srgbClr val="11233B"/>
                </a:solidFill>
                <a:latin typeface="Helvetica"/>
                <a:ea typeface="Helvetica"/>
                <a:cs typeface="Helvetica"/>
              </a:rPr>
              <a:t>Cas normaux, négatifs et limites</a:t>
            </a:r>
          </a:p>
          <a:p xmlns:a="http://schemas.openxmlformats.org/drawingml/2006/main">
            <a:pPr algn="l">
              <a:defRPr sz="1500" b="0">
                <a:solidFill>
                  <a:srgbClr val="11233B"/>
                </a:solidFill>
                <a:latin typeface="Helvetica"/>
                <a:ea typeface="Helvetica"/>
                <a:cs typeface="Helvetica"/>
              </a:defRPr>
            </a:pPr>
            <a:r>
              <a:rPr sz="1500" b="0">
                <a:solidFill>
                  <a:srgbClr val="11233B"/>
                </a:solidFill>
                <a:latin typeface="Helvetica"/>
                <a:ea typeface="Helvetica"/>
                <a:cs typeface="Helvetica"/>
              </a:rPr>
              <a:t>Intégration des deux snapshots</a:t>
            </a:r>
          </a:p>
          <a:p xmlns:a="http://schemas.openxmlformats.org/drawingml/2006/main">
            <a:pPr algn="l">
              <a:defRPr sz="1500" b="0">
                <a:solidFill>
                  <a:srgbClr val="11233B"/>
                </a:solidFill>
                <a:latin typeface="Helvetica"/>
                <a:ea typeface="Helvetica"/>
                <a:cs typeface="Helvetica"/>
              </a:defRPr>
            </a:pPr>
            <a:r>
              <a:rPr sz="1500" b="0">
                <a:solidFill>
                  <a:srgbClr val="11233B"/>
                </a:solidFill>
                <a:latin typeface="Helvetica"/>
                <a:ea typeface="Helvetica"/>
                <a:cs typeface="Helvetica"/>
              </a:rPr>
              <a:t>Bout en bout, unicité et idempotence</a:t>
            </a:r>
          </a:p>
        </p:txBody>
      </p:sp>
      <p:sp>
        <p:nvSpPr>
          <p:cNvPr id="8" name="">
            <a:extLst xmlns:a="http://schemas.openxmlformats.org/drawingml/2006/main">
              <a:ext uri="{FF2B5EF4-FFF2-40B4-BE49-F238E27FC236}">
                <a16:creationId xmlns:a16="http://schemas.microsoft.com/office/drawing/2014/main" id="{3F526227-4A64-4C11-A0DC-C17582D0D4E1}"/>
              </a:ext>
            </a:extLst>
          </p:cNvPr>
          <p:cNvSpPr>
            <a:spLocks xmlns:a="http://schemas.openxmlformats.org/drawingml/2006/main" noGrp="1"/>
          </p:cNvSpPr>
          <p:nvPr/>
        </p:nvSpPr>
        <p:spPr>
          <a:xfrm xmlns:a="http://schemas.openxmlformats.org/drawingml/2006/main">
            <a:off x="6667500" y="14668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Dépôt public</a:t>
            </a:r>
          </a:p>
        </p:txBody>
      </p:sp>
      <p:sp>
        <p:nvSpPr>
          <p:cNvPr id="9" name="">
            <a:extLst xmlns:a="http://schemas.openxmlformats.org/drawingml/2006/main">
              <a:ext uri="{FF2B5EF4-FFF2-40B4-BE49-F238E27FC236}">
                <a16:creationId xmlns:a16="http://schemas.microsoft.com/office/drawing/2014/main" id="{251F5348-DE60-43D8-B9E7-3CC082FC6AA9}"/>
              </a:ext>
            </a:extLst>
          </p:cNvPr>
          <p:cNvSpPr>
            <a:spLocks xmlns:a="http://schemas.openxmlformats.org/drawingml/2006/main" noGrp="1"/>
          </p:cNvSpPr>
          <p:nvPr/>
        </p:nvSpPr>
        <p:spPr>
          <a:xfrm xmlns:a="http://schemas.openxmlformats.org/drawingml/2006/main">
            <a:off x="6667500" y="19240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800" b="1">
                <a:solidFill>
                  <a:srgbClr val="173B57"/>
                </a:solidFill>
                <a:latin typeface="Helvetica"/>
                <a:ea typeface="Helvetica"/>
                <a:cs typeface="Helvetica"/>
              </a:defRPr>
            </a:pPr>
            <a:r>
              <a:rPr sz="1800" b="1">
                <a:solidFill>
                  <a:srgbClr val="173B57"/>
                </a:solidFill>
                <a:latin typeface="Helvetica"/>
                <a:ea typeface="Helvetica"/>
                <a:cs typeface="Helvetica"/>
              </a:rPr>
              <a:t>github.com/ljnoam/retail-quality</a:t>
            </a:r>
          </a:p>
        </p:txBody>
      </p:sp>
      <p:sp>
        <p:nvSpPr>
          <p:cNvPr id="10" name="">
            <a:extLst xmlns:a="http://schemas.openxmlformats.org/drawingml/2006/main">
              <a:ext uri="{FF2B5EF4-FFF2-40B4-BE49-F238E27FC236}">
                <a16:creationId xmlns:a16="http://schemas.microsoft.com/office/drawing/2014/main" id="{A6FEACFE-CB46-4B4A-A201-B1B4CA11BE67}"/>
              </a:ext>
            </a:extLst>
          </p:cNvPr>
          <p:cNvSpPr>
            <a:spLocks xmlns:a="http://schemas.openxmlformats.org/drawingml/2006/main" noGrp="1"/>
          </p:cNvSpPr>
          <p:nvPr/>
        </p:nvSpPr>
        <p:spPr>
          <a:xfrm xmlns:a="http://schemas.openxmlformats.org/drawingml/2006/main">
            <a:off x="6667500" y="27622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350" b="1">
                <a:solidFill>
                  <a:srgbClr val="E56B3F"/>
                </a:solidFill>
                <a:latin typeface="Helvetica"/>
                <a:ea typeface="Helvetica"/>
                <a:cs typeface="Helvetica"/>
              </a:defRPr>
            </a:pPr>
            <a:r>
              <a:rPr sz="1350" b="1">
                <a:solidFill>
                  <a:srgbClr val="E56B3F"/>
                </a:solidFill>
                <a:latin typeface="Helvetica"/>
                <a:ea typeface="Helvetica"/>
                <a:cs typeface="Helvetica"/>
              </a:rPr>
              <a:t>CI GitHub Actions</a:t>
            </a:r>
          </a:p>
        </p:txBody>
      </p:sp>
      <p:sp>
        <p:nvSpPr>
          <p:cNvPr id="11" name="">
            <a:extLst xmlns:a="http://schemas.openxmlformats.org/drawingml/2006/main">
              <a:ext uri="{FF2B5EF4-FFF2-40B4-BE49-F238E27FC236}">
                <a16:creationId xmlns:a16="http://schemas.microsoft.com/office/drawing/2014/main" id="{CD8ED425-4616-46A0-B3EB-1A6BEBB084AC}"/>
              </a:ext>
            </a:extLst>
          </p:cNvPr>
          <p:cNvSpPr>
            <a:spLocks xmlns:a="http://schemas.openxmlformats.org/drawingml/2006/main" noGrp="1"/>
          </p:cNvSpPr>
          <p:nvPr/>
        </p:nvSpPr>
        <p:spPr>
          <a:xfrm xmlns:a="http://schemas.openxmlformats.org/drawingml/2006/main">
            <a:off x="6667500" y="3181350"/>
            <a:ext cx="4476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500" b="0">
                <a:solidFill>
                  <a:srgbClr val="11233B"/>
                </a:solidFill>
                <a:latin typeface="Helvetica"/>
                <a:ea typeface="Helvetica"/>
                <a:cs typeface="Helvetica"/>
              </a:defRPr>
            </a:pPr>
            <a:r>
              <a:rPr sz="1500" b="0">
                <a:solidFill>
                  <a:srgbClr val="11233B"/>
                </a:solidFill>
                <a:latin typeface="Helvetica"/>
                <a:ea typeface="Helvetica"/>
                <a:cs typeface="Helvetica"/>
              </a:rPr>
              <a:t>Python 3.13 et 3.14</a:t>
            </a:r>
          </a:p>
          <a:p xmlns:a="http://schemas.openxmlformats.org/drawingml/2006/main">
            <a:pPr algn="l">
              <a:defRPr sz="1500" b="0">
                <a:solidFill>
                  <a:srgbClr val="11233B"/>
                </a:solidFill>
                <a:latin typeface="Helvetica"/>
                <a:ea typeface="Helvetica"/>
                <a:cs typeface="Helvetica"/>
              </a:defRPr>
            </a:pPr>
            <a:r>
              <a:rPr sz="1500" b="0">
                <a:solidFill>
                  <a:srgbClr val="11233B"/>
                </a:solidFill>
                <a:latin typeface="Helvetica"/>
                <a:ea typeface="Helvetica"/>
                <a:cs typeface="Helvetica"/>
              </a:rPr>
              <a:t>Dernier run vérifié : succès</a:t>
            </a:r>
          </a:p>
          <a:p xmlns:a="http://schemas.openxmlformats.org/drawingml/2006/main">
            <a:pPr algn="l">
              <a:defRPr sz="1500" b="0">
                <a:solidFill>
                  <a:srgbClr val="11233B"/>
                </a:solidFill>
                <a:latin typeface="Helvetica"/>
                <a:ea typeface="Helvetica"/>
                <a:cs typeface="Helvetica"/>
              </a:defRPr>
            </a:pPr>
            <a:r>
              <a:rPr sz="1500" b="0">
                <a:solidFill>
                  <a:srgbClr val="11233B"/>
                </a:solidFill>
                <a:latin typeface="Helvetica"/>
                <a:ea typeface="Helvetica"/>
                <a:cs typeface="Helvetica"/>
              </a:rPr>
              <a:t>Reconstruction et comparaison des fichiers versionnés</a:t>
            </a:r>
          </a:p>
        </p:txBody>
      </p:sp>
      <p:sp>
        <p:nvSpPr>
          <p:cNvPr id="12" name="">
            <a:extLst xmlns:a="http://schemas.openxmlformats.org/drawingml/2006/main">
              <a:ext uri="{FF2B5EF4-FFF2-40B4-BE49-F238E27FC236}">
                <a16:creationId xmlns:a16="http://schemas.microsoft.com/office/drawing/2014/main" id="{67BBB2E9-7A14-457E-A8AF-6E4C6833A527}"/>
              </a:ext>
            </a:extLst>
          </p:cNvPr>
          <p:cNvSpPr>
            <a:spLocks xmlns:a="http://schemas.openxmlformats.org/drawingml/2006/main" noGrp="1"/>
          </p:cNvSpPr>
          <p:nvPr/>
        </p:nvSpPr>
        <p:spPr>
          <a:xfrm xmlns:a="http://schemas.openxmlformats.org/drawingml/2006/main">
            <a:off x="6667500" y="4762500"/>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425" b="0">
                <a:solidFill>
                  <a:srgbClr val="5E6D78"/>
                </a:solidFill>
                <a:latin typeface="Helvetica"/>
                <a:ea typeface="Helvetica"/>
                <a:cs typeface="Helvetica"/>
              </a:defRPr>
            </a:pPr>
            <a:r>
              <a:rPr sz="1425" b="0">
                <a:solidFill>
                  <a:srgbClr val="5E6D78"/>
                </a:solidFill>
                <a:latin typeface="Helvetica"/>
                <a:ea typeface="Helvetica"/>
                <a:cs typeface="Helvetica"/>
              </a:rPr>
              <a:t>SHA-256 des entrées et sorties</a:t>
            </a:r>
          </a:p>
          <a:p xmlns:a="http://schemas.openxmlformats.org/drawingml/2006/main">
            <a:pPr algn="l">
              <a:defRPr sz="1425" b="0">
                <a:solidFill>
                  <a:srgbClr val="5E6D78"/>
                </a:solidFill>
                <a:latin typeface="Helvetica"/>
                <a:ea typeface="Helvetica"/>
                <a:cs typeface="Helvetica"/>
              </a:defRPr>
            </a:pPr>
            <a:r>
              <a:rPr sz="1425" b="0">
                <a:solidFill>
                  <a:srgbClr val="5E6D78"/>
                </a:solidFill>
                <a:latin typeface="Helvetica"/>
                <a:ea typeface="Helvetica"/>
                <a:cs typeface="Helvetica"/>
              </a:rPr>
              <a:t>Configuration sans secrets</a:t>
            </a:r>
          </a:p>
          <a:p xmlns:a="http://schemas.openxmlformats.org/drawingml/2006/main">
            <a:pPr algn="l">
              <a:defRPr sz="1425" b="0">
                <a:solidFill>
                  <a:srgbClr val="5E6D78"/>
                </a:solidFill>
                <a:latin typeface="Helvetica"/>
                <a:ea typeface="Helvetica"/>
                <a:cs typeface="Helvetica"/>
              </a:defRPr>
            </a:pPr>
            <a:r>
              <a:rPr sz="1425" b="0">
                <a:solidFill>
                  <a:srgbClr val="5E6D78"/>
                </a:solidFill>
                <a:latin typeface="Helvetica"/>
                <a:ea typeface="Helvetica"/>
                <a:cs typeface="Helvetica"/>
              </a:rPr>
              <a:t>SQL, code, tests et documentation versionnés</a:t>
            </a:r>
          </a:p>
        </p:txBody>
      </p:sp>
      <p:sp>
        <p:nvSpPr>
          <p:cNvPr id="13" name="">
            <a:extLst xmlns:a="http://schemas.openxmlformats.org/drawingml/2006/main">
              <a:ext uri="{FF2B5EF4-FFF2-40B4-BE49-F238E27FC236}">
                <a16:creationId xmlns:a16="http://schemas.microsoft.com/office/drawing/2014/main" id="{8583B4F1-9695-468D-A90D-21FB4D73F0C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A4F8B8A-A851-4C80-B249-4764478621E2}"/>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README.md; .github/workflows/quality.yml; docs/matrice-preuves-rncp.md     11/12</a:t>
            </a:r>
          </a:p>
        </p:txBody>
      </p:sp>
    </p:spTree>
    <p:extLst>
      <p:ext uri="{BB962C8B-B14F-4D97-AF65-F5344CB8AC3E}">
        <p14:creationId xmlns:p14="http://schemas.microsoft.com/office/powerpoint/2010/main" val="1956023748"/>
      </p:ext>
    </p:extLst>
  </p:cSld>
</p:sld>
</file>

<file path=ppt/slides/slide12.xml><?xml version="1.0" encoding="utf-8"?>
<p:sld xmlns:p="http://schemas.openxmlformats.org/presentationml/2006/main">
  <p:cSld>
    <p:bg>
      <p:bgPr>
        <a:solidFill xmlns:a="http://schemas.openxmlformats.org/drawingml/2006/main">
          <a:srgbClr val="FFFC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FCFCDC-5740-4FAE-9152-9281C9ABB8D5}"/>
              </a:ext>
            </a:extLst>
          </p:cNvPr>
          <p:cNvSpPr>
            <a:spLocks xmlns:a="http://schemas.openxmlformats.org/drawingml/2006/main" noGrp="1"/>
          </p:cNvSpPr>
          <p:nvPr/>
        </p:nvSpPr>
        <p:spPr>
          <a:xfrm xmlns:a="http://schemas.openxmlformats.org/drawingml/2006/main">
            <a:off x="552450" y="400050"/>
            <a:ext cx="552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defRPr sz="1200" b="1">
                <a:solidFill>
                  <a:srgbClr val="E56B3F"/>
                </a:solidFill>
                <a:latin typeface="Helvetica"/>
                <a:ea typeface="Helvetica"/>
                <a:cs typeface="Helvetica"/>
              </a:defRPr>
            </a:pPr>
            <a:r>
              <a:rPr sz="1200" b="1">
                <a:solidFill>
                  <a:srgbClr val="E56B3F"/>
                </a:solidFill>
                <a:latin typeface="Helvetica"/>
                <a:ea typeface="Helvetica"/>
                <a:cs typeface="Helvetica"/>
              </a:rPr>
              <a:t>12</a:t>
            </a:r>
          </a:p>
        </p:txBody>
      </p:sp>
      <p:sp>
        <p:nvSpPr>
          <p:cNvPr id="2" name="">
            <a:extLst xmlns:a="http://schemas.openxmlformats.org/drawingml/2006/main">
              <a:ext uri="{FF2B5EF4-FFF2-40B4-BE49-F238E27FC236}">
                <a16:creationId xmlns:a16="http://schemas.microsoft.com/office/drawing/2014/main" id="{9A898BB0-3E7D-4D0E-84F5-B99FAE4CFE77}"/>
              </a:ext>
            </a:extLst>
          </p:cNvPr>
          <p:cNvSpPr>
            <a:spLocks xmlns:a="http://schemas.openxmlformats.org/drawingml/2006/main" noGrp="1"/>
          </p:cNvSpPr>
          <p:nvPr/>
        </p:nvSpPr>
        <p:spPr>
          <a:xfrm xmlns:a="http://schemas.openxmlformats.org/drawingml/2006/main">
            <a:off x="1066800" y="342900"/>
            <a:ext cx="10363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2550" b="1">
                <a:solidFill>
                  <a:srgbClr val="11233B"/>
                </a:solidFill>
                <a:latin typeface="Helvetica"/>
                <a:ea typeface="Helvetica"/>
                <a:cs typeface="Helvetica"/>
              </a:defRPr>
            </a:pPr>
            <a:r>
              <a:rPr sz="2550" b="1">
                <a:solidFill>
                  <a:srgbClr val="11233B"/>
                </a:solidFill>
                <a:latin typeface="Helvetica"/>
                <a:ea typeface="Helvetica"/>
                <a:cs typeface="Helvetica"/>
              </a:rPr>
              <a:t>Limites et validations nécessaires avant un usage réel</a:t>
            </a:r>
          </a:p>
        </p:txBody>
      </p:sp>
      <p:sp>
        <p:nvSpPr>
          <p:cNvPr id="3" name="">
            <a:extLst xmlns:a="http://schemas.openxmlformats.org/drawingml/2006/main">
              <a:ext uri="{FF2B5EF4-FFF2-40B4-BE49-F238E27FC236}">
                <a16:creationId xmlns:a16="http://schemas.microsoft.com/office/drawing/2014/main" id="{C8FA0CE6-0620-4654-81A3-6C36B4A14475}"/>
              </a:ext>
            </a:extLst>
          </p:cNvPr>
          <p:cNvSpPr>
            <a:spLocks xmlns:a="http://schemas.openxmlformats.org/drawingml/2006/main" noGrp="1"/>
          </p:cNvSpPr>
          <p:nvPr/>
        </p:nvSpPr>
        <p:spPr>
          <a:xfrm xmlns:a="http://schemas.openxmlformats.org/drawingml/2006/main">
            <a:off x="609600" y="102870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graphicFrame>
        <p:nvGraphicFramePr>
          <p:cNvPr id="11" name=""/>
          <p:cNvGraphicFramePr/>
          <p:nvPr/>
        </p:nvGraphicFramePr>
        <p:xfrm>
          <a:off xmlns:a="http://schemas.openxmlformats.org/drawingml/2006/main" x="628650" y="1524000"/>
          <a:ext xmlns:a="http://schemas.openxmlformats.org/drawingml/2006/main" cx="10953750" cy="4000500"/>
        </p:xfrm>
        <a:graphic xmlns:a="http://schemas.openxmlformats.org/drawingml/2006/main">
          <a:graphicData uri="http://schemas.openxmlformats.org/drawingml/2006/table">
            <a:tbl>
              <a:tblPr/>
              <a:tblGrid>
                <a:gridCol w="2095500"/>
                <a:gridCol w="4191000"/>
                <a:gridCol w="4667250"/>
              </a:tblGrid>
              <a:tr h="571500">
                <a:tc>
                  <a:txBody>
                    <a:bodyPr/>
                    <a:lstStyle/>
                    <a:p>
                      <a:r>
                        <a:rPr sz="1200" b="1">
                          <a:solidFill>
                            <a:srgbClr val="FFFFFF"/>
                          </a:solidFill>
                          <a:latin typeface="Helvetica"/>
                          <a:ea typeface="Helvetica"/>
                          <a:cs typeface="Helvetica"/>
                        </a:rPr>
                        <a:t>Sujet</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Limite constatée</a:t>
                      </a:r>
                    </a:p>
                  </a:txBody>
                  <a:tcPr marL="76200" marR="76200" marT="57150" marB="57150" anchor="ctr">
                    <a:solidFill>
                      <a:srgbClr val="173B57"/>
                    </a:solidFill>
                  </a:tcPr>
                </a:tc>
                <a:tc>
                  <a:txBody>
                    <a:bodyPr/>
                    <a:lstStyle/>
                    <a:p>
                      <a:r>
                        <a:rPr sz="1200" b="1">
                          <a:solidFill>
                            <a:srgbClr val="FFFFFF"/>
                          </a:solidFill>
                          <a:latin typeface="Helvetica"/>
                          <a:ea typeface="Helvetica"/>
                          <a:cs typeface="Helvetica"/>
                        </a:rPr>
                        <a:t>Validation requise</a:t>
                      </a:r>
                    </a:p>
                  </a:txBody>
                  <a:tcPr marL="76200" marR="76200" marT="57150" marB="57150" anchor="ctr">
                    <a:solidFill>
                      <a:srgbClr val="173B57"/>
                    </a:solidFill>
                  </a:tcPr>
                </a:tc>
              </a:tr>
              <a:tr h="571500">
                <a:tc>
                  <a:txBody>
                    <a:bodyPr/>
                    <a:lstStyle/>
                    <a:p>
                      <a:r>
                        <a:rPr sz="1050">
                          <a:solidFill>
                            <a:srgbClr val="11233B"/>
                          </a:solidFill>
                          <a:latin typeface="Helvetica"/>
                          <a:ea typeface="Helvetica"/>
                          <a:cs typeface="Helvetica"/>
                        </a:rPr>
                        <a:t>Données commerciales</a:t>
                      </a:r>
                    </a:p>
                  </a:txBody>
                  <a:tcPr marL="76200" marR="76200" marT="47625" marB="47625" anchor="ctr"/>
                </a:tc>
                <a:tc>
                  <a:txBody>
                    <a:bodyPr/>
                    <a:lstStyle/>
                    <a:p>
                      <a:r>
                        <a:rPr sz="1050">
                          <a:solidFill>
                            <a:srgbClr val="11233B"/>
                          </a:solidFill>
                          <a:latin typeface="Helvetica"/>
                          <a:ea typeface="Helvetica"/>
                          <a:cs typeface="Helvetica"/>
                        </a:rPr>
                        <a:t>TheLook est fictif et peut évoluer</a:t>
                      </a:r>
                    </a:p>
                  </a:txBody>
                  <a:tcPr marL="76200" marR="76200" marT="47625" marB="47625" anchor="ctr"/>
                </a:tc>
                <a:tc>
                  <a:txBody>
                    <a:bodyPr/>
                    <a:lstStyle/>
                    <a:p>
                      <a:r>
                        <a:rPr sz="1050">
                          <a:solidFill>
                            <a:srgbClr val="11233B"/>
                          </a:solidFill>
                          <a:latin typeface="Helvetica"/>
                          <a:ea typeface="Helvetica"/>
                          <a:cs typeface="Helvetica"/>
                        </a:rPr>
                        <a:t>Valider sur un extrait d’entreprise gouverné</a:t>
                      </a:r>
                    </a:p>
                  </a:txBody>
                  <a:tcPr marL="76200" marR="76200" marT="47625" marB="47625" anchor="ctr"/>
                </a:tc>
              </a:tr>
              <a:tr h="571500">
                <a:tc>
                  <a:txBody>
                    <a:bodyPr/>
                    <a:lstStyle/>
                    <a:p>
                      <a:r>
                        <a:rPr sz="1050">
                          <a:solidFill>
                            <a:srgbClr val="11233B"/>
                          </a:solidFill>
                          <a:latin typeface="Helvetica"/>
                          <a:ea typeface="Helvetica"/>
                          <a:cs typeface="Helvetica"/>
                        </a:rPr>
                        <a:t>Devise</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sale_price n’expose pas de devise documentée</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Confirmer devise et précision au niveau du système source</a:t>
                      </a:r>
                    </a:p>
                  </a:txBody>
                  <a:tcPr marL="76200" marR="76200" marT="47625" marB="47625" anchor="ctr">
                    <a:solidFill>
                      <a:srgbClr val="EEEAE3"/>
                    </a:solidFill>
                  </a:tcPr>
                </a:tc>
              </a:tr>
              <a:tr h="571500">
                <a:tc>
                  <a:txBody>
                    <a:bodyPr/>
                    <a:lstStyle/>
                    <a:p>
                      <a:r>
                        <a:rPr sz="1050">
                          <a:solidFill>
                            <a:srgbClr val="11233B"/>
                          </a:solidFill>
                          <a:latin typeface="Helvetica"/>
                          <a:ea typeface="Helvetica"/>
                          <a:cs typeface="Helvetica"/>
                        </a:rPr>
                        <a:t>Règles métier</a:t>
                      </a:r>
                    </a:p>
                  </a:txBody>
                  <a:tcPr marL="76200" marR="76200" marT="47625" marB="47625" anchor="ctr"/>
                </a:tc>
                <a:tc>
                  <a:txBody>
                    <a:bodyPr/>
                    <a:lstStyle/>
                    <a:p>
                      <a:r>
                        <a:rPr sz="1050">
                          <a:solidFill>
                            <a:srgbClr val="11233B"/>
                          </a:solidFill>
                          <a:latin typeface="Helvetica"/>
                          <a:ea typeface="Helvetica"/>
                          <a:cs typeface="Helvetica"/>
                        </a:rPr>
                        <a:t>Complete et Shipped sont des choix du POC</a:t>
                      </a:r>
                    </a:p>
                  </a:txBody>
                  <a:tcPr marL="76200" marR="76200" marT="47625" marB="47625" anchor="ctr"/>
                </a:tc>
                <a:tc>
                  <a:txBody>
                    <a:bodyPr/>
                    <a:lstStyle/>
                    <a:p>
                      <a:r>
                        <a:rPr sz="1050">
                          <a:solidFill>
                            <a:srgbClr val="11233B"/>
                          </a:solidFill>
                          <a:latin typeface="Helvetica"/>
                          <a:ea typeface="Helvetica"/>
                          <a:cs typeface="Helvetica"/>
                        </a:rPr>
                        <a:t>Faire valider les statuts par Finance et les métiers</a:t>
                      </a:r>
                    </a:p>
                  </a:txBody>
                  <a:tcPr marL="76200" marR="76200" marT="47625" marB="47625" anchor="ctr"/>
                </a:tc>
              </a:tr>
              <a:tr h="571500">
                <a:tc>
                  <a:txBody>
                    <a:bodyPr/>
                    <a:lstStyle/>
                    <a:p>
                      <a:r>
                        <a:rPr sz="1050">
                          <a:solidFill>
                            <a:srgbClr val="11233B"/>
                          </a:solidFill>
                          <a:latin typeface="Helvetica"/>
                          <a:ea typeface="Helvetica"/>
                          <a:cs typeface="Helvetica"/>
                        </a:rPr>
                        <a:t>Taux de change</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Fenêtre de 7 jours et arrondi par ligne</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Confirmer la politique comptable et la date de conversion</a:t>
                      </a:r>
                    </a:p>
                  </a:txBody>
                  <a:tcPr marL="76200" marR="76200" marT="47625" marB="47625" anchor="ctr">
                    <a:solidFill>
                      <a:srgbClr val="EEEAE3"/>
                    </a:solidFill>
                  </a:tcPr>
                </a:tc>
              </a:tr>
              <a:tr h="571500">
                <a:tc>
                  <a:txBody>
                    <a:bodyPr/>
                    <a:lstStyle/>
                    <a:p>
                      <a:r>
                        <a:rPr sz="1050">
                          <a:solidFill>
                            <a:srgbClr val="11233B"/>
                          </a:solidFill>
                          <a:latin typeface="Helvetica"/>
                          <a:ea typeface="Helvetica"/>
                          <a:cs typeface="Helvetica"/>
                        </a:rPr>
                        <a:t>Performance</a:t>
                      </a:r>
                    </a:p>
                  </a:txBody>
                  <a:tcPr marL="76200" marR="76200" marT="47625" marB="47625" anchor="ctr"/>
                </a:tc>
                <a:tc>
                  <a:txBody>
                    <a:bodyPr/>
                    <a:lstStyle/>
                    <a:p>
                      <a:r>
                        <a:rPr sz="1050">
                          <a:solidFill>
                            <a:srgbClr val="11233B"/>
                          </a:solidFill>
                          <a:latin typeface="Helvetica"/>
                          <a:ea typeface="Helvetica"/>
                          <a:cs typeface="Helvetica"/>
                        </a:rPr>
                        <a:t>Volumes BigQuery modestes et 25 taux PostgreSQL</a:t>
                      </a:r>
                    </a:p>
                  </a:txBody>
                  <a:tcPr marL="76200" marR="76200" marT="47625" marB="47625" anchor="ctr"/>
                </a:tc>
                <a:tc>
                  <a:txBody>
                    <a:bodyPr/>
                    <a:lstStyle/>
                    <a:p>
                      <a:r>
                        <a:rPr sz="1050">
                          <a:solidFill>
                            <a:srgbClr val="11233B"/>
                          </a:solidFill>
                          <a:latin typeface="Helvetica"/>
                          <a:ea typeface="Helvetica"/>
                          <a:cs typeface="Helvetica"/>
                        </a:rPr>
                        <a:t>Mesurer sur le volume cible avant dimensionnement</a:t>
                      </a:r>
                    </a:p>
                  </a:txBody>
                  <a:tcPr marL="76200" marR="76200" marT="47625" marB="47625" anchor="ctr"/>
                </a:tc>
              </a:tr>
              <a:tr h="571500">
                <a:tc>
                  <a:txBody>
                    <a:bodyPr/>
                    <a:lstStyle/>
                    <a:p>
                      <a:r>
                        <a:rPr sz="1050">
                          <a:solidFill>
                            <a:srgbClr val="11233B"/>
                          </a:solidFill>
                          <a:latin typeface="Helvetica"/>
                          <a:ea typeface="Helvetica"/>
                          <a:cs typeface="Helvetica"/>
                        </a:rPr>
                        <a:t>Mise en service</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Prototype local, non déployé chez Thales</a:t>
                      </a:r>
                    </a:p>
                  </a:txBody>
                  <a:tcPr marL="76200" marR="76200" marT="47625" marB="47625" anchor="ctr">
                    <a:solidFill>
                      <a:srgbClr val="EEEAE3"/>
                    </a:solidFill>
                  </a:tcPr>
                </a:tc>
                <a:tc>
                  <a:txBody>
                    <a:bodyPr/>
                    <a:lstStyle/>
                    <a:p>
                      <a:r>
                        <a:rPr sz="1050">
                          <a:solidFill>
                            <a:srgbClr val="11233B"/>
                          </a:solidFill>
                          <a:latin typeface="Helvetica"/>
                          <a:ea typeface="Helvetica"/>
                          <a:cs typeface="Helvetica"/>
                        </a:rPr>
                        <a:t>Revoir droits, supervision, sécurité et exploitation</a:t>
                      </a:r>
                    </a:p>
                  </a:txBody>
                  <a:tcPr marL="76200" marR="76200" marT="47625" marB="47625" anchor="ctr">
                    <a:solidFill>
                      <a:srgbClr val="EEEAE3"/>
                    </a:solidFill>
                  </a:tcPr>
                </a:tc>
              </a:tr>
            </a:tbl>
          </a:graphicData>
        </a:graphic>
      </p:graphicFrame>
      <p:sp>
        <p:nvSpPr>
          <p:cNvPr id="5" name="">
            <a:extLst xmlns:a="http://schemas.openxmlformats.org/drawingml/2006/main">
              <a:ext uri="{FF2B5EF4-FFF2-40B4-BE49-F238E27FC236}">
                <a16:creationId xmlns:a16="http://schemas.microsoft.com/office/drawing/2014/main" id="{D9AE8523-C7F2-4543-967D-F97A3A4CDC38}"/>
              </a:ext>
            </a:extLst>
          </p:cNvPr>
          <p:cNvSpPr>
            <a:spLocks xmlns:a="http://schemas.openxmlformats.org/drawingml/2006/main" noGrp="1"/>
          </p:cNvSpPr>
          <p:nvPr/>
        </p:nvSpPr>
        <p:spPr>
          <a:xfrm xmlns:a="http://schemas.openxmlformats.org/drawingml/2006/main">
            <a:off x="895350" y="57721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t">
            <a:normAutofit fontScale="97222"/>
          </a:bodyPr>
          <a:lstStyle xmlns:a="http://schemas.openxmlformats.org/drawingml/2006/main"/>
          <a:p xmlns:a="http://schemas.openxmlformats.org/drawingml/2006/main">
            <a:pPr algn="ctr">
              <a:defRPr sz="1350" b="1">
                <a:solidFill>
                  <a:srgbClr val="173B57"/>
                </a:solidFill>
                <a:latin typeface="Helvetica"/>
                <a:ea typeface="Helvetica"/>
                <a:cs typeface="Helvetica"/>
              </a:defRPr>
            </a:pPr>
            <a:r>
              <a:rPr sz="1350" b="1">
                <a:solidFill>
                  <a:srgbClr val="173B57"/>
                </a:solidFill>
                <a:latin typeface="Helvetica"/>
                <a:ea typeface="Helvetica"/>
                <a:cs typeface="Helvetica"/>
              </a:rPr>
              <a:t>Le POC prouve le fonctionnement de la chaîne et sa traçabilité. Il ne prouve ni l’adéquation aux données internes ni la conformité d’une politique comptable réelle.</a:t>
            </a:r>
          </a:p>
        </p:txBody>
      </p:sp>
      <p:sp>
        <p:nvSpPr>
          <p:cNvPr id="6" name="">
            <a:extLst xmlns:a="http://schemas.openxmlformats.org/drawingml/2006/main">
              <a:ext uri="{FF2B5EF4-FFF2-40B4-BE49-F238E27FC236}">
                <a16:creationId xmlns:a16="http://schemas.microsoft.com/office/drawing/2014/main" id="{BF74F8D4-C289-4F05-BE15-344CD309359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8D2C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2301220-6C27-48E9-8A00-649525495DDF}"/>
              </a:ext>
            </a:extLst>
          </p:cNvPr>
          <p:cNvSpPr>
            <a:spLocks xmlns:a="http://schemas.openxmlformats.org/drawingml/2006/main" noGrp="1"/>
          </p:cNvSpPr>
          <p:nvPr/>
        </p:nvSpPr>
        <p:spPr>
          <a:xfrm xmlns:a="http://schemas.openxmlformats.org/drawingml/2006/main">
            <a:off x="647700" y="6477000"/>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l">
              <a:defRPr sz="825" b="0">
                <a:solidFill>
                  <a:srgbClr val="5E6D78"/>
                </a:solidFill>
                <a:latin typeface="Helvetica"/>
                <a:ea typeface="Helvetica"/>
                <a:cs typeface="Helvetica"/>
              </a:defRPr>
            </a:pPr>
            <a:r>
              <a:rPr sz="825" b="0">
                <a:solidFill>
                  <a:srgbClr val="5E6D78"/>
                </a:solidFill>
                <a:latin typeface="Helvetica"/>
                <a:ea typeface="Helvetica"/>
                <a:cs typeface="Helvetica"/>
              </a:rPr>
              <a:t>docs/sources-et-hypotheses.md; docs/resultats-et-limites.md     12/12</a:t>
            </a:r>
          </a:p>
        </p:txBody>
      </p:sp>
    </p:spTree>
    <p:extLst>
      <p:ext uri="{BB962C8B-B14F-4D97-AF65-F5344CB8AC3E}">
        <p14:creationId xmlns:p14="http://schemas.microsoft.com/office/powerpoint/2010/main" val="4113200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2026-09-16T08:41:12.3770000Z</dcterms:created>
  <dcterms:modified xsi:type="dcterms:W3CDTF">2026-09-16T08:41:12.3770000Z</dcterms:modified>
</coreProperties>
</file>