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20c74c42fe408e" /><Relationship Type="http://schemas.openxmlformats.org/officeDocument/2006/relationships/extended-properties" Target="/docProps/app.xml" Id="R44d3f4341ad64ab1" /><Relationship Type="http://schemas.openxmlformats.org/officeDocument/2006/relationships/officeDocument" Target="/ppt/presentation.xml" Id="R654ddbb2041949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fe39416a0a4c0d"/>
  </p:sldMasterIdLst>
  <p:notesMasterIdLst>
    <p:notesMasterId xmlns:r="http://schemas.openxmlformats.org/officeDocument/2006/relationships" r:id="R25d6cee301e6407b"/>
  </p:notesMasterIdLst>
  <p:sldIdLst>
    <p:sldId xmlns:r="http://schemas.openxmlformats.org/officeDocument/2006/relationships" id="256" r:id="R6ee43ba135ad4e9e"/>
    <p:sldId xmlns:r="http://schemas.openxmlformats.org/officeDocument/2006/relationships" id="257" r:id="Rba60e8625d254cd6"/>
    <p:sldId xmlns:r="http://schemas.openxmlformats.org/officeDocument/2006/relationships" id="258" r:id="R34c1fa788f2c4e3a"/>
    <p:sldId xmlns:r="http://schemas.openxmlformats.org/officeDocument/2006/relationships" id="259" r:id="Rb3848ee4a47d40b4"/>
    <p:sldId xmlns:r="http://schemas.openxmlformats.org/officeDocument/2006/relationships" id="260" r:id="R6ba3df3a3c134497"/>
    <p:sldId xmlns:r="http://schemas.openxmlformats.org/officeDocument/2006/relationships" id="261" r:id="R799e6993c01e470b"/>
    <p:sldId xmlns:r="http://schemas.openxmlformats.org/officeDocument/2006/relationships" id="262" r:id="Re07e8d4b59a54b99"/>
    <p:sldId xmlns:r="http://schemas.openxmlformats.org/officeDocument/2006/relationships" id="263" r:id="R3384da8e0bfe4096"/>
    <p:sldId xmlns:r="http://schemas.openxmlformats.org/officeDocument/2006/relationships" id="264" r:id="R5aee8af500864ca5"/>
    <p:sldId xmlns:r="http://schemas.openxmlformats.org/officeDocument/2006/relationships" id="265" r:id="Rb1bc3caca2134e7e"/>
    <p:sldId xmlns:r="http://schemas.openxmlformats.org/officeDocument/2006/relationships" id="266" r:id="Re55607d6c2e5481f"/>
    <p:sldId xmlns:r="http://schemas.openxmlformats.org/officeDocument/2006/relationships" id="267" r:id="R9729f0d26c814d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7ec51aa2e54e86" /><Relationship Type="http://schemas.openxmlformats.org/officeDocument/2006/relationships/slideMaster" Target="/ppt/slideMasters/slideMaster1.xml" Id="Rc9fe39416a0a4c0d" /><Relationship Type="http://schemas.openxmlformats.org/officeDocument/2006/relationships/notesMaster" Target="/ppt/notesMasters/notesMaster1.xml" Id="R25d6cee301e6407b" /><Relationship Type="http://schemas.openxmlformats.org/officeDocument/2006/relationships/presProps" Target="/ppt/presProps.xml" Id="Ra0f3ec89448a41ce" /><Relationship Type="http://schemas.openxmlformats.org/officeDocument/2006/relationships/tableStyles" Target="/ppt/tableStyles.xml" Id="Re0990f0470db4259" /><Relationship Type="http://schemas.openxmlformats.org/officeDocument/2006/relationships/slide" Target="/ppt/slides/slide1.xml" Id="R6ee43ba135ad4e9e" /><Relationship Type="http://schemas.openxmlformats.org/officeDocument/2006/relationships/slide" Target="/ppt/slides/slide2.xml" Id="Rba60e8625d254cd6" /><Relationship Type="http://schemas.openxmlformats.org/officeDocument/2006/relationships/slide" Target="/ppt/slides/slide3.xml" Id="R34c1fa788f2c4e3a" /><Relationship Type="http://schemas.openxmlformats.org/officeDocument/2006/relationships/slide" Target="/ppt/slides/slide4.xml" Id="Rb3848ee4a47d40b4" /><Relationship Type="http://schemas.openxmlformats.org/officeDocument/2006/relationships/slide" Target="/ppt/slides/slide5.xml" Id="R6ba3df3a3c134497" /><Relationship Type="http://schemas.openxmlformats.org/officeDocument/2006/relationships/slide" Target="/ppt/slides/slide6.xml" Id="R799e6993c01e470b" /><Relationship Type="http://schemas.openxmlformats.org/officeDocument/2006/relationships/slide" Target="/ppt/slides/slide7.xml" Id="Re07e8d4b59a54b99" /><Relationship Type="http://schemas.openxmlformats.org/officeDocument/2006/relationships/slide" Target="/ppt/slides/slide8.xml" Id="R3384da8e0bfe4096" /><Relationship Type="http://schemas.openxmlformats.org/officeDocument/2006/relationships/slide" Target="/ppt/slides/slide9.xml" Id="R5aee8af500864ca5" /><Relationship Type="http://schemas.openxmlformats.org/officeDocument/2006/relationships/slide" Target="/ppt/slides/slide10.xml" Id="Rb1bc3caca2134e7e" /><Relationship Type="http://schemas.openxmlformats.org/officeDocument/2006/relationships/slide" Target="/ppt/slides/slide11.xml" Id="Re55607d6c2e5481f" /><Relationship Type="http://schemas.openxmlformats.org/officeDocument/2006/relationships/slide" Target="/ppt/slides/slide12.xml" Id="R9729f0d26c814d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8bcac1c78148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c549c492b549cb" /><Relationship Type="http://schemas.openxmlformats.org/officeDocument/2006/relationships/notesMaster" Target="/ppt/notesMasters/notesMaster1.xml" Id="Ra5fb53eddc0440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0cc2fec39642da" /><Relationship Type="http://schemas.openxmlformats.org/officeDocument/2006/relationships/notesMaster" Target="/ppt/notesMasters/notesMaster1.xml" Id="R30f4f10fc27445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ea0f42d98449a1" /><Relationship Type="http://schemas.openxmlformats.org/officeDocument/2006/relationships/notesMaster" Target="/ppt/notesMasters/notesMaster1.xml" Id="R3f3dd78e7b9a49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f16459c90d4222" /><Relationship Type="http://schemas.openxmlformats.org/officeDocument/2006/relationships/notesMaster" Target="/ppt/notesMasters/notesMaster1.xml" Id="Rfdc7dafd008545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292887fb2e4903" /><Relationship Type="http://schemas.openxmlformats.org/officeDocument/2006/relationships/notesMaster" Target="/ppt/notesMasters/notesMaster1.xml" Id="Rf1aacee6ec2146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29404e5ea84421" /><Relationship Type="http://schemas.openxmlformats.org/officeDocument/2006/relationships/notesMaster" Target="/ppt/notesMasters/notesMaster1.xml" Id="R374832671c2f4a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f92af84c364428" /><Relationship Type="http://schemas.openxmlformats.org/officeDocument/2006/relationships/notesMaster" Target="/ppt/notesMasters/notesMaster1.xml" Id="R24ce1b4850bf47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cecf67d6d940b4" /><Relationship Type="http://schemas.openxmlformats.org/officeDocument/2006/relationships/notesMaster" Target="/ppt/notesMasters/notesMaster1.xml" Id="R5a7eeddbde284c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7b6cc35c5b4d96" /><Relationship Type="http://schemas.openxmlformats.org/officeDocument/2006/relationships/notesMaster" Target="/ppt/notesMasters/notesMaster1.xml" Id="Rc002d4c4209e467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46b0aecd2484f72" /><Relationship Type="http://schemas.openxmlformats.org/officeDocument/2006/relationships/notesMaster" Target="/ppt/notesMasters/notesMaster1.xml" Id="R28f2aa1064f741e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04a7f58ae64309" /><Relationship Type="http://schemas.openxmlformats.org/officeDocument/2006/relationships/notesMaster" Target="/ppt/notesMasters/notesMaster1.xml" Id="Ra5ce30d1a5a245a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2175b5696d645ba" /><Relationship Type="http://schemas.openxmlformats.org/officeDocument/2006/relationships/notesMaster" Target="/ppt/notesMasters/notesMaster1.xml" Id="R32df03a3e9974b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Ouverture orale : je présente un prototype de contrôle de qualité avant calcul d'un montant en euros.</a:t>
            </a:r>
          </a:p>
          <a:p xmlns:a="http://schemas.openxmlformats.org/drawingml/2006/main">
            <a:r>
              <a:t>Je précise immédiatement que TheLook est fictif et remplace des données d'entreprise afin d'éviter toute divulgation.</a:t>
            </a:r>
          </a:p>
          <a:p xmlns:a="http://schemas.openxmlformats.org/drawingml/2006/main">
            <a:r>
              <a:t>Je ne présente pas ce travail comme un outil déployé chez Thales. La preuve porte sur le code, les requêtes exécutées et les résultats versionnés.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J'explique que le besoin ne consiste pas à corriger silencieusement toutes les lignes. Il faut décider si elles entrent dans le calcul et conserver la raison.</a:t>
            </a:r>
          </a:p>
          <a:p xmlns:a="http://schemas.openxmlformats.org/drawingml/2006/main">
            <a:r>
              <a:t>Le statut métier et la qualité technique restent séparés : une annulation valide n'est pas une corruption.</a:t>
            </a:r>
          </a:p>
          <a:p xmlns:a="http://schemas.openxmlformats.org/drawingml/2006/main">
            <a:r>
              <a:t>La conservation des volumes permet de détecter toute perte ou duplication pendant le pipeline.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 montre les deux systèmes réellement interrogés : BigQuery pour les ventes et PostgreSQL local pour le référentiel BCE.</a:t>
            </a:r>
          </a:p>
          <a:p xmlns:a="http://schemas.openxmlformats.org/drawingml/2006/main">
            <a:r>
              <a:t>Les snapshots figés rendent le résultat rejouable hors connexion. Les scripts d'extraction permettent aussi de refaire les appels quand les accès sont disponibles.</a:t>
            </a:r>
          </a:p>
          <a:p xmlns:a="http://schemas.openxmlformats.org/drawingml/2006/main">
            <a:r>
              <a:t>La période fixe évite que les chiffres changent le jour de la soutenance.</a:t>
            </a:r>
          </a:p>
          <a:p xmlns:a="http://schemas.openxmlformats.org/drawingml/2006/main">
            <a:r>
              <a:t>Limite à annoncer : le schéma TheLook expose sale_price comme FLOAT sans devise documentée. Le pipeline l'interprète comme USD uniquement pour le POC.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 commence par le grain : order_items est la table motrice et oi.id porte la clé de ligne.</a:t>
            </a:r>
          </a:p>
          <a:p xmlns:a="http://schemas.openxmlformats.org/drawingml/2006/main">
            <a:r>
              <a:t>Les LEFT JOIN conservent une ligne même si sa commande ou son produit manque. Le contrôle qualité doit voir cette anomalie au lieu de la supprimer dans SQL.</a:t>
            </a:r>
          </a:p>
          <a:p xmlns:a="http://schemas.openxmlformats.org/drawingml/2006/main">
            <a:r>
              <a:t>Le filtre utilise une borne de début incluse et une borne de fin exclue, toutes deux en UTC.</a:t>
            </a:r>
          </a:p>
          <a:p xmlns:a="http://schemas.openxmlformats.org/drawingml/2006/main">
            <a:r>
              <a:t>Je n'extrais aucun nom, courriel ou adresse. Les neuf colonnes répondent directement aux règles C3.</a:t>
            </a:r>
          </a:p>
          <a:p xmlns:a="http://schemas.openxmlformats.org/drawingml/2006/main">
            <a:r>
              <a:t>Preuve : job 4fb47302-bc09-449f-b2aa-6cbfe12d0e5c, état DONE, 2131 lignes.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table exchange_rates contient les dates et valeurs. La table rate_sources porte la série, les devises et l'URL officielle.</a:t>
            </a:r>
          </a:p>
          <a:p xmlns:a="http://schemas.openxmlformats.org/drawingml/2006/main">
            <a:r>
              <a:t>INNER JOIN est volontaire : une observation sans source valide ne doit pas servir au calcul.</a:t>
            </a:r>
          </a:p>
          <a:p xmlns:a="http://schemas.openxmlformats.org/drawingml/2006/main">
            <a:r>
              <a:t>La fenêtre commence sept jours avant janvier afin de couvrir les jours sans publication, notamment le week-end et les jours fériés.</a:t>
            </a:r>
          </a:p>
          <a:p xmlns:a="http://schemas.openxmlformats.org/drawingml/2006/main">
            <a:r>
              <a:t>La série BCE exprime des USD pour 1 EUR. La formule correcte consiste donc à diviser le montant supposé USD par le taux.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comparaison BigQuery conserve les mêmes jointures et le même filtre. Elle change surtout la projection des colonnes.</a:t>
            </a:r>
          </a:p>
          <a:p xmlns:a="http://schemas.openxmlformats.org/drawingml/2006/main">
            <a:r>
              <a:t>Le dry run estime 24 664 270 octets pour la version large et 12 003 113 pour la version finale, soit 51,33 % de moins.</a:t>
            </a:r>
          </a:p>
          <a:p xmlns:a="http://schemas.openxmlformats.org/drawingml/2006/main">
            <a:r>
              <a:t>Je parle d'octets estimés, pas d'un temps gagné. Les dry runs ne fournissent pas une comparaison de durée.</a:t>
            </a:r>
          </a:p>
          <a:p xmlns:a="http://schemas.openxmlformats.org/drawingml/2006/main">
            <a:r>
              <a:t>PostgreSQL utilise l'index couvrant, mais 25 lignes restent trop peu pour attribuer un gain de temps fiable à l'index.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L'ordre compte : je valide et normalise avant de chercher un taux ou d'appliquer une règle métier.</a:t>
            </a:r>
          </a:p>
          <a:p xmlns:a="http://schemas.openxmlformats.org/drawingml/2006/main">
            <a:r>
              <a:t>Les doublons sont détectés après normalisation des identifiants. Toutes les occurrences sont rejetées, ce qui évite de choisir arbitrairement une ligne.</a:t>
            </a:r>
          </a:p>
          <a:p xmlns:a="http://schemas.openxmlformats.org/drawingml/2006/main">
            <a:r>
              <a:t>Le rapprochement n'utilise jamais un taux futur. Sept jours calendaires constituent la borne inclusive du POC.</a:t>
            </a:r>
          </a:p>
          <a:p xmlns:a="http://schemas.openxmlformats.org/drawingml/2006/main">
            <a:r>
              <a:t>La conversion et l'arrondi viennent en dernier, uniquement pour une ligne admissible.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 distingue quatre statuts. REJETÉE signale une corruption. EXCLUE PAR RÈGLE MÉTIER décrit une donnée valide qui ne doit pas alimenter le montant.</a:t>
            </a:r>
          </a:p>
          <a:p xmlns:a="http://schemas.openxmlformats.org/drawingml/2006/main">
            <a:r>
              <a:t>Le tableau montre la traçabilité : chaque décision non acceptée écrit un code stable et une phrase lisible dans la quarantaine.</a:t>
            </a:r>
          </a:p>
          <a:p xmlns:a="http://schemas.openxmlformats.org/drawingml/2006/main">
            <a:r>
              <a:t>Dans les données réellement extraites, aucun rejet qualité n'a été observé. Les cas négatifs viennent de fixtures clairement séparées.</a:t>
            </a:r>
          </a:p>
          <a:p xmlns:a="http://schemas.openxmlformats.org/drawingml/2006/main">
            <a:r>
              <a:t>Un taux invalide est retiré des candidats. La vente peut utiliser un taux antérieur encore admissible, sinon elle passe à vérifier.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 graphique présente les volumes réellement produits le 16 septembre 2026.</a:t>
            </a:r>
          </a:p>
          <a:p xmlns:a="http://schemas.openxmlformats.org/drawingml/2006/main">
            <a:r>
              <a:t>L'exemple 331 part de 99,949996... dans BigQuery, se normalise à 99,95, utilise le taux du vendredi 26 janvier pour la vente du dimanche 28, puis donne 91,94 EUR.</a:t>
            </a:r>
          </a:p>
          <a:p xmlns:a="http://schemas.openxmlformats.org/drawingml/2006/main">
            <a:r>
              <a:t>L'item 140 est une annulation valide. L'item 851 reste à vérifier car la commande est en traitement.</a:t>
            </a:r>
          </a:p>
          <a:p xmlns:a="http://schemas.openxmlformats.org/drawingml/2006/main">
            <a:r>
              <a:t>Le vérificateur relit les sorties et recalcule la conversion, l'âge du taux, les clés et la partition des lignes.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 formule ce résultat comme une démonstration technique, pas comme un chiffre d'affaires d'entreprise.</a:t>
            </a:r>
          </a:p>
          <a:p xmlns:a="http://schemas.openxmlformats.org/drawingml/2006/main">
            <a:r>
              <a:t>La somme vient uniquement des lignes Complete et Shipped qui passent tous les contrôles.</a:t>
            </a:r>
          </a:p>
          <a:p xmlns:a="http://schemas.openxmlformats.org/drawingml/2006/main">
            <a:r>
              <a:t>Processing représente les lignes à revoir. Cancelled et Returned sont des exclusions métier, pas des erreurs de qualité.</a:t>
            </a:r>
          </a:p>
          <a:p xmlns:a="http://schemas.openxmlformats.org/drawingml/2006/main">
            <a:r>
              <a:t>Le total EUR dépend de l'hypothèse USD. Une validation réelle devrait confirmer la devise et la précision monétaire du système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 jury peut reproduire C3 sans accès réseau grâce aux snapshots figés et à leurs hashes.</a:t>
            </a:r>
          </a:p>
          <a:p xmlns:a="http://schemas.openxmlformats.org/drawingml/2006/main">
            <a:r>
              <a:t>La CI exécute les tests sur deux versions de Python, reconstruit les sorties puis vérifie l'absence de différence avec les fichiers versionnés.</a:t>
            </a:r>
          </a:p>
          <a:p xmlns:a="http://schemas.openxmlformats.org/drawingml/2006/main">
            <a:r>
              <a:t>L'idempotence est testée en comparant les fichiers octet par octet après deux exécutions.</a:t>
            </a:r>
          </a:p>
          <a:p xmlns:a="http://schemas.openxmlformats.org/drawingml/2006/main">
            <a:r>
              <a:t>Pour refaire C2, le README documente l'authentification BigQuery et le démarrage ou l'installation PostgreSQL. Aucun secret n'est versionné.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 termine en séparant ce que le POC prouve de ce qu'une mise en service exigerait encore.</a:t>
            </a:r>
          </a:p>
          <a:p xmlns:a="http://schemas.openxmlformats.org/drawingml/2006/main">
            <a:r>
              <a:t>Le code prouve l'extraction, le rapprochement, les décisions et la reproductibilité sur les données publiques retenues.</a:t>
            </a:r>
          </a:p>
          <a:p xmlns:a="http://schemas.openxmlformats.org/drawingml/2006/main">
            <a:r>
              <a:t>Il faut encore confirmer la devise, les statuts comptables, la fenêtre de taux, les droits d'accès et les exigences d'exploitation avec les responsables concernés.</a:t>
            </a:r>
          </a:p>
          <a:p xmlns:a="http://schemas.openxmlformats.org/drawingml/2006/main">
            <a:r>
              <a:t>Je rappelle que le projet n'a pas été déployé ou utilisé par Thales.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a5641f677249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40065c278b4871" /><Relationship Type="http://schemas.openxmlformats.org/officeDocument/2006/relationships/slideLayout" Target="/ppt/slideLayouts/slideLayout1.xml" Id="R749562ededa746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9562ededa746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e8a03253eb48b8" /><Relationship Type="http://schemas.openxmlformats.org/officeDocument/2006/relationships/notesSlide" Target="/ppt/notesSlides/notesSlide1.xml" Id="R4fb8fd28cede48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31cc056a904288" /><Relationship Type="http://schemas.openxmlformats.org/officeDocument/2006/relationships/notesSlide" Target="/ppt/notesSlides/notesSlide2.xml" Id="R3f480ba43be644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26fadec0344ca7" /><Relationship Type="http://schemas.openxmlformats.org/officeDocument/2006/relationships/notesSlide" Target="/ppt/notesSlides/notesSlide3.xml" Id="Rd4887328850944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2c3370d6d415c" /><Relationship Type="http://schemas.openxmlformats.org/officeDocument/2006/relationships/notesSlide" Target="/ppt/notesSlides/notesSlide4.xml" Id="R366920ff0bde41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6ed756e8244c5" /><Relationship Type="http://schemas.openxmlformats.org/officeDocument/2006/relationships/notesSlide" Target="/ppt/notesSlides/notesSlide5.xml" Id="R45cd46fc614d45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a6b3d754d4fd1" /><Relationship Type="http://schemas.openxmlformats.org/officeDocument/2006/relationships/chart" Target="/ppt/slides/charts/chart1.xml" Id="R380862130d594a9e" /><Relationship Type="http://schemas.openxmlformats.org/officeDocument/2006/relationships/notesSlide" Target="/ppt/notesSlides/notesSlide6.xml" Id="R0a6d460cfbe84e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7c265b1f24195" /><Relationship Type="http://schemas.openxmlformats.org/officeDocument/2006/relationships/notesSlide" Target="/ppt/notesSlides/notesSlide7.xml" Id="Reaf97d3a850544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9c33be2ce4fc7" /><Relationship Type="http://schemas.openxmlformats.org/officeDocument/2006/relationships/notesSlide" Target="/ppt/notesSlides/notesSlide8.xml" Id="R63246e14c8f54f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025918cfd4d3f" /><Relationship Type="http://schemas.openxmlformats.org/officeDocument/2006/relationships/chart" Target="/ppt/slides/charts/chart2.xml" Id="Rc2087c636a404793" /><Relationship Type="http://schemas.openxmlformats.org/officeDocument/2006/relationships/notesSlide" Target="/ppt/notesSlides/notesSlide9.xml" Id="R2fbba1e2788046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5bfcbb8b044a83" /><Relationship Type="http://schemas.openxmlformats.org/officeDocument/2006/relationships/chart" Target="/ppt/slides/charts/chart3.xml" Id="R5311fcfe7c774d82" /><Relationship Type="http://schemas.openxmlformats.org/officeDocument/2006/relationships/notesSlide" Target="/ppt/notesSlides/notesSlide10.xml" Id="Ra8c547668e4343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68ec4ed1bb43ce" /><Relationship Type="http://schemas.openxmlformats.org/officeDocument/2006/relationships/notesSlide" Target="/ppt/notesSlides/notesSlide11.xml" Id="R0d6cc66eafe24c0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4e0c1ed72b4b82" /><Relationship Type="http://schemas.openxmlformats.org/officeDocument/2006/relationships/notesSlide" Target="/ppt/notesSlides/notesSlide12.xml" Id="Ra1776894c3414b8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Millions d’octets estimés</c:v>
          </c:tx>
          <c:spPr>
            <a:solidFill xmlns:a="http://schemas.openxmlformats.org/drawingml/2006/main">
              <a:srgbClr val="1B8A9B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E56B3F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1B8A9B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Projection large</c:v>
                </c:pt>
                <c:pt idx="1">
                  <c:v>Projection finale</c:v>
                </c:pt>
              </c:strCache>
            </c:strRef>
          </c:cat>
          <c:val>
            <c:numRef>
              <c:f>'Chart Data'!$B$2:$B$3</c:f>
              <c:numCache>
                <c:formatCode>0.0" M"</c:formatCode>
                <c:ptCount val="2"/>
                <c:pt idx="0">
                  <c:v>24.66427</c:v>
                </c:pt>
                <c:pt idx="1">
                  <c:v>12.003113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1233B"/>
                  </a:solidFill>
                  <a:latin typeface="Helvetica"/>
                  <a:ea typeface="Helvetica"/>
                  <a:cs typeface="Helvetic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2C7"/>
              </a:solidFill>
              <a:prstDash val="solid"/>
            </a:ln>
          </c:spPr>
        </c:majorGridlines>
        <c:numFmt formatCode="0&quot; M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6D78"/>
                </a:solidFill>
                <a:latin typeface="Helvetica"/>
                <a:ea typeface="Helvetica"/>
                <a:cs typeface="Helvetica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2C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CF7"/>
        </a:solidFill>
      </c:spPr>
    </c:plotArea>
    <c:plotVisOnly val="1"/>
  </c:chart>
  <c:spPr>
    <a:solidFill xmlns:a="http://schemas.openxmlformats.org/drawingml/2006/main">
      <a:srgbClr val="FFFCF7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Lignes</c:v>
          </c:tx>
          <c:spPr>
            <a:solidFill xmlns:a="http://schemas.openxmlformats.org/drawingml/2006/main">
              <a:srgbClr val="1B8A9B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2F7D64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C88B2B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E56B3F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B54A45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Acceptées</c:v>
                </c:pt>
                <c:pt idx="1">
                  <c:v>À vérifier</c:v>
                </c:pt>
                <c:pt idx="2">
                  <c:v>Exclues métier</c:v>
                </c:pt>
                <c:pt idx="3">
                  <c:v>Rejetées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1167</c:v>
                </c:pt>
                <c:pt idx="1">
                  <c:v>450</c:v>
                </c:pt>
                <c:pt idx="2">
                  <c:v>514</c:v>
                </c:pt>
                <c:pt idx="3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1233B"/>
                  </a:solidFill>
                  <a:latin typeface="Helvetica"/>
                  <a:ea typeface="Helvetica"/>
                  <a:cs typeface="Helvetic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2C7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6D78"/>
                </a:solidFill>
                <a:latin typeface="Helvetica"/>
                <a:ea typeface="Helvetica"/>
                <a:cs typeface="Helvetica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2C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CF7"/>
        </a:solidFill>
      </c:spPr>
    </c:plotArea>
    <c:plotVisOnly val="1"/>
  </c:chart>
  <c:spPr>
    <a:solidFill xmlns:a="http://schemas.openxmlformats.org/drawingml/2006/main">
      <a:srgbClr val="FFFCF7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Lignes</c:v>
          </c:tx>
          <c:spPr>
            <a:solidFill xmlns:a="http://schemas.openxmlformats.org/drawingml/2006/main">
              <a:srgbClr val="E56B3F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C88B2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E56B3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173B57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Processing</c:v>
                </c:pt>
                <c:pt idx="1">
                  <c:v>Cancelled</c:v>
                </c:pt>
                <c:pt idx="2">
                  <c:v>Returned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450</c:v>
                </c:pt>
                <c:pt idx="1">
                  <c:v>280</c:v>
                </c:pt>
                <c:pt idx="2">
                  <c:v>234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233B"/>
                  </a:solidFill>
                  <a:latin typeface="Helvetica"/>
                  <a:ea typeface="Helvetica"/>
                  <a:cs typeface="Helvetic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2C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</a:p>
        </c:txPr>
        <c:crossAx val="48672768"/>
      </c:catAx>
      <c:valAx>
        <c:axId val="48672768"/>
        <c:scaling>
          <c:orientation val="minMax"/>
          <c:max val="5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2C7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6D78"/>
                </a:solidFill>
                <a:latin typeface="Helvetica"/>
                <a:ea typeface="Helvetica"/>
                <a:cs typeface="Helvetica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FFCF7"/>
        </a:solidFill>
      </c:spPr>
    </c:plotArea>
    <c:plotVisOnly val="1"/>
  </c:chart>
  <c:spPr>
    <a:solidFill xmlns:a="http://schemas.openxmlformats.org/drawingml/2006/main">
      <a:srgbClr val="FFFCF7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3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D767FC-3DF4-4DB1-B94A-576046BE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ED6DF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8ED6DF"/>
                </a:solidFill>
                <a:latin typeface="Helvetica"/>
                <a:ea typeface="Helvetica"/>
                <a:cs typeface="Helvetica"/>
              </a:rPr>
              <a:t>RETAIL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136648-8B3F-4D0F-82A3-B8A5BBC6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6202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37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Fiabiliser des ventes avant le reporting financier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025BD6-CBC9-4E52-8329-224F4CC3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E6EC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D8E6EC"/>
                </a:solidFill>
                <a:latin typeface="Helvetica"/>
                <a:ea typeface="Helvetica"/>
                <a:cs typeface="Helvetica"/>
              </a:rPr>
              <a:t>POC exécutable pour RNCP BC01 C2 et C3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B070A6-FBC0-4B1D-AADA-4F738998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1714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3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D1DB6B-C972-4BFC-9919-47D16279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EDE5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F5EDE5"/>
                </a:solidFill>
                <a:latin typeface="Helvetica"/>
                <a:ea typeface="Helvetica"/>
                <a:cs typeface="Helvetica"/>
              </a:rPr>
              <a:t>TheLook est une boutique fictive publique utilisée comme substitution.</a:t>
            </a:r>
          </a:p>
          <a:p xmlns:a="http://schemas.openxmlformats.org/drawingml/2006/main">
            <a:pPr algn="l">
              <a:defRPr sz="1650" b="0">
                <a:solidFill>
                  <a:srgbClr val="F5EDE5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F5EDE5"/>
                </a:solidFill>
                <a:latin typeface="Helvetica"/>
                <a:ea typeface="Helvetica"/>
                <a:cs typeface="Helvetica"/>
              </a:rPr>
              <a:t>Aucune donnée interne, aucun déploiement et aucun usage chez Thales.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CF74B3-76DD-4A7D-BC23-36B20621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483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4CF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AFC4CF"/>
                </a:solidFill>
                <a:latin typeface="Helvetica"/>
                <a:ea typeface="Helvetica"/>
                <a:cs typeface="Helvetica"/>
              </a:rPr>
              <a:t>Noam Leclapart-Jublot  |  Soutenance du 19 septembre 2026</a:t>
            </a:r>
          </a:p>
        </p:txBody>
      </p:sp>
    </p:spTree>
    <p:extLst>
      <p:ext uri="{BB962C8B-B14F-4D97-AF65-F5344CB8AC3E}">
        <p14:creationId xmlns:p14="http://schemas.microsoft.com/office/powerpoint/2010/main" val="16268835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4977A5-062B-428F-9A26-7BD5A887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56B3F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E56B3F"/>
                </a:solidFill>
                <a:latin typeface="Helvetica"/>
                <a:ea typeface="Helvetica"/>
                <a:cs typeface="Helvetica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8EC6A-889D-4A4E-AE94-BDA3BB05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10363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2550" b="1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Question métier et critère de décision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28B8DE-3D73-4AA9-B010-D586613D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5839F8-5E9A-44D9-BF67-AB70EF92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1057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B57"/>
                </a:solidFill>
                <a:latin typeface="Helvetica"/>
                <a:ea typeface="Helvetica"/>
                <a:cs typeface="Helvetica"/>
              </a:defRPr>
            </a:pPr>
            <a:r>
              <a:rPr sz="2250" b="1">
                <a:solidFill>
                  <a:srgbClr val="173B57"/>
                </a:solidFill>
                <a:latin typeface="Helvetica"/>
                <a:ea typeface="Helvetica"/>
                <a:cs typeface="Helvetica"/>
              </a:rPr>
              <a:t>Quelles lignes de ventes peut-on utiliser pour calculer un chiffre d’affaires en euros 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A25151-A164-4B63-8763-E4C9B29D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6B3F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E56B3F"/>
                </a:solidFill>
                <a:latin typeface="Helvetica"/>
                <a:ea typeface="Helvetica"/>
                <a:cs typeface="Helvetica"/>
              </a:rPr>
              <a:t>Une ligne exploitable doit réunir quatre preuves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43DCA-8E22-489C-90C3-7D9EC7C5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8736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3176B4-DCEB-468D-9D25-4342A04E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956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Identifiants et date valides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AF3AF-50DC-443A-AFEF-1D6D516C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8140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8736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1913FE-CA9F-4895-96F0-BC7B9B0B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242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État commercial admissible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44D09D-11CE-416B-9570-D7B9C7C3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8736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B740CD-7BC1-442C-8033-1AA36769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529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Prix strictement positif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C4BD34-A557-4133-B875-F38B5A7F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3870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8A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8736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7AD87C-9622-4290-933B-07170AFC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815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Taux BCE antérieur de 0 à 7 jours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972ECA-D472-4301-A0CA-2933D56A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003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6B3F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E56B3F"/>
                </a:solidFill>
                <a:latin typeface="Helvetica"/>
                <a:ea typeface="Helvetica"/>
                <a:cs typeface="Helvetica"/>
              </a:rPr>
              <a:t>Sortie attendue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D3D83D-C0DB-42BF-9E6A-3D579FF4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718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1875" b="1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Un jeu final unique pour les lignes acceptées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0400A9-E962-4515-B098-0FF026EC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29050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D78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5E6D78"/>
                </a:solidFill>
                <a:latin typeface="Helvetica"/>
                <a:ea typeface="Helvetica"/>
                <a:cs typeface="Helvetica"/>
              </a:rPr>
              <a:t>Chaque autre ligne reçoit un statut, un code de raison stable et une explication lisible.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11ECC4-20DA-4276-A0EE-41416BD0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2197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D64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2F7D64"/>
                </a:solidFill>
                <a:latin typeface="Helvetica"/>
                <a:ea typeface="Helvetica"/>
                <a:cs typeface="Helvetica"/>
              </a:rPr>
              <a:t>Le rapport conserve exactement les 2 131 lignes d’entrée.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AD4CA9-24FA-487A-8E51-49CACDC2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34CB76-DA19-4F4C-A8B7-6784B61D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D78"/>
                </a:solidFill>
                <a:latin typeface="Helvetica"/>
                <a:ea typeface="Helvetica"/>
                <a:cs typeface="Helvetica"/>
              </a:defRPr>
            </a:pPr>
            <a:r>
              <a:rPr sz="825" b="0">
                <a:solidFill>
                  <a:srgbClr val="5E6D78"/>
                </a:solidFill>
                <a:latin typeface="Helvetica"/>
                <a:ea typeface="Helvetica"/>
                <a:cs typeface="Helvetica"/>
              </a:rPr>
              <a:t>Source : PRD.md, output/rapport_qualite.json     2/12</a:t>
            </a:r>
          </a:p>
        </p:txBody>
      </p:sp>
    </p:spTree>
    <p:extLst>
      <p:ext uri="{BB962C8B-B14F-4D97-AF65-F5344CB8AC3E}">
        <p14:creationId xmlns:p14="http://schemas.microsoft.com/office/powerpoint/2010/main" val="8025109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152852-EB34-4119-83B0-AF4FB934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56B3F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E56B3F"/>
                </a:solidFill>
                <a:latin typeface="Helvetica"/>
                <a:ea typeface="Helvetica"/>
                <a:cs typeface="Helvetica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0B909D-79C4-4E70-AA62-80A5B79A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10363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2550" b="1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Sources publiques et architecture du POC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C82FE8-73AF-4D58-A7CA-70FFEBEC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70D191-F902-430B-8001-EDC88012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D78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5E6D78"/>
                </a:solidFill>
                <a:latin typeface="Helvetica"/>
                <a:ea typeface="Helvetica"/>
                <a:cs typeface="Helvetica"/>
              </a:rPr>
              <a:t>Période fixe : ventes du 1er au 31 janvier 2024; taux du 25 décembre 2023 au 31 janvier 2024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1120C6-694E-4967-82AE-3663C0B6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3812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DCECF0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95793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BigQuery</a:t>
            </a:r>
          </a:p>
          <a:p xmlns:a="http://schemas.openxmlformats.org/drawingml/2006/main">
            <a:pPr algn="ctr">
              <a:defRPr sz="1350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1350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TheLook fictif
orders + order_items + products
2 131 lignes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267224-EE24-4293-91AD-B6B9D741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23812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8E3D9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95793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PostgreSQL</a:t>
            </a:r>
          </a:p>
          <a:p xmlns:a="http://schemas.openxmlformats.org/drawingml/2006/main">
            <a:pPr algn="ctr">
              <a:defRPr sz="1350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1350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Taux BCE USD/EUR
rate_sources + exchange_rates
25 observations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3E9AD3-FE00-4A66-93D2-DEE84FC6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57500"/>
            <a:ext cx="30480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EEEAE3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Pipeline Python</a:t>
            </a:r>
          </a:p>
          <a:p xmlns:a="http://schemas.openxmlformats.org/drawingml/2006/main">
            <a:pPr algn="ctr">
              <a:defRPr sz="1350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1350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Validation du schéma
Normalisation et contrôles
Rapprochement temporel
Calcul décimal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D70F84-5D8D-4C7E-8E8D-EC681C08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00250"/>
            <a:ext cx="2619375" cy="904875"/>
          </a:xfrm>
          <a:prstGeom xmlns:a="http://schemas.openxmlformats.org/drawingml/2006/main" prst="roundRect">
            <a:avLst>
              <a:gd name="adj" fmla="val 18947"/>
            </a:avLst>
          </a:prstGeom>
          <a:solidFill xmlns:a="http://schemas.openxmlformats.org/drawingml/2006/main">
            <a:srgbClr val="DCEDE5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Jeu final</a:t>
            </a:r>
          </a:p>
          <a:p xmlns:a="http://schemas.openxmlformats.org/drawingml/2006/main">
            <a:pPr algn="ctr">
              <a:defRPr sz="1350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1350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1 167 lignes acceptées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3EA5E6-2DE8-4C79-90DB-C5A2FD79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38500"/>
            <a:ext cx="2619375" cy="904875"/>
          </a:xfrm>
          <a:prstGeom xmlns:a="http://schemas.openxmlformats.org/drawingml/2006/main" prst="roundRect">
            <a:avLst>
              <a:gd name="adj" fmla="val 18947"/>
            </a:avLst>
          </a:prstGeom>
          <a:solidFill xmlns:a="http://schemas.openxmlformats.org/drawingml/2006/main">
            <a:srgbClr val="F8E8C7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Quarantaine</a:t>
            </a:r>
          </a:p>
          <a:p xmlns:a="http://schemas.openxmlformats.org/drawingml/2006/main">
            <a:pPr algn="ctr">
              <a:defRPr sz="1350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1350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964 lignes expliquées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DDCEFE-6522-4516-A703-8E58DEC3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76750"/>
            <a:ext cx="2619375" cy="904875"/>
          </a:xfrm>
          <a:prstGeom xmlns:a="http://schemas.openxmlformats.org/drawingml/2006/main" prst="roundRect">
            <a:avLst>
              <a:gd name="adj" fmla="val 18947"/>
            </a:avLst>
          </a:prstGeom>
          <a:solidFill xmlns:a="http://schemas.openxmlformats.org/drawingml/2006/main">
            <a:srgbClr val="E8E1EE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Rapport</a:t>
            </a:r>
          </a:p>
          <a:p xmlns:a="http://schemas.openxmlformats.org/drawingml/2006/main">
            <a:pPr algn="ctr">
              <a:defRPr sz="1350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1350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Volumes, raisons, hashes</a:t>
            </a:r>
          </a:p>
        </p:txBody>
      </p:sp>
      <p:cxnSp>
        <p:nvCxnSpPr>
          <p:cNvPr id="28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48000" y="2714625"/>
            <a:ext cx="1285875" cy="952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1B8A9B"/>
            </a:solidFill>
            <a:prstDash val="solid"/>
          </a:ln>
        </p:spPr>
      </p:cxnSp>
      <p:cxnSp>
        <p:nvCxnSpPr>
          <p:cNvPr id="2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048000" y="3667125"/>
            <a:ext cx="1285875" cy="952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E56B3F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7381875" y="2452688"/>
            <a:ext cx="1285875" cy="1214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73B57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381875" y="3667125"/>
            <a:ext cx="1285875" cy="23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73B57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381875" y="3667125"/>
            <a:ext cx="1285875" cy="12620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73B57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813A02-9563-4EDD-811C-4CE277DD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ACC1FE-93B3-4C0E-BD09-DD990C11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D78"/>
                </a:solidFill>
                <a:latin typeface="Helvetica"/>
                <a:ea typeface="Helvetica"/>
                <a:cs typeface="Helvetica"/>
              </a:defRPr>
            </a:pPr>
            <a:r>
              <a:rPr sz="825" b="0">
                <a:solidFill>
                  <a:srgbClr val="5E6D78"/>
                </a:solidFill>
                <a:latin typeface="Helvetica"/>
                <a:ea typeface="Helvetica"/>
                <a:cs typeface="Helvetica"/>
              </a:rPr>
              <a:t>Sources : TheLook public sur BigQuery; BCE EXR.D.USD.EUR.SP00.A     3/12</a:t>
            </a:r>
          </a:p>
        </p:txBody>
      </p:sp>
    </p:spTree>
    <p:extLst>
      <p:ext uri="{BB962C8B-B14F-4D97-AF65-F5344CB8AC3E}">
        <p14:creationId xmlns:p14="http://schemas.microsoft.com/office/powerpoint/2010/main" val="8001389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E8F502-6F30-4D51-839F-F9E23351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56B3F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E56B3F"/>
                </a:solidFill>
                <a:latin typeface="Helvetica"/>
                <a:ea typeface="Helvetica"/>
                <a:cs typeface="Helvetica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7CD126-C19F-4201-8F7F-3FAE3188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10363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2550" b="1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C2 — Extraction BigQuery exécutée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4F67FF-D163-4BA0-B7ED-D0462E10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4273B-8E4C-4F79-A522-BB0B6625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D78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5E6D78"/>
                </a:solidFill>
                <a:latin typeface="Helvetica"/>
                <a:ea typeface="Helvetica"/>
                <a:cs typeface="Helvetica"/>
              </a:rPr>
              <a:t>Grain : une ligne par order_item; les états ne sont pas filtrés afin de conserver les exclusions et les cas à vérifier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228BDA-6C46-40CB-80D9-3A4FB4C7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6B3F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E56B3F"/>
                </a:solidFill>
                <a:latin typeface="Helvetica"/>
                <a:ea typeface="Helvetica"/>
                <a:cs typeface="Helvetica"/>
              </a:rPr>
              <a:t>SQL versionné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3A376F-160E-4DC3-952E-1741D4C3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6197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33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133350" rIns="15240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AF3F6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6"/>
                </a:solidFill>
                <a:latin typeface="Menlo"/>
                <a:ea typeface="Menlo"/>
                <a:cs typeface="Menlo"/>
              </a:rPr>
              <a:t>SELECT</a:t>
            </a:r>
          </a:p>
          <a:p xmlns:a="http://schemas.openxmlformats.org/drawingml/2006/main">
            <a:pPr algn="l">
              <a:defRPr sz="1125" b="0">
                <a:solidFill>
                  <a:srgbClr val="EAF3F6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6"/>
                </a:solidFill>
                <a:latin typeface="Menlo"/>
                <a:ea typeface="Menlo"/>
                <a:cs typeface="Menlo"/>
              </a:rPr>
              <a:t>  oi.order_id, oi.id AS order_item_id, oi.product_id,</a:t>
            </a:r>
          </a:p>
          <a:p xmlns:a="http://schemas.openxmlformats.org/drawingml/2006/main">
            <a:pPr algn="l">
              <a:defRPr sz="1125" b="0">
                <a:solidFill>
                  <a:srgbClr val="EAF3F6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6"/>
                </a:solidFill>
                <a:latin typeface="Menlo"/>
                <a:ea typeface="Menlo"/>
                <a:cs typeface="Menlo"/>
              </a:rPr>
              <a:t>  DATE(oi.created_at, 'UTC') AS sale_date_utc,</a:t>
            </a:r>
          </a:p>
          <a:p xmlns:a="http://schemas.openxmlformats.org/drawingml/2006/main">
            <a:pPr algn="l">
              <a:defRPr sz="1125" b="0">
                <a:solidFill>
                  <a:srgbClr val="EAF3F6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6"/>
                </a:solidFill>
                <a:latin typeface="Menlo"/>
                <a:ea typeface="Menlo"/>
                <a:cs typeface="Menlo"/>
              </a:rPr>
              <a:t>  o.status AS order_status, oi.status AS item_status,</a:t>
            </a:r>
          </a:p>
          <a:p xmlns:a="http://schemas.openxmlformats.org/drawingml/2006/main">
            <a:pPr algn="l">
              <a:defRPr sz="1125" b="0">
                <a:solidFill>
                  <a:srgbClr val="EAF3F6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6"/>
                </a:solidFill>
                <a:latin typeface="Menlo"/>
                <a:ea typeface="Menlo"/>
                <a:cs typeface="Menlo"/>
              </a:rPr>
              <a:t>  oi.sale_price, p.category AS product_category</a:t>
            </a:r>
          </a:p>
          <a:p xmlns:a="http://schemas.openxmlformats.org/drawingml/2006/main">
            <a:pPr algn="l">
              <a:defRPr sz="1125" b="0">
                <a:solidFill>
                  <a:srgbClr val="EAF3F6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6"/>
                </a:solidFill>
                <a:latin typeface="Menlo"/>
                <a:ea typeface="Menlo"/>
                <a:cs typeface="Menlo"/>
              </a:rPr>
              <a:t>FROM `...order_items` oi</a:t>
            </a:r>
          </a:p>
          <a:p xmlns:a="http://schemas.openxmlformats.org/drawingml/2006/main">
            <a:pPr algn="l">
              <a:defRPr sz="1125" b="0">
                <a:solidFill>
                  <a:srgbClr val="EAF3F6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6"/>
                </a:solidFill>
                <a:latin typeface="Menlo"/>
                <a:ea typeface="Menlo"/>
                <a:cs typeface="Menlo"/>
              </a:rPr>
              <a:t>LEFT JOIN `...orders` o ON o.order_id = oi.order_id</a:t>
            </a:r>
          </a:p>
          <a:p xmlns:a="http://schemas.openxmlformats.org/drawingml/2006/main">
            <a:pPr algn="l">
              <a:defRPr sz="1125" b="0">
                <a:solidFill>
                  <a:srgbClr val="EAF3F6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6"/>
                </a:solidFill>
                <a:latin typeface="Menlo"/>
                <a:ea typeface="Menlo"/>
                <a:cs typeface="Menlo"/>
              </a:rPr>
              <a:t>LEFT JOIN `...products` p ON p.id = oi.product_id</a:t>
            </a:r>
          </a:p>
          <a:p xmlns:a="http://schemas.openxmlformats.org/drawingml/2006/main">
            <a:pPr algn="l">
              <a:defRPr sz="1125" b="0">
                <a:solidFill>
                  <a:srgbClr val="EAF3F6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6"/>
                </a:solidFill>
                <a:latin typeface="Menlo"/>
                <a:ea typeface="Menlo"/>
                <a:cs typeface="Menlo"/>
              </a:rPr>
              <a:t>WHERE oi.created_at &gt;= TIMESTAMP('2024-01-01', 'UTC')</a:t>
            </a:r>
          </a:p>
          <a:p xmlns:a="http://schemas.openxmlformats.org/drawingml/2006/main">
            <a:pPr algn="l">
              <a:defRPr sz="1125" b="0">
                <a:solidFill>
                  <a:srgbClr val="EAF3F6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6"/>
                </a:solidFill>
                <a:latin typeface="Menlo"/>
                <a:ea typeface="Menlo"/>
                <a:cs typeface="Menlo"/>
              </a:rPr>
              <a:t>  AND oi.created_at &lt;  TIMESTAMP('2024-02-01', 'UTC')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8D06A8-190A-4CC6-B2EE-DBEDD3CF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466850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6B3F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E56B3F"/>
                </a:solidFill>
                <a:latin typeface="Helvetica"/>
                <a:ea typeface="Helvetica"/>
                <a:cs typeface="Helvetica"/>
              </a:rPr>
              <a:t>Extrait réel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715125" y="1809750"/>
          <a:ext xmlns:a="http://schemas.openxmlformats.org/drawingml/2006/main" cx="4572000" cy="2238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4476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item</a:t>
                      </a:r>
                    </a:p>
                  </a:txBody>
                  <a:tcPr marL="76200" marR="76200" marT="57150" marB="57150" anchor="ctr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date UTC</a:t>
                      </a:r>
                    </a:p>
                  </a:txBody>
                  <a:tcPr marL="76200" marR="76200" marT="57150" marB="57150" anchor="ctr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statut</a:t>
                      </a:r>
                    </a:p>
                  </a:txBody>
                  <a:tcPr marL="76200" marR="76200" marT="57150" marB="57150" anchor="ctr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prix</a:t>
                      </a:r>
                    </a:p>
                  </a:txBody>
                  <a:tcPr marL="76200" marR="76200" marT="57150" marB="57150" anchor="ctr">
                    <a:solidFill>
                      <a:srgbClr val="173B57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140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2024-01-22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Cancelled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48.00</a:t>
                      </a:r>
                    </a:p>
                  </a:txBody>
                  <a:tcPr marL="76200" marR="76200" marT="47625" marB="47625" anchor="ctr"/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331</a:t>
                      </a:r>
                    </a:p>
                  </a:txBody>
                  <a:tcPr marL="76200" marR="76200" marT="47625" marB="47625" anchor="ctr">
                    <a:solidFill>
                      <a:srgbClr val="EEEA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2024-01-28</a:t>
                      </a:r>
                    </a:p>
                  </a:txBody>
                  <a:tcPr marL="76200" marR="76200" marT="47625" marB="47625" anchor="ctr">
                    <a:solidFill>
                      <a:srgbClr val="EEEA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Complete</a:t>
                      </a:r>
                    </a:p>
                  </a:txBody>
                  <a:tcPr marL="76200" marR="76200" marT="47625" marB="47625" anchor="ctr">
                    <a:solidFill>
                      <a:srgbClr val="EEEA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99.949996…</a:t>
                      </a:r>
                    </a:p>
                  </a:txBody>
                  <a:tcPr marL="76200" marR="76200" marT="47625" marB="47625" anchor="ctr">
                    <a:solidFill>
                      <a:srgbClr val="EEEAE3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388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2024-01-12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Returned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39.50</a:t>
                      </a:r>
                    </a:p>
                  </a:txBody>
                  <a:tcPr marL="76200" marR="76200" marT="47625" marB="47625" anchor="ctr"/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413</a:t>
                      </a:r>
                    </a:p>
                  </a:txBody>
                  <a:tcPr marL="76200" marR="76200" marT="47625" marB="47625" anchor="ctr">
                    <a:solidFill>
                      <a:srgbClr val="EEEA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2024-01-30</a:t>
                      </a:r>
                    </a:p>
                  </a:txBody>
                  <a:tcPr marL="76200" marR="76200" marT="47625" marB="47625" anchor="ctr">
                    <a:solidFill>
                      <a:srgbClr val="EEEA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Returned</a:t>
                      </a:r>
                    </a:p>
                  </a:txBody>
                  <a:tcPr marL="76200" marR="76200" marT="47625" marB="47625" anchor="ctr">
                    <a:solidFill>
                      <a:srgbClr val="EEEA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16.50</a:t>
                      </a:r>
                    </a:p>
                  </a:txBody>
                  <a:tcPr marL="76200" marR="76200" marT="47625" marB="47625" anchor="ctr">
                    <a:solidFill>
                      <a:srgbClr val="EEEAE3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1C6B51-E692-4397-A249-94CD97F7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3243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B57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173B57"/>
                </a:solidFill>
                <a:latin typeface="Helvetica"/>
                <a:ea typeface="Helvetica"/>
                <a:cs typeface="Helvetica"/>
              </a:rPr>
              <a:t>Job 4fb47302-bc09-449f-b2aa-6cbfe12d0e5c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713263-6636-4368-970F-299DBCBC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695825"/>
            <a:ext cx="4572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2 131 lignes  ·  12 003 113 octets traités  ·  69 slot-ms  ·  cache absent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45B59A-1BEA-435E-A541-F2EA4B9B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6007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D78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5E6D78"/>
                </a:solidFill>
                <a:latin typeface="Helvetica"/>
                <a:ea typeface="Helvetica"/>
                <a:cs typeface="Helvetica"/>
              </a:rPr>
              <a:t>LEFT JOIN : les références absentes restent visibles pour le contrôle qualité.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9B46E0-FDBD-4C39-A800-B795502F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CB9305-6293-4FB3-A288-14E5CC78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D78"/>
                </a:solidFill>
                <a:latin typeface="Helvetica"/>
                <a:ea typeface="Helvetica"/>
                <a:cs typeface="Helvetica"/>
              </a:defRPr>
            </a:pPr>
            <a:r>
              <a:rPr sz="825" b="0">
                <a:solidFill>
                  <a:srgbClr val="5E6D78"/>
                </a:solidFill>
                <a:latin typeface="Helvetica"/>
                <a:ea typeface="Helvetica"/>
                <a:cs typeface="Helvetica"/>
              </a:rPr>
              <a:t>sql/bigquery_sales.sql; evidence/mesures_des_requetes/bigquery_sales_job.json     4/12</a:t>
            </a:r>
          </a:p>
        </p:txBody>
      </p:sp>
    </p:spTree>
    <p:extLst>
      <p:ext uri="{BB962C8B-B14F-4D97-AF65-F5344CB8AC3E}">
        <p14:creationId xmlns:p14="http://schemas.microsoft.com/office/powerpoint/2010/main" val="15008518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50F0B4-8F2D-49BB-8D52-5FBBE50A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56B3F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E56B3F"/>
                </a:solidFill>
                <a:latin typeface="Helvetica"/>
                <a:ea typeface="Helvetica"/>
                <a:cs typeface="Helvetica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DD7FDD-CE5D-45F6-A1D1-4D031F81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10363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2550" b="1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C2 — Extraction PostgreSQL exécutée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D3C9CC-F96E-488B-90F3-D0A3ED9C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2CB4D7-CEE2-49AC-901F-84016571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D78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5E6D78"/>
                </a:solidFill>
                <a:latin typeface="Helvetica"/>
                <a:ea typeface="Helvetica"/>
                <a:cs typeface="Helvetica"/>
              </a:rPr>
              <a:t>La jointure ajoute la paire, la série et l’URL de provenance à chaque observation BCE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EA865B-A498-4813-B7FA-E4397EDC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6B3F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E56B3F"/>
                </a:solidFill>
                <a:latin typeface="Helvetica"/>
                <a:ea typeface="Helvetica"/>
                <a:cs typeface="Helvetica"/>
              </a:rPr>
              <a:t>SQL versionné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66F09C-EF36-4B26-AA02-F002F7C8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619750" cy="3571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33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133350" rIns="15240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AF3F6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6"/>
                </a:solidFill>
                <a:latin typeface="Menlo"/>
                <a:ea typeface="Menlo"/>
                <a:cs typeface="Menlo"/>
              </a:rPr>
              <a:t>SELECT</a:t>
            </a:r>
          </a:p>
          <a:p xmlns:a="http://schemas.openxmlformats.org/drawingml/2006/main">
            <a:pPr algn="l">
              <a:defRPr sz="1125" b="0">
                <a:solidFill>
                  <a:srgbClr val="EAF3F6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6"/>
                </a:solidFill>
                <a:latin typeface="Menlo"/>
                <a:ea typeface="Menlo"/>
                <a:cs typeface="Menlo"/>
              </a:rPr>
              <a:t>  r.rate_date, s.quote_currency, s.base_currency,</a:t>
            </a:r>
          </a:p>
          <a:p xmlns:a="http://schemas.openxmlformats.org/drawingml/2006/main">
            <a:pPr algn="l">
              <a:defRPr sz="1125" b="0">
                <a:solidFill>
                  <a:srgbClr val="EAF3F6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6"/>
                </a:solidFill>
                <a:latin typeface="Menlo"/>
                <a:ea typeface="Menlo"/>
                <a:cs typeface="Menlo"/>
              </a:rPr>
              <a:t>  r.usd_per_eur, r.observation_status,</a:t>
            </a:r>
          </a:p>
          <a:p xmlns:a="http://schemas.openxmlformats.org/drawingml/2006/main">
            <a:pPr algn="l">
              <a:defRPr sz="1125" b="0">
                <a:solidFill>
                  <a:srgbClr val="EAF3F6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6"/>
                </a:solidFill>
                <a:latin typeface="Menlo"/>
                <a:ea typeface="Menlo"/>
                <a:cs typeface="Menlo"/>
              </a:rPr>
              <a:t>  s.series_key, s.source_url</a:t>
            </a:r>
          </a:p>
          <a:p xmlns:a="http://schemas.openxmlformats.org/drawingml/2006/main">
            <a:pPr algn="l">
              <a:defRPr sz="1125" b="0">
                <a:solidFill>
                  <a:srgbClr val="EAF3F6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6"/>
                </a:solidFill>
                <a:latin typeface="Menlo"/>
                <a:ea typeface="Menlo"/>
                <a:cs typeface="Menlo"/>
              </a:rPr>
              <a:t>FROM exchange_rates r</a:t>
            </a:r>
          </a:p>
          <a:p xmlns:a="http://schemas.openxmlformats.org/drawingml/2006/main">
            <a:pPr algn="l">
              <a:defRPr sz="1125" b="0">
                <a:solidFill>
                  <a:srgbClr val="EAF3F6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6"/>
                </a:solidFill>
                <a:latin typeface="Menlo"/>
                <a:ea typeface="Menlo"/>
                <a:cs typeface="Menlo"/>
              </a:rPr>
              <a:t>INNER JOIN rate_sources s ON s.source_id = r.source_id</a:t>
            </a:r>
          </a:p>
          <a:p xmlns:a="http://schemas.openxmlformats.org/drawingml/2006/main">
            <a:pPr algn="l">
              <a:defRPr sz="1125" b="0">
                <a:solidFill>
                  <a:srgbClr val="EAF3F6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6"/>
                </a:solidFill>
                <a:latin typeface="Menlo"/>
                <a:ea typeface="Menlo"/>
                <a:cs typeface="Menlo"/>
              </a:rPr>
              <a:t>WHERE s.series_key = 'EXR.D.USD.EUR.SP00.A'</a:t>
            </a:r>
          </a:p>
          <a:p xmlns:a="http://schemas.openxmlformats.org/drawingml/2006/main">
            <a:pPr algn="l">
              <a:defRPr sz="1125" b="0">
                <a:solidFill>
                  <a:srgbClr val="EAF3F6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6"/>
                </a:solidFill>
                <a:latin typeface="Menlo"/>
                <a:ea typeface="Menlo"/>
                <a:cs typeface="Menlo"/>
              </a:rPr>
              <a:t>  AND r.rate_date &gt;= DATE '2024-01-01' - INTERVAL '7 days'</a:t>
            </a:r>
          </a:p>
          <a:p xmlns:a="http://schemas.openxmlformats.org/drawingml/2006/main">
            <a:pPr algn="l">
              <a:defRPr sz="1125" b="0">
                <a:solidFill>
                  <a:srgbClr val="EAF3F6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6"/>
                </a:solidFill>
                <a:latin typeface="Menlo"/>
                <a:ea typeface="Menlo"/>
                <a:cs typeface="Menlo"/>
              </a:rPr>
              <a:t>  AND r.rate_date &lt;  DATE '2024-02-01'</a:t>
            </a:r>
          </a:p>
          <a:p xmlns:a="http://schemas.openxmlformats.org/drawingml/2006/main">
            <a:pPr algn="l">
              <a:defRPr sz="1125" b="0">
                <a:solidFill>
                  <a:srgbClr val="EAF3F6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6"/>
                </a:solidFill>
                <a:latin typeface="Menlo"/>
                <a:ea typeface="Menlo"/>
                <a:cs typeface="Menlo"/>
              </a:rPr>
              <a:t>ORDER BY r.rate_date;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CAE606-CC77-4FE1-839D-BE61639D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466850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6B3F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E56B3F"/>
                </a:solidFill>
                <a:latin typeface="Helvetica"/>
                <a:ea typeface="Helvetica"/>
                <a:cs typeface="Helvetica"/>
              </a:rPr>
              <a:t>Extrait réel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715125" y="1809750"/>
          <a:ext xmlns:a="http://schemas.openxmlformats.org/drawingml/2006/main" cx="45720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1524000"/>
                <a:gridCol w="1524000"/>
              </a:tblGrid>
              <a:tr h="412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date</a:t>
                      </a:r>
                    </a:p>
                  </a:txBody>
                  <a:tcPr marL="76200" marR="76200" marT="57150" marB="57150" anchor="ctr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USD / EUR</a:t>
                      </a:r>
                    </a:p>
                  </a:txBody>
                  <a:tcPr marL="76200" marR="76200" marT="57150" marB="57150" anchor="ctr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statut</a:t>
                      </a:r>
                    </a:p>
                  </a:txBody>
                  <a:tcPr marL="76200" marR="76200" marT="57150" marB="57150" anchor="ctr">
                    <a:solidFill>
                      <a:srgbClr val="173B57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2023-12-27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1.10650000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76200" marR="76200" marT="47625" marB="47625" anchor="ctr"/>
                </a:tc>
              </a:tr>
              <a:tr h="4127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2023-12-28</a:t>
                      </a:r>
                    </a:p>
                  </a:txBody>
                  <a:tcPr marL="76200" marR="76200" marT="47625" marB="47625" anchor="ctr">
                    <a:solidFill>
                      <a:srgbClr val="EEEA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1.11140000</a:t>
                      </a:r>
                    </a:p>
                  </a:txBody>
                  <a:tcPr marL="76200" marR="76200" marT="47625" marB="47625" anchor="ctr">
                    <a:solidFill>
                      <a:srgbClr val="EEEA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76200" marR="76200" marT="47625" marB="47625" anchor="ctr">
                    <a:solidFill>
                      <a:srgbClr val="EEEAE3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2023-12-29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1.10500000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76200" marR="76200" marT="47625" marB="47625" anchor="ctr"/>
                </a:tc>
              </a:tr>
              <a:tr h="4127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2024-01-02</a:t>
                      </a:r>
                    </a:p>
                  </a:txBody>
                  <a:tcPr marL="76200" marR="76200" marT="47625" marB="47625" anchor="ctr">
                    <a:solidFill>
                      <a:srgbClr val="EEEA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1.09560000</a:t>
                      </a:r>
                    </a:p>
                  </a:txBody>
                  <a:tcPr marL="76200" marR="76200" marT="47625" marB="47625" anchor="ctr">
                    <a:solidFill>
                      <a:srgbClr val="EEEA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76200" marR="76200" marT="47625" marB="47625" anchor="ctr">
                    <a:solidFill>
                      <a:srgbClr val="EEEAE3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2024-01-03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1.09190000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76200" marR="76200" marT="47625" marB="47625" anchor="ctr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F093D8-F196-4C07-8D9C-8E506129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552950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57"/>
                </a:solidFill>
                <a:latin typeface="Helvetica"/>
                <a:ea typeface="Helvetica"/>
                <a:cs typeface="Helvetica"/>
              </a:defRPr>
            </a:pPr>
            <a:r>
              <a:rPr sz="1575" b="1">
                <a:solidFill>
                  <a:srgbClr val="173B57"/>
                </a:solidFill>
                <a:latin typeface="Helvetica"/>
                <a:ea typeface="Helvetica"/>
                <a:cs typeface="Helvetica"/>
              </a:rPr>
              <a:t>25 taux  ·  PostgreSQL 17.11  ·  27/12/2023 au 31/01/2024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AF7764-05FB-4752-9E50-D4A4AB11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38162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D78"/>
                </a:solidFill>
                <a:latin typeface="Helvetica"/>
                <a:ea typeface="Helvetica"/>
                <a:cs typeface="Helvetica"/>
              </a:defRPr>
            </a:pPr>
            <a:r>
              <a:rPr sz="1275" b="0">
                <a:solidFill>
                  <a:srgbClr val="5E6D78"/>
                </a:solidFill>
                <a:latin typeface="Helvetica"/>
                <a:ea typeface="Helvetica"/>
                <a:cs typeface="Helvetica"/>
              </a:rPr>
              <a:t>Un taux sans source valide ne peut pas entrer dans la conversion.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4385D0-A92C-40C7-BDDC-13C1C7F3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AC410E-6011-4944-A7BC-48B4134A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D78"/>
                </a:solidFill>
                <a:latin typeface="Helvetica"/>
                <a:ea typeface="Helvetica"/>
                <a:cs typeface="Helvetica"/>
              </a:defRPr>
            </a:pPr>
            <a:r>
              <a:rPr sz="825" b="0">
                <a:solidFill>
                  <a:srgbClr val="5E6D78"/>
                </a:solidFill>
                <a:latin typeface="Helvetica"/>
                <a:ea typeface="Helvetica"/>
                <a:cs typeface="Helvetica"/>
              </a:rPr>
              <a:t>sql/postgres_rates.sql; evidence/.../postgres_job.json     5/12</a:t>
            </a:r>
          </a:p>
        </p:txBody>
      </p:sp>
    </p:spTree>
    <p:extLst>
      <p:ext uri="{BB962C8B-B14F-4D97-AF65-F5344CB8AC3E}">
        <p14:creationId xmlns:p14="http://schemas.microsoft.com/office/powerpoint/2010/main" val="3801486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ABCCBB-9239-4DF3-8EDA-8DD49F6E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56B3F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E56B3F"/>
                </a:solidFill>
                <a:latin typeface="Helvetica"/>
                <a:ea typeface="Helvetica"/>
                <a:cs typeface="Helvetica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4390C-70A9-4B11-8A33-D62BBCCC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10363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2550" b="1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C2 — Mesures d’optimisation et limites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53D264-0EB3-416B-A4D8-E15697E4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9350B6-62C9-4F04-AB82-05FEC1FE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D78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5E6D78"/>
                </a:solidFill>
                <a:latin typeface="Helvetica"/>
                <a:ea typeface="Helvetica"/>
                <a:cs typeface="Helvetica"/>
              </a:rPr>
              <a:t>Les comparaisons distinguent une estimation de dry run, un job exécuté et un plan PostgreSQL réel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590550" y="1619250"/>
          <a:ext xmlns:a="http://schemas.openxmlformats.org/drawingml/2006/main" cx="619125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80862130d594a9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A56561-DB04-4BD4-935E-D790BB2E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F7D64"/>
                </a:solidFill>
                <a:latin typeface="Helvetica"/>
                <a:ea typeface="Helvetica"/>
                <a:cs typeface="Helvetica"/>
              </a:defRPr>
            </a:pPr>
            <a:r>
              <a:rPr sz="1950" b="1">
                <a:solidFill>
                  <a:srgbClr val="2F7D64"/>
                </a:solidFill>
                <a:latin typeface="Helvetica"/>
                <a:ea typeface="Helvetica"/>
                <a:cs typeface="Helvetica"/>
              </a:rPr>
              <a:t>−51,33 % d’octets estimés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472721-FD12-47B0-980B-D642155E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811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6B3F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E56B3F"/>
                </a:solidFill>
                <a:latin typeface="Helvetica"/>
                <a:ea typeface="Helvetica"/>
                <a:cs typeface="Helvetica"/>
              </a:rPr>
              <a:t>BigQuery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652536-4930-4A8D-8F61-A29626FE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00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D78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5E6D78"/>
                </a:solidFill>
                <a:latin typeface="Helvetica"/>
                <a:ea typeface="Helvetica"/>
                <a:cs typeface="Helvetica"/>
              </a:rPr>
              <a:t>Job final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46FD69-FA2C-4561-97E7-816846D3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05050"/>
            <a:ext cx="4000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12 003 113 octets traités</a:t>
            </a:r>
          </a:p>
          <a:p xmlns:a="http://schemas.openxmlformats.org/drawingml/2006/main">
            <a:pPr algn="l">
              <a:defRPr sz="1425" b="0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31 457 280 octets dans le champ facturable</a:t>
            </a:r>
          </a:p>
          <a:p xmlns:a="http://schemas.openxmlformats.org/drawingml/2006/main">
            <a:pPr algn="l">
              <a:defRPr sz="1425" b="0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69 slot-ms, 343 ms de travail 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8E24EA-958E-42C3-AE49-1DDB6084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38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6B3F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E56B3F"/>
                </a:solidFill>
                <a:latin typeface="Helvetica"/>
                <a:ea typeface="Helvetica"/>
                <a:cs typeface="Helvetica"/>
              </a:rPr>
              <a:t>PostgreSQL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D5114E-8432-4CB5-8761-5F918510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38600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Index couvrant utilisé</a:t>
            </a:r>
          </a:p>
          <a:p xmlns:a="http://schemas.openxmlformats.org/drawingml/2006/main">
            <a:pPr algn="l">
              <a:defRPr sz="1425" b="0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4 blocs en cache, 0 bloc lu du disque</a:t>
            </a:r>
          </a:p>
          <a:p xmlns:a="http://schemas.openxmlformats.org/drawingml/2006/main">
            <a:pPr algn="l">
              <a:defRPr sz="1425" b="0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0,022 ms d’exécution serveur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FE2226-3597-4DFC-9D8A-D165AA23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76850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54A45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B54A45"/>
                </a:solidFill>
                <a:latin typeface="Helvetica"/>
                <a:ea typeface="Helvetica"/>
                <a:cs typeface="Helvetica"/>
              </a:rPr>
              <a:t>Aucun gain de durée n’est revendiqué. Les tables BigQuery ne sont pas partitionnées selon les métadonnées relevées.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8DA715-D791-47B5-A5D8-34D44EDF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99897E-0F53-45E3-8677-75BD1564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D78"/>
                </a:solidFill>
                <a:latin typeface="Helvetica"/>
                <a:ea typeface="Helvetica"/>
                <a:cs typeface="Helvetica"/>
              </a:defRPr>
            </a:pPr>
            <a:r>
              <a:rPr sz="825" b="0">
                <a:solidFill>
                  <a:srgbClr val="5E6D78"/>
                </a:solidFill>
                <a:latin typeface="Helvetica"/>
                <a:ea typeface="Helvetica"/>
                <a:cs typeface="Helvetica"/>
              </a:rPr>
              <a:t>evidence/mesures_des_requetes/bigquery_dry_runs.json; postgres_job.json     6/12</a:t>
            </a:r>
          </a:p>
        </p:txBody>
      </p:sp>
    </p:spTree>
    <p:extLst>
      <p:ext uri="{BB962C8B-B14F-4D97-AF65-F5344CB8AC3E}">
        <p14:creationId xmlns:p14="http://schemas.microsoft.com/office/powerpoint/2010/main" val="17854298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D567F9-3720-42E6-AE3F-DD2B272D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56B3F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E56B3F"/>
                </a:solidFill>
                <a:latin typeface="Helvetica"/>
                <a:ea typeface="Helvetica"/>
                <a:cs typeface="Helvetica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933EA-AFFE-41D4-A025-2C430372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10363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2550" b="1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C3 — Ordre déterministe de l’algorithme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530349-227C-4280-9FD6-1676970A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1488D-85E5-4E74-907F-7C38298D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1D9424-42D6-416F-BA54-633C5EF5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40970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Valider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BEA3D0-FE1A-486D-AE09-E40B1760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409700"/>
            <a:ext cx="685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D78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5E6D78"/>
                </a:solidFill>
                <a:latin typeface="Helvetica"/>
                <a:ea typeface="Helvetica"/>
                <a:cs typeface="Helvetica"/>
              </a:rPr>
              <a:t>Fichiers, en-têtes, colonnes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C0E80-6FBE-4A27-ADEF-2BC8BF57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866900"/>
            <a:ext cx="1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CE9570-8176-4034-BF78-6D0901D2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5BE095-2098-4AB7-BF5C-5F7E7535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7645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Normaliser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CFEB9C-77D9-432C-B434-94F4F383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76450"/>
            <a:ext cx="685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D78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5E6D78"/>
                </a:solidFill>
                <a:latin typeface="Helvetica"/>
                <a:ea typeface="Helvetica"/>
                <a:cs typeface="Helvetica"/>
              </a:rPr>
              <a:t>IDs, dates UTC, décimaux, libellés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C6E68D-3FC9-4AA4-A064-ED26E0F8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533650"/>
            <a:ext cx="1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748A5C-05A9-488A-AAB6-5BE483C9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09FE03-627B-4021-8D54-7554ABA2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4320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Contrôler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8938CF-C6F6-4527-A00B-A0C97F2E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43200"/>
            <a:ext cx="685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D78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5E6D78"/>
                </a:solidFill>
                <a:latin typeface="Helvetica"/>
                <a:ea typeface="Helvetica"/>
                <a:cs typeface="Helvetica"/>
              </a:rPr>
              <a:t>Corruptions et doublons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473029-05E0-4698-AB42-B45D8EFF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200400"/>
            <a:ext cx="1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2D0B8E-1F47-4C75-A461-C3D67BB7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8A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C7344B-BDD0-41C3-B46C-4552EBDD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0995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Décider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87072F-F3EC-4E0E-8CB9-6D7DDC62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09950"/>
            <a:ext cx="685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D78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5E6D78"/>
                </a:solidFill>
                <a:latin typeface="Helvetica"/>
                <a:ea typeface="Helvetica"/>
                <a:cs typeface="Helvetica"/>
              </a:rPr>
              <a:t>Qualité puis règle métier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9FA153-45FB-4403-8222-950FC552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867150"/>
            <a:ext cx="1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98A435-E7FD-4109-854C-4E0CCB97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8A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5BE298-8ADF-4FAD-87E7-D2BDBA2E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7670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Rapprocher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5F0E6D-C72A-44F0-833A-9A992CE5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76700"/>
            <a:ext cx="685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D78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5E6D78"/>
                </a:solidFill>
                <a:latin typeface="Helvetica"/>
                <a:ea typeface="Helvetica"/>
                <a:cs typeface="Helvetica"/>
              </a:rPr>
              <a:t>Dernier taux antérieur, max. 7 jours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35ACFB-D016-412F-BA79-6E517451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533900"/>
            <a:ext cx="1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AE44AB-B311-4D64-B423-93A7C7A9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8A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0A89FC-9FA1-447D-AB35-E9E36D48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4345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Calculer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FAD3A0-4148-4EB6-B9A3-926C9F5E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743450"/>
            <a:ext cx="685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D78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5E6D78"/>
                </a:solidFill>
                <a:latin typeface="Helvetica"/>
                <a:ea typeface="Helvetica"/>
                <a:cs typeface="Helvetica"/>
              </a:rPr>
              <a:t>USD ÷ USD/EUR, arrondi par ligne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0A0F1E-148A-4799-9A9E-2130F542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200650"/>
            <a:ext cx="1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9CB58E-6222-4412-B742-89C17017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6B3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F6E8E1-ABBE-43A3-B409-31978B59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41020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Écrire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F979EA-0913-4366-9B43-4343A4B9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410200"/>
            <a:ext cx="685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D78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5E6D78"/>
                </a:solidFill>
                <a:latin typeface="Helvetica"/>
                <a:ea typeface="Helvetica"/>
                <a:cs typeface="Helvetica"/>
              </a:rPr>
              <a:t>Final, quarantaine, rapport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3F800A-530D-4B19-90DF-672BAE8B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24500"/>
            <a:ext cx="4000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CECF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89821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B57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73B57"/>
                </a:solidFill>
                <a:latin typeface="Helvetica"/>
                <a:ea typeface="Helvetica"/>
                <a:cs typeface="Helvetica"/>
              </a:rPr>
              <a:t>Le premier motif applicable devient la décision principale. Aucune ligne ne change de statut selon l’ordre du CSV.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FD9708-0C48-47C2-AEFF-044E9DC9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5B12BC-110E-4F92-A473-8CBB3D38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D78"/>
                </a:solidFill>
                <a:latin typeface="Helvetica"/>
                <a:ea typeface="Helvetica"/>
                <a:cs typeface="Helvetica"/>
              </a:defRPr>
            </a:pPr>
            <a:r>
              <a:rPr sz="825" b="0">
                <a:solidFill>
                  <a:srgbClr val="5E6D78"/>
                </a:solidFill>
                <a:latin typeface="Helvetica"/>
                <a:ea typeface="Helvetica"/>
                <a:cs typeface="Helvetica"/>
              </a:rPr>
              <a:t>src/build_dataset.py; src/quality_rules.py; docs/algorithme-et-regles-qualite.md     7/12</a:t>
            </a:r>
          </a:p>
        </p:txBody>
      </p:sp>
    </p:spTree>
    <p:extLst>
      <p:ext uri="{BB962C8B-B14F-4D97-AF65-F5344CB8AC3E}">
        <p14:creationId xmlns:p14="http://schemas.microsoft.com/office/powerpoint/2010/main" val="16572774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FFB6A2-E173-4901-AF14-AE60CDA8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56B3F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E56B3F"/>
                </a:solidFill>
                <a:latin typeface="Helvetica"/>
                <a:ea typeface="Helvetica"/>
                <a:cs typeface="Helvetica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779FA0-50DB-402E-9589-34938384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10363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2550" b="1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C3 — Règles, décisions et codes de raison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935DDD-F09D-4C31-8FC1-39949882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E03289-4057-4033-AB99-95562C2B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D78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5E6D78"/>
                </a:solidFill>
                <a:latin typeface="Helvetica"/>
                <a:ea typeface="Helvetica"/>
                <a:cs typeface="Helvetica"/>
              </a:rPr>
              <a:t>Les anomalies fabriquées vivent uniquement dans tests/fixtures; les résultats publics n’en contiennent aucune ajoutée artificiellement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04850" y="1581150"/>
          <a:ext xmlns:a="http://schemas.openxmlformats.org/drawingml/2006/main" cx="107632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2476500"/>
                <a:gridCol w="4191000"/>
              </a:tblGrid>
              <a:tr h="419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Condition</a:t>
                      </a:r>
                    </a:p>
                  </a:txBody>
                  <a:tcPr marL="76200" marR="76200" marT="57150" marB="57150" anchor="ctr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Décision</a:t>
                      </a:r>
                    </a:p>
                  </a:txBody>
                  <a:tcPr marL="76200" marR="76200" marT="57150" marB="57150" anchor="ctr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Code stable</a:t>
                      </a:r>
                    </a:p>
                  </a:txBody>
                  <a:tcPr marL="76200" marR="76200" marT="57150" marB="57150" anchor="ctr">
                    <a:solidFill>
                      <a:srgbClr val="173B5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Clé répétée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54A45"/>
                          </a:solidFill>
                          <a:latin typeface="Helvetica"/>
                          <a:ea typeface="Helvetica"/>
                          <a:cs typeface="Helvetica"/>
                        </a:rPr>
                        <a:t>REJETÉE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DUPLICATE_LINE_ID</a:t>
                      </a:r>
                    </a:p>
                  </a:txBody>
                  <a:tcPr marL="76200" marR="76200" marT="47625" marB="47625" anchor="ctr"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ID, date ou prix invalide</a:t>
                      </a:r>
                    </a:p>
                  </a:txBody>
                  <a:tcPr marL="76200" marR="76200" marT="47625" marB="47625" anchor="ctr">
                    <a:solidFill>
                      <a:srgbClr val="EEEA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54A45"/>
                          </a:solidFill>
                          <a:latin typeface="Helvetica"/>
                          <a:ea typeface="Helvetica"/>
                          <a:cs typeface="Helvetica"/>
                        </a:rPr>
                        <a:t>REJETÉE</a:t>
                      </a:r>
                    </a:p>
                  </a:txBody>
                  <a:tcPr marL="76200" marR="76200" marT="47625" marB="47625" anchor="ctr">
                    <a:solidFill>
                      <a:srgbClr val="EEEA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INVALID_* / NON_POSITIVE_PRICE</a:t>
                      </a:r>
                    </a:p>
                  </a:txBody>
                  <a:tcPr marL="76200" marR="76200" marT="47625" marB="47625" anchor="ctr">
                    <a:solidFill>
                      <a:srgbClr val="EEEAE3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Statuts contradictoires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88B2B"/>
                          </a:solidFill>
                          <a:latin typeface="Helvetica"/>
                          <a:ea typeface="Helvetica"/>
                          <a:cs typeface="Helvetica"/>
                        </a:rPr>
                        <a:t>À VÉRIFIER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STATUS_CONFLICT</a:t>
                      </a:r>
                    </a:p>
                  </a:txBody>
                  <a:tcPr marL="76200" marR="76200" marT="47625" marB="47625" anchor="ctr"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Commande annulée</a:t>
                      </a:r>
                    </a:p>
                  </a:txBody>
                  <a:tcPr marL="76200" marR="76200" marT="47625" marB="47625" anchor="ctr">
                    <a:solidFill>
                      <a:srgbClr val="EEEA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56B3F"/>
                          </a:solidFill>
                          <a:latin typeface="Helvetica"/>
                          <a:ea typeface="Helvetica"/>
                          <a:cs typeface="Helvetica"/>
                        </a:rPr>
                        <a:t>EXCLUE MÉTIER</a:t>
                      </a:r>
                    </a:p>
                  </a:txBody>
                  <a:tcPr marL="76200" marR="76200" marT="47625" marB="47625" anchor="ctr">
                    <a:solidFill>
                      <a:srgbClr val="EEEA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CANCELLED_ORDER</a:t>
                      </a:r>
                    </a:p>
                  </a:txBody>
                  <a:tcPr marL="76200" marR="76200" marT="47625" marB="47625" anchor="ctr">
                    <a:solidFill>
                      <a:srgbClr val="EEEAE3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Commande retournée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56B3F"/>
                          </a:solidFill>
                          <a:latin typeface="Helvetica"/>
                          <a:ea typeface="Helvetica"/>
                          <a:cs typeface="Helvetica"/>
                        </a:rPr>
                        <a:t>EXCLUE MÉTIER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RETURNED_ORDER</a:t>
                      </a:r>
                    </a:p>
                  </a:txBody>
                  <a:tcPr marL="76200" marR="76200" marT="47625" marB="47625" anchor="ctr"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Commande en traitement</a:t>
                      </a:r>
                    </a:p>
                  </a:txBody>
                  <a:tcPr marL="76200" marR="76200" marT="47625" marB="47625" anchor="ctr">
                    <a:solidFill>
                      <a:srgbClr val="EEEA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88B2B"/>
                          </a:solidFill>
                          <a:latin typeface="Helvetica"/>
                          <a:ea typeface="Helvetica"/>
                          <a:cs typeface="Helvetica"/>
                        </a:rPr>
                        <a:t>À VÉRIFIER</a:t>
                      </a:r>
                    </a:p>
                  </a:txBody>
                  <a:tcPr marL="76200" marR="76200" marT="47625" marB="47625" anchor="ctr">
                    <a:solidFill>
                      <a:srgbClr val="EEEA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PROCESSING_ORDER</a:t>
                      </a:r>
                    </a:p>
                  </a:txBody>
                  <a:tcPr marL="76200" marR="76200" marT="47625" marB="47625" anchor="ctr">
                    <a:solidFill>
                      <a:srgbClr val="EEEAE3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Catégorie absente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88B2B"/>
                          </a:solidFill>
                          <a:latin typeface="Helvetica"/>
                          <a:ea typeface="Helvetica"/>
                          <a:cs typeface="Helvetica"/>
                        </a:rPr>
                        <a:t>À VÉRIFIER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MISSING_PRODUCT_CATEGORY</a:t>
                      </a:r>
                    </a:p>
                  </a:txBody>
                  <a:tcPr marL="76200" marR="76200" marT="47625" marB="47625" anchor="ctr"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Aucun taux admissible</a:t>
                      </a:r>
                    </a:p>
                  </a:txBody>
                  <a:tcPr marL="76200" marR="76200" marT="47625" marB="47625" anchor="ctr">
                    <a:solidFill>
                      <a:srgbClr val="EEEA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88B2B"/>
                          </a:solidFill>
                          <a:latin typeface="Helvetica"/>
                          <a:ea typeface="Helvetica"/>
                          <a:cs typeface="Helvetica"/>
                        </a:rPr>
                        <a:t>À VÉRIFIER</a:t>
                      </a:r>
                    </a:p>
                  </a:txBody>
                  <a:tcPr marL="76200" marR="76200" marT="47625" marB="47625" anchor="ctr">
                    <a:solidFill>
                      <a:srgbClr val="EEEA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NO_PRIOR_RATE / RATE_TOO_OLD</a:t>
                      </a:r>
                    </a:p>
                  </a:txBody>
                  <a:tcPr marL="76200" marR="76200" marT="47625" marB="47625" anchor="ctr">
                    <a:solidFill>
                      <a:srgbClr val="EEEAE3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Tous les contrôles passent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F7D64"/>
                          </a:solidFill>
                          <a:latin typeface="Helvetica"/>
                          <a:ea typeface="Helvetica"/>
                          <a:cs typeface="Helvetica"/>
                        </a:rPr>
                        <a:t>ACCEPTÉE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aucun motif d’exclusion</a:t>
                      </a:r>
                    </a:p>
                  </a:txBody>
                  <a:tcPr marL="76200" marR="76200" marT="47625" marB="47625" anchor="ctr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CE4F1A-BB49-42C5-9478-26905B34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DDBDF-2304-44B6-9C3C-A3783B5E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D78"/>
                </a:solidFill>
                <a:latin typeface="Helvetica"/>
                <a:ea typeface="Helvetica"/>
                <a:cs typeface="Helvetica"/>
              </a:defRPr>
            </a:pPr>
            <a:r>
              <a:rPr sz="825" b="0">
                <a:solidFill>
                  <a:srgbClr val="5E6D78"/>
                </a:solidFill>
                <a:latin typeface="Helvetica"/>
                <a:ea typeface="Helvetica"/>
                <a:cs typeface="Helvetica"/>
              </a:rPr>
              <a:t>src/quality_rules.py; tests/test_quality_rules.py; tests/fixtures/     8/12</a:t>
            </a:r>
          </a:p>
        </p:txBody>
      </p:sp>
    </p:spTree>
    <p:extLst>
      <p:ext uri="{BB962C8B-B14F-4D97-AF65-F5344CB8AC3E}">
        <p14:creationId xmlns:p14="http://schemas.microsoft.com/office/powerpoint/2010/main" val="3558774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6AAA9A-90D8-4C1A-B913-D218564D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56B3F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E56B3F"/>
                </a:solidFill>
                <a:latin typeface="Helvetica"/>
                <a:ea typeface="Helvetica"/>
                <a:cs typeface="Helvetica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3FED04-FEFC-4C22-9FF1-DACE9D4C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10363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2550" b="1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C3 — Preuve d’exécution du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96FAA3-2998-45B2-981A-27113D1F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6619EB-E20B-401E-B523-4847DEBF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D78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5E6D78"/>
                </a:solidFill>
                <a:latin typeface="Helvetica"/>
                <a:ea typeface="Helvetica"/>
                <a:cs typeface="Helvetica"/>
              </a:rPr>
              <a:t>Chaque ligne d’entrée apparaît une fois, soit dans le jeu final, soit dans la quarantaine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590550" y="1504950"/>
          <a:ext xmlns:a="http://schemas.openxmlformats.org/drawingml/2006/main" cx="5334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2087c636a40479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5D256-EDC7-4878-84C9-98E1D078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006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B57"/>
                </a:solidFill>
                <a:latin typeface="Helvetica"/>
                <a:ea typeface="Helvetica"/>
                <a:cs typeface="Helvetica"/>
              </a:defRPr>
            </a:pPr>
            <a:r>
              <a:rPr sz="1875" b="1">
                <a:solidFill>
                  <a:srgbClr val="173B57"/>
                </a:solidFill>
                <a:latin typeface="Helvetica"/>
                <a:ea typeface="Helvetica"/>
                <a:cs typeface="Helvetica"/>
              </a:rPr>
              <a:t>1 167 + 450 + 514 + 0 = 2 131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8D8D1-42B7-4973-A961-7C0CFC86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4668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6B3F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E56B3F"/>
                </a:solidFill>
                <a:latin typeface="Helvetica"/>
                <a:ea typeface="Helvetica"/>
                <a:cs typeface="Helvetica"/>
              </a:rPr>
              <a:t>Exemples réels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429375" y="1847850"/>
          <a:ext xmlns:a="http://schemas.openxmlformats.org/drawingml/2006/main" cx="4857750" cy="214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14438"/>
                <a:gridCol w="1214438"/>
                <a:gridCol w="1214438"/>
                <a:gridCol w="1214438"/>
              </a:tblGrid>
              <a:tr h="53578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item</a:t>
                      </a:r>
                    </a:p>
                  </a:txBody>
                  <a:tcPr marL="76200" marR="76200" marT="57150" marB="57150" anchor="ctr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décision</a:t>
                      </a:r>
                    </a:p>
                  </a:txBody>
                  <a:tcPr marL="76200" marR="76200" marT="57150" marB="57150" anchor="ctr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taux</a:t>
                      </a:r>
                    </a:p>
                  </a:txBody>
                  <a:tcPr marL="76200" marR="76200" marT="57150" marB="57150" anchor="ctr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EUR</a:t>
                      </a:r>
                    </a:p>
                  </a:txBody>
                  <a:tcPr marL="76200" marR="76200" marT="57150" marB="57150" anchor="ctr">
                    <a:solidFill>
                      <a:srgbClr val="173B57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331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ACCEPTÉE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26/01 · 1,0871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91,94</a:t>
                      </a:r>
                    </a:p>
                  </a:txBody>
                  <a:tcPr marL="76200" marR="76200" marT="47625" marB="47625" anchor="ctr"/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140</a:t>
                      </a:r>
                    </a:p>
                  </a:txBody>
                  <a:tcPr marL="76200" marR="76200" marT="47625" marB="47625" anchor="ctr">
                    <a:solidFill>
                      <a:srgbClr val="EEEA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EXCLUE</a:t>
                      </a:r>
                    </a:p>
                  </a:txBody>
                  <a:tcPr marL="76200" marR="76200" marT="47625" marB="47625" anchor="ctr">
                    <a:solidFill>
                      <a:srgbClr val="EEEA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—</a:t>
                      </a:r>
                    </a:p>
                  </a:txBody>
                  <a:tcPr marL="76200" marR="76200" marT="47625" marB="47625" anchor="ctr">
                    <a:solidFill>
                      <a:srgbClr val="EEEA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—</a:t>
                      </a:r>
                    </a:p>
                  </a:txBody>
                  <a:tcPr marL="76200" marR="76200" marT="47625" marB="47625" anchor="ctr">
                    <a:solidFill>
                      <a:srgbClr val="EEEAE3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851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À VÉRIFIER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—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—</a:t>
                      </a:r>
                    </a:p>
                  </a:txBody>
                  <a:tcPr marL="76200" marR="76200" marT="47625" marB="47625" anchor="ctr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C03C33-3014-4E27-9DF2-2A4842B8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24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6B3F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E56B3F"/>
                </a:solidFill>
                <a:latin typeface="Helvetica"/>
                <a:ea typeface="Helvetica"/>
                <a:cs typeface="Helvetica"/>
              </a:rPr>
              <a:t>Contrôles indépendants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C7407F-2B44-43D1-A6AA-C2AE25BC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66725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✓ conservation des volumes</a:t>
            </a:r>
          </a:p>
          <a:p xmlns:a="http://schemas.openxmlformats.org/drawingml/2006/main">
            <a:pPr algn="l">
              <a:defRPr sz="1425" b="0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✓ unicité de la clé finale</a:t>
            </a:r>
          </a:p>
          <a:p xmlns:a="http://schemas.openxmlformats.org/drawingml/2006/main">
            <a:pPr algn="l">
              <a:defRPr sz="1425" b="0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✓ taux âgé de 0 à 7 jours</a:t>
            </a:r>
          </a:p>
          <a:p xmlns:a="http://schemas.openxmlformats.org/drawingml/2006/main">
            <a:pPr algn="l">
              <a:defRPr sz="1425" b="0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✓ conversion EUR ligne par ligne</a:t>
            </a:r>
          </a:p>
          <a:p xmlns:a="http://schemas.openxmlformats.org/drawingml/2006/main">
            <a:pPr algn="l">
              <a:defRPr sz="1425" b="0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✓ séparation des fixtures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2CA5A8-B0B4-42D7-A6B6-6B501DD6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F9F04E-DA8F-412D-A33E-22D6A33E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D78"/>
                </a:solidFill>
                <a:latin typeface="Helvetica"/>
                <a:ea typeface="Helvetica"/>
                <a:cs typeface="Helvetica"/>
              </a:defRPr>
            </a:pPr>
            <a:r>
              <a:rPr sz="825" b="0">
                <a:solidFill>
                  <a:srgbClr val="5E6D78"/>
                </a:solidFill>
                <a:latin typeface="Helvetica"/>
                <a:ea typeface="Helvetica"/>
                <a:cs typeface="Helvetica"/>
              </a:rPr>
              <a:t>output/rapport_qualite.json; evidence/rapport_de_tests/c3_output_verification.json     9/12</a:t>
            </a:r>
          </a:p>
        </p:txBody>
      </p:sp>
    </p:spTree>
    <p:extLst>
      <p:ext uri="{BB962C8B-B14F-4D97-AF65-F5344CB8AC3E}">
        <p14:creationId xmlns:p14="http://schemas.microsoft.com/office/powerpoint/2010/main" val="17360571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CC77B8-6B94-4CD1-9203-1FBEBDF7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56B3F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E56B3F"/>
                </a:solidFill>
                <a:latin typeface="Helvetica"/>
                <a:ea typeface="Helvetica"/>
                <a:cs typeface="Helvetica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DF07CB-979D-4695-8662-EB3ADAA2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10363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2550" b="1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Résultat du POC sur les données publiques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62B153-7C48-453C-9584-43B18134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0B1EAA-5AE6-4707-9EB2-20A9AFC2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D78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5E6D78"/>
                </a:solidFill>
                <a:latin typeface="Helvetica"/>
                <a:ea typeface="Helvetica"/>
                <a:cs typeface="Helvetica"/>
              </a:rPr>
              <a:t>Le montant en euros reste conditionnel à l’hypothèse non vérifiée que sale_price représente des USD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4F87AC-2670-43A0-87A4-8E30CFD6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F7D64"/>
                </a:solidFill>
                <a:latin typeface="Helvetica"/>
                <a:ea typeface="Helvetica"/>
                <a:cs typeface="Helvetica"/>
              </a:defRPr>
            </a:pPr>
            <a:r>
              <a:rPr sz="3600" b="1">
                <a:solidFill>
                  <a:srgbClr val="2F7D64"/>
                </a:solidFill>
                <a:latin typeface="Helvetica"/>
                <a:ea typeface="Helvetica"/>
                <a:cs typeface="Helvetica"/>
              </a:rPr>
              <a:t>67 052,70 EUR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B4371B-258E-4078-8EF8-CEDF7CC6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D78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5E6D78"/>
                </a:solidFill>
                <a:latin typeface="Helvetica"/>
                <a:ea typeface="Helvetica"/>
                <a:cs typeface="Helvetica"/>
              </a:rPr>
              <a:t>Somme des 1 167 lignes acceptées, après arrondi au centime par ligne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C80BDF-7DE4-406C-9F74-FA9AC827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4668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6B3F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E56B3F"/>
                </a:solidFill>
                <a:latin typeface="Helvetica"/>
                <a:ea typeface="Helvetica"/>
                <a:cs typeface="Helvetica"/>
              </a:rPr>
              <a:t>Répartition des 964 lignes hors jeu final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191250" y="1905000"/>
          <a:ext xmlns:a="http://schemas.openxmlformats.org/drawingml/2006/main" cx="50482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311fcfe7c774d82"/>
          </a:graphicData>
        </a:graphic>
      </p:graphicFrame>
      <p:graphicFrame>
        <p:nvGraphicFramePr>
          <p:cNvPr id="21" name=""/>
          <p:cNvGraphicFramePr/>
          <p:nvPr/>
        </p:nvGraphicFramePr>
        <p:xfrm>
          <a:off xmlns:a="http://schemas.openxmlformats.org/drawingml/2006/main" x="762000" y="3829050"/>
          <a:ext xmlns:a="http://schemas.openxmlformats.org/drawingml/2006/main" cx="447675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2238375"/>
              </a:tblGrid>
              <a:tr h="4286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Contrôle</a:t>
                      </a:r>
                    </a:p>
                  </a:txBody>
                  <a:tcPr marL="76200" marR="76200" marT="57150" marB="57150" anchor="ctr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Résultat</a:t>
                      </a:r>
                    </a:p>
                  </a:txBody>
                  <a:tcPr marL="76200" marR="76200" marT="57150" marB="57150" anchor="ctr">
                    <a:solidFill>
                      <a:srgbClr val="173B57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Clés finales uniques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1 167 / 1 167</a:t>
                      </a:r>
                    </a:p>
                  </a:txBody>
                  <a:tcPr marL="76200" marR="76200" marT="47625" marB="47625" anchor="ctr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Taux ou prix non positif</a:t>
                      </a:r>
                    </a:p>
                  </a:txBody>
                  <a:tcPr marL="76200" marR="76200" marT="47625" marB="47625" anchor="ctr">
                    <a:solidFill>
                      <a:srgbClr val="EEEA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0</a:t>
                      </a:r>
                    </a:p>
                  </a:txBody>
                  <a:tcPr marL="76200" marR="76200" marT="47625" marB="47625" anchor="ctr">
                    <a:solidFill>
                      <a:srgbClr val="EEEAE3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Taux âgé de plus de 7 jours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0</a:t>
                      </a:r>
                    </a:p>
                  </a:txBody>
                  <a:tcPr marL="76200" marR="76200" marT="47625" marB="47625" anchor="ctr"/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966F3A-BA8B-45DF-9289-9F6CDBE9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86375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F7D64"/>
                </a:solidFill>
                <a:latin typeface="Helvetica"/>
                <a:ea typeface="Helvetica"/>
                <a:cs typeface="Helvetica"/>
              </a:defRPr>
            </a:pPr>
            <a:r>
              <a:rPr sz="1575" b="1">
                <a:solidFill>
                  <a:srgbClr val="2F7D64"/>
                </a:solidFill>
                <a:latin typeface="Helvetica"/>
                <a:ea typeface="Helvetica"/>
                <a:cs typeface="Helvetica"/>
              </a:rPr>
              <a:t>0 rejet qualité observé dans l’extraction réelle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6E092B-D144-4369-9B88-10DA2B52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8CF31B-7C51-4E8E-9862-BEB53296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D78"/>
                </a:solidFill>
                <a:latin typeface="Helvetica"/>
                <a:ea typeface="Helvetica"/>
                <a:cs typeface="Helvetica"/>
              </a:defRPr>
            </a:pPr>
            <a:r>
              <a:rPr sz="825" b="0">
                <a:solidFill>
                  <a:srgbClr val="5E6D78"/>
                </a:solidFill>
                <a:latin typeface="Helvetica"/>
                <a:ea typeface="Helvetica"/>
                <a:cs typeface="Helvetica"/>
              </a:rPr>
              <a:t>output/ventes_fiables.csv; output/quarantaine.csv; output/rapport_qualite.json     10/12</a:t>
            </a:r>
          </a:p>
        </p:txBody>
      </p:sp>
    </p:spTree>
    <p:extLst>
      <p:ext uri="{BB962C8B-B14F-4D97-AF65-F5344CB8AC3E}">
        <p14:creationId xmlns:p14="http://schemas.microsoft.com/office/powerpoint/2010/main" val="6051979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D2780A-D173-42B7-8F54-9040A24B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56B3F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E56B3F"/>
                </a:solidFill>
                <a:latin typeface="Helvetica"/>
                <a:ea typeface="Helvetica"/>
                <a:cs typeface="Helvetica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436E8-A260-4280-9A3C-5E374719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10363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2550" b="1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Reproductibilité et CI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492CB8-CEC7-467A-BCBD-39A18527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2BBAFF-C155-4400-BE7B-EA3A63B3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6B3F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E56B3F"/>
                </a:solidFill>
                <a:latin typeface="Helvetica"/>
                <a:ea typeface="Helvetica"/>
                <a:cs typeface="Helvetica"/>
              </a:rPr>
              <a:t>Reconstruction hors connexion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D05146-E998-41FC-A66A-2B98EBAC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5238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33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71450" tIns="1333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3F6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3F6"/>
                </a:solidFill>
                <a:latin typeface="Menlo"/>
                <a:ea typeface="Menlo"/>
                <a:cs typeface="Menlo"/>
              </a:rPr>
              <a:t>python3 src/build_dataset.py</a:t>
            </a:r>
          </a:p>
          <a:p xmlns:a="http://schemas.openxmlformats.org/drawingml/2006/main">
            <a:pPr algn="l">
              <a:defRPr sz="1350" b="0">
                <a:solidFill>
                  <a:srgbClr val="EAF3F6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3F6"/>
                </a:solidFill>
                <a:latin typeface="Menlo"/>
                <a:ea typeface="Menlo"/>
                <a:cs typeface="Menlo"/>
              </a:rPr>
              <a:t>python3 src/verify_outputs.py</a:t>
            </a:r>
          </a:p>
          <a:p xmlns:a="http://schemas.openxmlformats.org/drawingml/2006/main">
            <a:pPr algn="l">
              <a:defRPr sz="1350" b="0">
                <a:solidFill>
                  <a:srgbClr val="EAF3F6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3F6"/>
                </a:solidFill>
                <a:latin typeface="Menlo"/>
                <a:ea typeface="Menlo"/>
                <a:cs typeface="Menlo"/>
              </a:rPr>
              <a:t>python3 -m unittest discover -s tests -v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1397D5-649F-4E2D-9825-463952DB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7D64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2F7D64"/>
                </a:solidFill>
                <a:latin typeface="Helvetica"/>
                <a:ea typeface="Helvetica"/>
                <a:cs typeface="Helvetica"/>
              </a:rPr>
              <a:t>34 tests réussis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8A82EF-30AE-4DA7-926E-3815F7B9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Cas normaux, négatifs et limites</a:t>
            </a:r>
          </a:p>
          <a:p xmlns:a="http://schemas.openxmlformats.org/drawingml/2006/main">
            <a:pPr algn="l">
              <a:defRPr sz="1500" b="0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Intégration des deux snapshots</a:t>
            </a:r>
          </a:p>
          <a:p xmlns:a="http://schemas.openxmlformats.org/drawingml/2006/main">
            <a:pPr algn="l">
              <a:defRPr sz="1500" b="0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Bout en bout, unicité et idempotence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E7C8AB-5462-44DE-8174-04EDF4A5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668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6B3F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E56B3F"/>
                </a:solidFill>
                <a:latin typeface="Helvetica"/>
                <a:ea typeface="Helvetica"/>
                <a:cs typeface="Helvetica"/>
              </a:rPr>
              <a:t>Dépôt public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01841B-5077-4DF9-B6F4-8A4843AE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240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B57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173B57"/>
                </a:solidFill>
                <a:latin typeface="Helvetica"/>
                <a:ea typeface="Helvetica"/>
                <a:cs typeface="Helvetica"/>
              </a:rPr>
              <a:t>github.com/ljnoam/retail-quality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FF2F76-383F-4DBA-BFF7-E87E230B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622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6B3F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E56B3F"/>
                </a:solidFill>
                <a:latin typeface="Helvetica"/>
                <a:ea typeface="Helvetica"/>
                <a:cs typeface="Helvetica"/>
              </a:rPr>
              <a:t>CI GitHub Actions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37C30F-492B-4C6C-B148-E752959E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81350"/>
            <a:ext cx="4476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Python 3.13 et 3.14</a:t>
            </a:r>
          </a:p>
          <a:p xmlns:a="http://schemas.openxmlformats.org/drawingml/2006/main">
            <a:pPr algn="l">
              <a:defRPr sz="1500" b="0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Dernier run vérifié : succès</a:t>
            </a:r>
          </a:p>
          <a:p xmlns:a="http://schemas.openxmlformats.org/drawingml/2006/main">
            <a:pPr algn="l">
              <a:defRPr sz="1500" b="0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Reconstruction et comparaison des fichiers versionnés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787659-14FA-47B6-BA30-2BEE669B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6250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D78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5E6D78"/>
                </a:solidFill>
                <a:latin typeface="Helvetica"/>
                <a:ea typeface="Helvetica"/>
                <a:cs typeface="Helvetica"/>
              </a:rPr>
              <a:t>SHA-256 des entrées et sorties</a:t>
            </a:r>
          </a:p>
          <a:p xmlns:a="http://schemas.openxmlformats.org/drawingml/2006/main">
            <a:pPr algn="l">
              <a:defRPr sz="1425" b="0">
                <a:solidFill>
                  <a:srgbClr val="5E6D78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5E6D78"/>
                </a:solidFill>
                <a:latin typeface="Helvetica"/>
                <a:ea typeface="Helvetica"/>
                <a:cs typeface="Helvetica"/>
              </a:rPr>
              <a:t>Configuration sans secrets</a:t>
            </a:r>
          </a:p>
          <a:p xmlns:a="http://schemas.openxmlformats.org/drawingml/2006/main">
            <a:pPr algn="l">
              <a:defRPr sz="1425" b="0">
                <a:solidFill>
                  <a:srgbClr val="5E6D78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5E6D78"/>
                </a:solidFill>
                <a:latin typeface="Helvetica"/>
                <a:ea typeface="Helvetica"/>
                <a:cs typeface="Helvetica"/>
              </a:rPr>
              <a:t>SQL, code, tests et documentation versionnés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F05A44-AB5B-44FD-BC36-DEAE53FB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F19481-B453-4F00-A719-049F493D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D78"/>
                </a:solidFill>
                <a:latin typeface="Helvetica"/>
                <a:ea typeface="Helvetica"/>
                <a:cs typeface="Helvetica"/>
              </a:defRPr>
            </a:pPr>
            <a:r>
              <a:rPr sz="825" b="0">
                <a:solidFill>
                  <a:srgbClr val="5E6D78"/>
                </a:solidFill>
                <a:latin typeface="Helvetica"/>
                <a:ea typeface="Helvetica"/>
                <a:cs typeface="Helvetica"/>
              </a:rPr>
              <a:t>README.md; .github/workflows/quality.yml; docs/matrice-preuves-rncp.md     11/12</a:t>
            </a:r>
          </a:p>
        </p:txBody>
      </p:sp>
    </p:spTree>
    <p:extLst>
      <p:ext uri="{BB962C8B-B14F-4D97-AF65-F5344CB8AC3E}">
        <p14:creationId xmlns:p14="http://schemas.microsoft.com/office/powerpoint/2010/main" val="687351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66D241-A85D-4289-B9AE-7433A4F2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56B3F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E56B3F"/>
                </a:solidFill>
                <a:latin typeface="Helvetica"/>
                <a:ea typeface="Helvetica"/>
                <a:cs typeface="Helvetica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23F93-5389-4DA9-8BE5-2217D76E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10363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33B"/>
                </a:solidFill>
                <a:latin typeface="Helvetica"/>
                <a:ea typeface="Helvetica"/>
                <a:cs typeface="Helvetica"/>
              </a:defRPr>
            </a:pPr>
            <a:r>
              <a:rPr sz="2550" b="1">
                <a:solidFill>
                  <a:srgbClr val="11233B"/>
                </a:solidFill>
                <a:latin typeface="Helvetica"/>
                <a:ea typeface="Helvetica"/>
                <a:cs typeface="Helvetica"/>
              </a:rPr>
              <a:t>Limites et validations nécessaires avant un usage réel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365751-90D4-4174-AE3C-CC761CA6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28650" y="1524000"/>
          <a:ext xmlns:a="http://schemas.openxmlformats.org/drawingml/2006/main" cx="1095375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191000"/>
                <a:gridCol w="4667250"/>
              </a:tblGrid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Sujet</a:t>
                      </a:r>
                    </a:p>
                  </a:txBody>
                  <a:tcPr marL="76200" marR="76200" marT="57150" marB="57150" anchor="ctr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Limite constatée</a:t>
                      </a:r>
                    </a:p>
                  </a:txBody>
                  <a:tcPr marL="76200" marR="76200" marT="57150" marB="57150" anchor="ctr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Validation requise</a:t>
                      </a:r>
                    </a:p>
                  </a:txBody>
                  <a:tcPr marL="76200" marR="76200" marT="57150" marB="57150" anchor="ctr">
                    <a:solidFill>
                      <a:srgbClr val="173B5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Données commerciales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TheLook est fictif et peut évoluer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Valider sur un extrait d’entreprise gouverné</a:t>
                      </a:r>
                    </a:p>
                  </a:txBody>
                  <a:tcPr marL="76200" marR="76200" marT="47625" marB="47625" anchor="ctr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Devise</a:t>
                      </a:r>
                    </a:p>
                  </a:txBody>
                  <a:tcPr marL="76200" marR="76200" marT="47625" marB="47625" anchor="ctr">
                    <a:solidFill>
                      <a:srgbClr val="EEEA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sale_price n’expose pas de devise documentée</a:t>
                      </a:r>
                    </a:p>
                  </a:txBody>
                  <a:tcPr marL="76200" marR="76200" marT="47625" marB="47625" anchor="ctr">
                    <a:solidFill>
                      <a:srgbClr val="EEEA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Confirmer devise et précision au niveau du système source</a:t>
                      </a:r>
                    </a:p>
                  </a:txBody>
                  <a:tcPr marL="76200" marR="76200" marT="47625" marB="47625" anchor="ctr">
                    <a:solidFill>
                      <a:srgbClr val="EEEAE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Règles métier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Complete et Shipped sont des choix du POC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Faire valider les statuts par Finance et les métiers</a:t>
                      </a:r>
                    </a:p>
                  </a:txBody>
                  <a:tcPr marL="76200" marR="76200" marT="47625" marB="47625" anchor="ctr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Taux de change</a:t>
                      </a:r>
                    </a:p>
                  </a:txBody>
                  <a:tcPr marL="76200" marR="76200" marT="47625" marB="47625" anchor="ctr">
                    <a:solidFill>
                      <a:srgbClr val="EEEA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Fenêtre de 7 jours et arrondi par ligne</a:t>
                      </a:r>
                    </a:p>
                  </a:txBody>
                  <a:tcPr marL="76200" marR="76200" marT="47625" marB="47625" anchor="ctr">
                    <a:solidFill>
                      <a:srgbClr val="EEEA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Confirmer la politique comptable et la date de conversion</a:t>
                      </a:r>
                    </a:p>
                  </a:txBody>
                  <a:tcPr marL="76200" marR="76200" marT="47625" marB="47625" anchor="ctr">
                    <a:solidFill>
                      <a:srgbClr val="EEEAE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Performance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Volumes BigQuery modestes et 25 taux PostgreSQL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Mesurer sur le volume cible avant dimensionnement</a:t>
                      </a:r>
                    </a:p>
                  </a:txBody>
                  <a:tcPr marL="76200" marR="76200" marT="47625" marB="47625" anchor="ctr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Mise en service</a:t>
                      </a:r>
                    </a:p>
                  </a:txBody>
                  <a:tcPr marL="76200" marR="76200" marT="47625" marB="47625" anchor="ctr">
                    <a:solidFill>
                      <a:srgbClr val="EEEA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Prototype local, non déployé chez Thales</a:t>
                      </a:r>
                    </a:p>
                  </a:txBody>
                  <a:tcPr marL="76200" marR="76200" marT="47625" marB="47625" anchor="ctr">
                    <a:solidFill>
                      <a:srgbClr val="EEEA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233B"/>
                          </a:solidFill>
                          <a:latin typeface="Helvetica"/>
                          <a:ea typeface="Helvetica"/>
                          <a:cs typeface="Helvetica"/>
                        </a:rPr>
                        <a:t>Revoir droits, supervision, sécurité et exploitation</a:t>
                      </a:r>
                    </a:p>
                  </a:txBody>
                  <a:tcPr marL="76200" marR="76200" marT="47625" marB="47625" anchor="ctr">
                    <a:solidFill>
                      <a:srgbClr val="EEEAE3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9A96EA-3A09-40F4-A8FC-B5C9BF1F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B57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73B57"/>
                </a:solidFill>
                <a:latin typeface="Helvetica"/>
                <a:ea typeface="Helvetica"/>
                <a:cs typeface="Helvetica"/>
              </a:rPr>
              <a:t>Le POC prouve le fonctionnement de la chaîne et sa traçabilité. Il ne prouve ni l’adéquation aux données internes ni la conformité d’une politique comptable réelle.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9C99CF-477F-40FE-B2EE-ECA73FBA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5BCBFB-3728-44CB-99DA-98E2BBA8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D78"/>
                </a:solidFill>
                <a:latin typeface="Helvetica"/>
                <a:ea typeface="Helvetica"/>
                <a:cs typeface="Helvetica"/>
              </a:defRPr>
            </a:pPr>
            <a:r>
              <a:rPr sz="825" b="0">
                <a:solidFill>
                  <a:srgbClr val="5E6D78"/>
                </a:solidFill>
                <a:latin typeface="Helvetica"/>
                <a:ea typeface="Helvetica"/>
                <a:cs typeface="Helvetica"/>
              </a:rPr>
              <a:t>docs/sources-et-hypotheses.md; docs/resultats-et-limites.md     12/12</a:t>
            </a:r>
          </a:p>
        </p:txBody>
      </p:sp>
    </p:spTree>
    <p:extLst>
      <p:ext uri="{BB962C8B-B14F-4D97-AF65-F5344CB8AC3E}">
        <p14:creationId xmlns:p14="http://schemas.microsoft.com/office/powerpoint/2010/main" val="18518711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2026-09-16T07:59:47.5320000Z</dcterms:created>
  <dcterms:modified xsi:type="dcterms:W3CDTF">2026-09-16T07:59:47.5320000Z</dcterms:modified>
</coreProperties>
</file>